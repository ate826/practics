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1"/>
  </p:notesMasterIdLst>
  <p:sldIdLst>
    <p:sldId id="971" r:id="rId3"/>
    <p:sldId id="864" r:id="rId4"/>
    <p:sldId id="865" r:id="rId5"/>
    <p:sldId id="866" r:id="rId6"/>
    <p:sldId id="867" r:id="rId7"/>
    <p:sldId id="868" r:id="rId8"/>
    <p:sldId id="869" r:id="rId9"/>
    <p:sldId id="870" r:id="rId10"/>
    <p:sldId id="871" r:id="rId11"/>
    <p:sldId id="872" r:id="rId12"/>
    <p:sldId id="873" r:id="rId13"/>
    <p:sldId id="874" r:id="rId14"/>
    <p:sldId id="875" r:id="rId15"/>
    <p:sldId id="876" r:id="rId16"/>
    <p:sldId id="877" r:id="rId17"/>
    <p:sldId id="878" r:id="rId18"/>
    <p:sldId id="879" r:id="rId19"/>
    <p:sldId id="880" r:id="rId20"/>
    <p:sldId id="881" r:id="rId21"/>
    <p:sldId id="882" r:id="rId22"/>
    <p:sldId id="883" r:id="rId23"/>
    <p:sldId id="884" r:id="rId24"/>
    <p:sldId id="885" r:id="rId25"/>
    <p:sldId id="886" r:id="rId26"/>
    <p:sldId id="887" r:id="rId27"/>
    <p:sldId id="888" r:id="rId28"/>
    <p:sldId id="889" r:id="rId29"/>
    <p:sldId id="890" r:id="rId30"/>
    <p:sldId id="891" r:id="rId31"/>
    <p:sldId id="892" r:id="rId32"/>
    <p:sldId id="893" r:id="rId33"/>
    <p:sldId id="894" r:id="rId34"/>
    <p:sldId id="895" r:id="rId35"/>
    <p:sldId id="896" r:id="rId36"/>
    <p:sldId id="897" r:id="rId37"/>
    <p:sldId id="898" r:id="rId38"/>
    <p:sldId id="899" r:id="rId39"/>
    <p:sldId id="900" r:id="rId40"/>
    <p:sldId id="901" r:id="rId41"/>
    <p:sldId id="902" r:id="rId42"/>
    <p:sldId id="903" r:id="rId43"/>
    <p:sldId id="904" r:id="rId44"/>
    <p:sldId id="905" r:id="rId45"/>
    <p:sldId id="906" r:id="rId46"/>
    <p:sldId id="907" r:id="rId47"/>
    <p:sldId id="908" r:id="rId48"/>
    <p:sldId id="909" r:id="rId49"/>
    <p:sldId id="910" r:id="rId50"/>
    <p:sldId id="911" r:id="rId51"/>
    <p:sldId id="912" r:id="rId52"/>
    <p:sldId id="913" r:id="rId53"/>
    <p:sldId id="914" r:id="rId54"/>
    <p:sldId id="915" r:id="rId55"/>
    <p:sldId id="916" r:id="rId56"/>
    <p:sldId id="917" r:id="rId57"/>
    <p:sldId id="918" r:id="rId58"/>
    <p:sldId id="919" r:id="rId59"/>
    <p:sldId id="920" r:id="rId60"/>
    <p:sldId id="921" r:id="rId61"/>
    <p:sldId id="922" r:id="rId62"/>
    <p:sldId id="923" r:id="rId63"/>
    <p:sldId id="924" r:id="rId64"/>
    <p:sldId id="925" r:id="rId65"/>
    <p:sldId id="926" r:id="rId66"/>
    <p:sldId id="927" r:id="rId67"/>
    <p:sldId id="928" r:id="rId68"/>
    <p:sldId id="929" r:id="rId69"/>
    <p:sldId id="930" r:id="rId70"/>
    <p:sldId id="931" r:id="rId71"/>
    <p:sldId id="932" r:id="rId72"/>
    <p:sldId id="933" r:id="rId73"/>
    <p:sldId id="934" r:id="rId74"/>
    <p:sldId id="935" r:id="rId75"/>
    <p:sldId id="936" r:id="rId76"/>
    <p:sldId id="937" r:id="rId77"/>
    <p:sldId id="938" r:id="rId78"/>
    <p:sldId id="939" r:id="rId79"/>
    <p:sldId id="940" r:id="rId80"/>
    <p:sldId id="941" r:id="rId81"/>
    <p:sldId id="942" r:id="rId82"/>
    <p:sldId id="943" r:id="rId83"/>
    <p:sldId id="944" r:id="rId84"/>
    <p:sldId id="945" r:id="rId85"/>
    <p:sldId id="946" r:id="rId86"/>
    <p:sldId id="947" r:id="rId87"/>
    <p:sldId id="948" r:id="rId88"/>
    <p:sldId id="949" r:id="rId89"/>
    <p:sldId id="950" r:id="rId90"/>
    <p:sldId id="951" r:id="rId91"/>
    <p:sldId id="952" r:id="rId92"/>
    <p:sldId id="953" r:id="rId93"/>
    <p:sldId id="954" r:id="rId94"/>
    <p:sldId id="955" r:id="rId95"/>
    <p:sldId id="956" r:id="rId96"/>
    <p:sldId id="957" r:id="rId97"/>
    <p:sldId id="958" r:id="rId98"/>
    <p:sldId id="959" r:id="rId99"/>
    <p:sldId id="960" r:id="rId100"/>
    <p:sldId id="961" r:id="rId101"/>
    <p:sldId id="962" r:id="rId102"/>
    <p:sldId id="963" r:id="rId103"/>
    <p:sldId id="964" r:id="rId104"/>
    <p:sldId id="965" r:id="rId105"/>
    <p:sldId id="966" r:id="rId106"/>
    <p:sldId id="967" r:id="rId107"/>
    <p:sldId id="968" r:id="rId108"/>
    <p:sldId id="969" r:id="rId109"/>
    <p:sldId id="970" r:id="rId11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55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presProps" Target="presProp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viewProps" Target="viewProp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28E347-0AC6-428B-BA9A-67698FC5614A}" type="datetimeFigureOut">
              <a:rPr lang="ru-RU" smtClean="0"/>
              <a:t>16.06.2026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BCA36F-A5AA-41BD-B996-382DCE88E589}" type="slidenum">
              <a:rPr lang="ru-RU" smtClean="0"/>
              <a:t>‹#›</a:t>
            </a:fld>
            <a:endParaRPr lang="ru-RU"/>
          </a:p>
        </p:txBody>
      </p:sp>
    </p:spTree>
    <p:extLst>
      <p:ext uri="{BB962C8B-B14F-4D97-AF65-F5344CB8AC3E}">
        <p14:creationId xmlns:p14="http://schemas.microsoft.com/office/powerpoint/2010/main" val="26738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28F91-6E10-D26A-6A14-3979C20F2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1F4E94-A379-E207-70F0-B6D2EC789F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E4DACE-D628-4DDC-D88B-234B9D7178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66FDDF-4778-F9B6-FF7E-329C3910437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4530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047F1F-9852-D148-4275-B7485E2EB555}"/>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1D71527C-D348-24D8-D5F7-E22EE829DC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92FA696A-4B95-003B-EC57-59499288F8E0}"/>
              </a:ext>
            </a:extLst>
          </p:cNvPr>
          <p:cNvSpPr>
            <a:spLocks noGrp="1"/>
          </p:cNvSpPr>
          <p:nvPr>
            <p:ph type="dt" sz="half" idx="10"/>
          </p:nvPr>
        </p:nvSpPr>
        <p:spPr/>
        <p:txBody>
          <a:bodyPr/>
          <a:lstStyle/>
          <a:p>
            <a:fld id="{FD6B784B-CE46-42E0-B03C-1DDAE3547C16}"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BBD4355D-9EFF-8224-77D6-0946BD56D0F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2E2899E-E51C-861C-B7AB-A0556EEEDDF9}"/>
              </a:ext>
            </a:extLst>
          </p:cNvPr>
          <p:cNvSpPr>
            <a:spLocks noGrp="1"/>
          </p:cNvSpPr>
          <p:nvPr>
            <p:ph type="sldNum" sz="quarter" idx="12"/>
          </p:nvPr>
        </p:nvSpPr>
        <p:spPr/>
        <p:txBody>
          <a:bodyPr/>
          <a:lstStyle/>
          <a:p>
            <a:fld id="{D40939FF-2ED3-411F-AA6F-ECCD45727312}" type="slidenum">
              <a:rPr lang="ru-RU" smtClean="0"/>
              <a:t>‹#›</a:t>
            </a:fld>
            <a:endParaRPr lang="ru-RU"/>
          </a:p>
        </p:txBody>
      </p:sp>
    </p:spTree>
    <p:extLst>
      <p:ext uri="{BB962C8B-B14F-4D97-AF65-F5344CB8AC3E}">
        <p14:creationId xmlns:p14="http://schemas.microsoft.com/office/powerpoint/2010/main" val="3618417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418066A-492B-714A-F3FF-37297047760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17021087-8F98-2406-3399-8DDA2E930F12}"/>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ACF710B-010B-EEF1-4C43-923BA0867C97}"/>
              </a:ext>
            </a:extLst>
          </p:cNvPr>
          <p:cNvSpPr>
            <a:spLocks noGrp="1"/>
          </p:cNvSpPr>
          <p:nvPr>
            <p:ph type="dt" sz="half" idx="10"/>
          </p:nvPr>
        </p:nvSpPr>
        <p:spPr/>
        <p:txBody>
          <a:bodyPr/>
          <a:lstStyle/>
          <a:p>
            <a:fld id="{FD6B784B-CE46-42E0-B03C-1DDAE3547C16}"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83645F02-1784-986C-4BE6-FA16DE30DFE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3D1EEAD-ECB1-0369-9F34-333F8BCF85B4}"/>
              </a:ext>
            </a:extLst>
          </p:cNvPr>
          <p:cNvSpPr>
            <a:spLocks noGrp="1"/>
          </p:cNvSpPr>
          <p:nvPr>
            <p:ph type="sldNum" sz="quarter" idx="12"/>
          </p:nvPr>
        </p:nvSpPr>
        <p:spPr/>
        <p:txBody>
          <a:bodyPr/>
          <a:lstStyle/>
          <a:p>
            <a:fld id="{D40939FF-2ED3-411F-AA6F-ECCD45727312}" type="slidenum">
              <a:rPr lang="ru-RU" smtClean="0"/>
              <a:t>‹#›</a:t>
            </a:fld>
            <a:endParaRPr lang="ru-RU"/>
          </a:p>
        </p:txBody>
      </p:sp>
    </p:spTree>
    <p:extLst>
      <p:ext uri="{BB962C8B-B14F-4D97-AF65-F5344CB8AC3E}">
        <p14:creationId xmlns:p14="http://schemas.microsoft.com/office/powerpoint/2010/main" val="1680316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969C71-9CA6-48CE-CEE2-DDF8135FE32B}"/>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D3BA5695-E51E-11BD-348D-36671AB1AC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366158FC-31FF-044D-9786-39CCED755FBB}"/>
              </a:ext>
            </a:extLst>
          </p:cNvPr>
          <p:cNvSpPr>
            <a:spLocks noGrp="1"/>
          </p:cNvSpPr>
          <p:nvPr>
            <p:ph type="dt" sz="half" idx="10"/>
          </p:nvPr>
        </p:nvSpPr>
        <p:spPr/>
        <p:txBody>
          <a:bodyPr/>
          <a:lstStyle/>
          <a:p>
            <a:fld id="{FD6B784B-CE46-42E0-B03C-1DDAE3547C16}"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DD11BC00-FCB9-7DE0-00D1-DDF76BC720A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275D940-670A-2806-D899-8D23B4B85B01}"/>
              </a:ext>
            </a:extLst>
          </p:cNvPr>
          <p:cNvSpPr>
            <a:spLocks noGrp="1"/>
          </p:cNvSpPr>
          <p:nvPr>
            <p:ph type="sldNum" sz="quarter" idx="12"/>
          </p:nvPr>
        </p:nvSpPr>
        <p:spPr/>
        <p:txBody>
          <a:bodyPr/>
          <a:lstStyle/>
          <a:p>
            <a:fld id="{D40939FF-2ED3-411F-AA6F-ECCD45727312}" type="slidenum">
              <a:rPr lang="ru-RU" smtClean="0"/>
              <a:t>‹#›</a:t>
            </a:fld>
            <a:endParaRPr lang="ru-RU"/>
          </a:p>
        </p:txBody>
      </p:sp>
    </p:spTree>
    <p:extLst>
      <p:ext uri="{BB962C8B-B14F-4D97-AF65-F5344CB8AC3E}">
        <p14:creationId xmlns:p14="http://schemas.microsoft.com/office/powerpoint/2010/main" val="3287803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580AEA-CD79-C853-D1F7-088DF998580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BD306717-3CCF-5878-4742-D358C1AD9A56}"/>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BEAF5037-58E9-6904-0C3B-B49A5136272F}"/>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A1B214D4-7B76-6D20-4829-B423CB73FBBB}"/>
              </a:ext>
            </a:extLst>
          </p:cNvPr>
          <p:cNvSpPr>
            <a:spLocks noGrp="1"/>
          </p:cNvSpPr>
          <p:nvPr>
            <p:ph type="dt" sz="half" idx="10"/>
          </p:nvPr>
        </p:nvSpPr>
        <p:spPr/>
        <p:txBody>
          <a:bodyPr/>
          <a:lstStyle/>
          <a:p>
            <a:fld id="{FD6B784B-CE46-42E0-B03C-1DDAE3547C16}" type="datetimeFigureOut">
              <a:rPr lang="ru-RU" smtClean="0"/>
              <a:t>16.06.2026</a:t>
            </a:fld>
            <a:endParaRPr lang="ru-RU"/>
          </a:p>
        </p:txBody>
      </p:sp>
      <p:sp>
        <p:nvSpPr>
          <p:cNvPr id="6" name="Нижний колонтитул 5">
            <a:extLst>
              <a:ext uri="{FF2B5EF4-FFF2-40B4-BE49-F238E27FC236}">
                <a16:creationId xmlns:a16="http://schemas.microsoft.com/office/drawing/2014/main" id="{DBC7C8F8-D7A7-5EDE-F45D-0CB0449F0FD6}"/>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3500829-C34A-A314-B131-8F8599568837}"/>
              </a:ext>
            </a:extLst>
          </p:cNvPr>
          <p:cNvSpPr>
            <a:spLocks noGrp="1"/>
          </p:cNvSpPr>
          <p:nvPr>
            <p:ph type="sldNum" sz="quarter" idx="12"/>
          </p:nvPr>
        </p:nvSpPr>
        <p:spPr/>
        <p:txBody>
          <a:bodyPr/>
          <a:lstStyle/>
          <a:p>
            <a:fld id="{D40939FF-2ED3-411F-AA6F-ECCD45727312}" type="slidenum">
              <a:rPr lang="ru-RU" smtClean="0"/>
              <a:t>‹#›</a:t>
            </a:fld>
            <a:endParaRPr lang="ru-RU"/>
          </a:p>
        </p:txBody>
      </p:sp>
    </p:spTree>
    <p:extLst>
      <p:ext uri="{BB962C8B-B14F-4D97-AF65-F5344CB8AC3E}">
        <p14:creationId xmlns:p14="http://schemas.microsoft.com/office/powerpoint/2010/main" val="811061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22A3F40-C335-C80A-A999-9A90FA6C785D}"/>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4DF70E5F-FC5E-92E6-4F2A-ED86BDABD9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F2271602-EF81-85FA-BED7-F84CB5154F7E}"/>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A5EF6159-BF97-3B84-738C-3BD6218686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08113967-D508-C7A5-AF9C-9168ADD0822B}"/>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97B57DB8-60AC-D87C-F7E2-1248F65FE0A8}"/>
              </a:ext>
            </a:extLst>
          </p:cNvPr>
          <p:cNvSpPr>
            <a:spLocks noGrp="1"/>
          </p:cNvSpPr>
          <p:nvPr>
            <p:ph type="dt" sz="half" idx="10"/>
          </p:nvPr>
        </p:nvSpPr>
        <p:spPr/>
        <p:txBody>
          <a:bodyPr/>
          <a:lstStyle/>
          <a:p>
            <a:fld id="{FD6B784B-CE46-42E0-B03C-1DDAE3547C16}" type="datetimeFigureOut">
              <a:rPr lang="ru-RU" smtClean="0"/>
              <a:t>16.06.2026</a:t>
            </a:fld>
            <a:endParaRPr lang="ru-RU"/>
          </a:p>
        </p:txBody>
      </p:sp>
      <p:sp>
        <p:nvSpPr>
          <p:cNvPr id="8" name="Нижний колонтитул 7">
            <a:extLst>
              <a:ext uri="{FF2B5EF4-FFF2-40B4-BE49-F238E27FC236}">
                <a16:creationId xmlns:a16="http://schemas.microsoft.com/office/drawing/2014/main" id="{4D7844EF-CA18-2BD4-BC61-F9A34EDCB15A}"/>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14D01310-A6BA-218B-00D5-C624B11A67DD}"/>
              </a:ext>
            </a:extLst>
          </p:cNvPr>
          <p:cNvSpPr>
            <a:spLocks noGrp="1"/>
          </p:cNvSpPr>
          <p:nvPr>
            <p:ph type="sldNum" sz="quarter" idx="12"/>
          </p:nvPr>
        </p:nvSpPr>
        <p:spPr/>
        <p:txBody>
          <a:bodyPr/>
          <a:lstStyle/>
          <a:p>
            <a:fld id="{D40939FF-2ED3-411F-AA6F-ECCD45727312}" type="slidenum">
              <a:rPr lang="ru-RU" smtClean="0"/>
              <a:t>‹#›</a:t>
            </a:fld>
            <a:endParaRPr lang="ru-RU"/>
          </a:p>
        </p:txBody>
      </p:sp>
    </p:spTree>
    <p:extLst>
      <p:ext uri="{BB962C8B-B14F-4D97-AF65-F5344CB8AC3E}">
        <p14:creationId xmlns:p14="http://schemas.microsoft.com/office/powerpoint/2010/main" val="3801590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7860E8-0BF8-07F5-F50D-2F008BE56367}"/>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CF349503-A2A3-BCA5-DA72-E7FBA1D1A12E}"/>
              </a:ext>
            </a:extLst>
          </p:cNvPr>
          <p:cNvSpPr>
            <a:spLocks noGrp="1"/>
          </p:cNvSpPr>
          <p:nvPr>
            <p:ph type="dt" sz="half" idx="10"/>
          </p:nvPr>
        </p:nvSpPr>
        <p:spPr/>
        <p:txBody>
          <a:bodyPr/>
          <a:lstStyle/>
          <a:p>
            <a:fld id="{FD6B784B-CE46-42E0-B03C-1DDAE3547C16}" type="datetimeFigureOut">
              <a:rPr lang="ru-RU" smtClean="0"/>
              <a:t>16.06.2026</a:t>
            </a:fld>
            <a:endParaRPr lang="ru-RU"/>
          </a:p>
        </p:txBody>
      </p:sp>
      <p:sp>
        <p:nvSpPr>
          <p:cNvPr id="4" name="Нижний колонтитул 3">
            <a:extLst>
              <a:ext uri="{FF2B5EF4-FFF2-40B4-BE49-F238E27FC236}">
                <a16:creationId xmlns:a16="http://schemas.microsoft.com/office/drawing/2014/main" id="{A7EC1465-D8A1-0ED9-FDD1-4E7142222DF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9A88F23-2A77-C915-2D5B-01FE5539EBDB}"/>
              </a:ext>
            </a:extLst>
          </p:cNvPr>
          <p:cNvSpPr>
            <a:spLocks noGrp="1"/>
          </p:cNvSpPr>
          <p:nvPr>
            <p:ph type="sldNum" sz="quarter" idx="12"/>
          </p:nvPr>
        </p:nvSpPr>
        <p:spPr/>
        <p:txBody>
          <a:bodyPr/>
          <a:lstStyle/>
          <a:p>
            <a:fld id="{D40939FF-2ED3-411F-AA6F-ECCD45727312}" type="slidenum">
              <a:rPr lang="ru-RU" smtClean="0"/>
              <a:t>‹#›</a:t>
            </a:fld>
            <a:endParaRPr lang="ru-RU"/>
          </a:p>
        </p:txBody>
      </p:sp>
    </p:spTree>
    <p:extLst>
      <p:ext uri="{BB962C8B-B14F-4D97-AF65-F5344CB8AC3E}">
        <p14:creationId xmlns:p14="http://schemas.microsoft.com/office/powerpoint/2010/main" val="866252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C39A8900-363C-96E7-AF7B-62EA38BBD1F6}"/>
              </a:ext>
            </a:extLst>
          </p:cNvPr>
          <p:cNvSpPr>
            <a:spLocks noGrp="1"/>
          </p:cNvSpPr>
          <p:nvPr>
            <p:ph type="dt" sz="half" idx="10"/>
          </p:nvPr>
        </p:nvSpPr>
        <p:spPr/>
        <p:txBody>
          <a:bodyPr/>
          <a:lstStyle/>
          <a:p>
            <a:fld id="{FD6B784B-CE46-42E0-B03C-1DDAE3547C16}" type="datetimeFigureOut">
              <a:rPr lang="ru-RU" smtClean="0"/>
              <a:t>16.06.2026</a:t>
            </a:fld>
            <a:endParaRPr lang="ru-RU"/>
          </a:p>
        </p:txBody>
      </p:sp>
      <p:sp>
        <p:nvSpPr>
          <p:cNvPr id="3" name="Нижний колонтитул 2">
            <a:extLst>
              <a:ext uri="{FF2B5EF4-FFF2-40B4-BE49-F238E27FC236}">
                <a16:creationId xmlns:a16="http://schemas.microsoft.com/office/drawing/2014/main" id="{EA69F7F8-4F4C-2C11-C5E7-ADACAF8B1B76}"/>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C30266EA-33CF-A736-0042-8D48F1123468}"/>
              </a:ext>
            </a:extLst>
          </p:cNvPr>
          <p:cNvSpPr>
            <a:spLocks noGrp="1"/>
          </p:cNvSpPr>
          <p:nvPr>
            <p:ph type="sldNum" sz="quarter" idx="12"/>
          </p:nvPr>
        </p:nvSpPr>
        <p:spPr/>
        <p:txBody>
          <a:bodyPr/>
          <a:lstStyle/>
          <a:p>
            <a:fld id="{D40939FF-2ED3-411F-AA6F-ECCD45727312}" type="slidenum">
              <a:rPr lang="ru-RU" smtClean="0"/>
              <a:t>‹#›</a:t>
            </a:fld>
            <a:endParaRPr lang="ru-RU"/>
          </a:p>
        </p:txBody>
      </p:sp>
    </p:spTree>
    <p:extLst>
      <p:ext uri="{BB962C8B-B14F-4D97-AF65-F5344CB8AC3E}">
        <p14:creationId xmlns:p14="http://schemas.microsoft.com/office/powerpoint/2010/main" val="2561483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A3DB34-E483-694C-781D-86A57DDDB85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1C8C87D2-C781-CC11-C434-0B9AB2B96F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1E324FCE-EA90-8197-346D-19DEC3960F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189D6F13-E6FF-821E-B7E7-7D6937D58AE8}"/>
              </a:ext>
            </a:extLst>
          </p:cNvPr>
          <p:cNvSpPr>
            <a:spLocks noGrp="1"/>
          </p:cNvSpPr>
          <p:nvPr>
            <p:ph type="dt" sz="half" idx="10"/>
          </p:nvPr>
        </p:nvSpPr>
        <p:spPr/>
        <p:txBody>
          <a:bodyPr/>
          <a:lstStyle/>
          <a:p>
            <a:fld id="{FD6B784B-CE46-42E0-B03C-1DDAE3547C16}" type="datetimeFigureOut">
              <a:rPr lang="ru-RU" smtClean="0"/>
              <a:t>16.06.2026</a:t>
            </a:fld>
            <a:endParaRPr lang="ru-RU"/>
          </a:p>
        </p:txBody>
      </p:sp>
      <p:sp>
        <p:nvSpPr>
          <p:cNvPr id="6" name="Нижний колонтитул 5">
            <a:extLst>
              <a:ext uri="{FF2B5EF4-FFF2-40B4-BE49-F238E27FC236}">
                <a16:creationId xmlns:a16="http://schemas.microsoft.com/office/drawing/2014/main" id="{4ECB283D-BF5E-4F89-1633-B15E8AEA4E4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BD14566F-D8E8-9BB2-E80D-4865732263A1}"/>
              </a:ext>
            </a:extLst>
          </p:cNvPr>
          <p:cNvSpPr>
            <a:spLocks noGrp="1"/>
          </p:cNvSpPr>
          <p:nvPr>
            <p:ph type="sldNum" sz="quarter" idx="12"/>
          </p:nvPr>
        </p:nvSpPr>
        <p:spPr/>
        <p:txBody>
          <a:bodyPr/>
          <a:lstStyle/>
          <a:p>
            <a:fld id="{D40939FF-2ED3-411F-AA6F-ECCD45727312}" type="slidenum">
              <a:rPr lang="ru-RU" smtClean="0"/>
              <a:t>‹#›</a:t>
            </a:fld>
            <a:endParaRPr lang="ru-RU"/>
          </a:p>
        </p:txBody>
      </p:sp>
    </p:spTree>
    <p:extLst>
      <p:ext uri="{BB962C8B-B14F-4D97-AF65-F5344CB8AC3E}">
        <p14:creationId xmlns:p14="http://schemas.microsoft.com/office/powerpoint/2010/main" val="1149873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65C458-9837-816D-6703-8EAF35B9212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A8DD615C-A48D-A529-AF9C-E9CEB99056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8E5D20C3-A774-C549-6C9B-8798E6B84C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F24DD446-010F-C382-1D21-B8CFD3A3C831}"/>
              </a:ext>
            </a:extLst>
          </p:cNvPr>
          <p:cNvSpPr>
            <a:spLocks noGrp="1"/>
          </p:cNvSpPr>
          <p:nvPr>
            <p:ph type="dt" sz="half" idx="10"/>
          </p:nvPr>
        </p:nvSpPr>
        <p:spPr/>
        <p:txBody>
          <a:bodyPr/>
          <a:lstStyle/>
          <a:p>
            <a:fld id="{FD6B784B-CE46-42E0-B03C-1DDAE3547C16}" type="datetimeFigureOut">
              <a:rPr lang="ru-RU" smtClean="0"/>
              <a:t>16.06.2026</a:t>
            </a:fld>
            <a:endParaRPr lang="ru-RU"/>
          </a:p>
        </p:txBody>
      </p:sp>
      <p:sp>
        <p:nvSpPr>
          <p:cNvPr id="6" name="Нижний колонтитул 5">
            <a:extLst>
              <a:ext uri="{FF2B5EF4-FFF2-40B4-BE49-F238E27FC236}">
                <a16:creationId xmlns:a16="http://schemas.microsoft.com/office/drawing/2014/main" id="{8E2A8AD0-7D24-F4D5-0979-79EA26378B9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418DF4BD-868F-73D4-3E1B-6FDE4269AFB6}"/>
              </a:ext>
            </a:extLst>
          </p:cNvPr>
          <p:cNvSpPr>
            <a:spLocks noGrp="1"/>
          </p:cNvSpPr>
          <p:nvPr>
            <p:ph type="sldNum" sz="quarter" idx="12"/>
          </p:nvPr>
        </p:nvSpPr>
        <p:spPr/>
        <p:txBody>
          <a:bodyPr/>
          <a:lstStyle/>
          <a:p>
            <a:fld id="{D40939FF-2ED3-411F-AA6F-ECCD45727312}" type="slidenum">
              <a:rPr lang="ru-RU" smtClean="0"/>
              <a:t>‹#›</a:t>
            </a:fld>
            <a:endParaRPr lang="ru-RU"/>
          </a:p>
        </p:txBody>
      </p:sp>
    </p:spTree>
    <p:extLst>
      <p:ext uri="{BB962C8B-B14F-4D97-AF65-F5344CB8AC3E}">
        <p14:creationId xmlns:p14="http://schemas.microsoft.com/office/powerpoint/2010/main" val="423940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217E462-5BCE-135D-0890-8C057C514D78}"/>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259B599E-70FD-2F85-608C-A5B3151AB0BE}"/>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75F72CB-E67A-F641-08EF-BF206162FB16}"/>
              </a:ext>
            </a:extLst>
          </p:cNvPr>
          <p:cNvSpPr>
            <a:spLocks noGrp="1"/>
          </p:cNvSpPr>
          <p:nvPr>
            <p:ph type="dt" sz="half" idx="10"/>
          </p:nvPr>
        </p:nvSpPr>
        <p:spPr/>
        <p:txBody>
          <a:bodyPr/>
          <a:lstStyle/>
          <a:p>
            <a:fld id="{FD6B784B-CE46-42E0-B03C-1DDAE3547C16}"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B0E7C28C-9C67-878D-C677-B1F68545498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FA2256A-8EAC-9834-0FEC-E71B0A022C05}"/>
              </a:ext>
            </a:extLst>
          </p:cNvPr>
          <p:cNvSpPr>
            <a:spLocks noGrp="1"/>
          </p:cNvSpPr>
          <p:nvPr>
            <p:ph type="sldNum" sz="quarter" idx="12"/>
          </p:nvPr>
        </p:nvSpPr>
        <p:spPr/>
        <p:txBody>
          <a:bodyPr/>
          <a:lstStyle/>
          <a:p>
            <a:fld id="{D40939FF-2ED3-411F-AA6F-ECCD45727312}" type="slidenum">
              <a:rPr lang="ru-RU" smtClean="0"/>
              <a:t>‹#›</a:t>
            </a:fld>
            <a:endParaRPr lang="ru-RU"/>
          </a:p>
        </p:txBody>
      </p:sp>
    </p:spTree>
    <p:extLst>
      <p:ext uri="{BB962C8B-B14F-4D97-AF65-F5344CB8AC3E}">
        <p14:creationId xmlns:p14="http://schemas.microsoft.com/office/powerpoint/2010/main" val="2231624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078AD212-85B9-5C30-7F6E-97C37AAFDFFF}"/>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AF4D7E40-0B5A-273E-9D8B-014B0A7C4DB8}"/>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085FFF9-E421-AC19-F826-D36A6FB98C7C}"/>
              </a:ext>
            </a:extLst>
          </p:cNvPr>
          <p:cNvSpPr>
            <a:spLocks noGrp="1"/>
          </p:cNvSpPr>
          <p:nvPr>
            <p:ph type="dt" sz="half" idx="10"/>
          </p:nvPr>
        </p:nvSpPr>
        <p:spPr/>
        <p:txBody>
          <a:bodyPr/>
          <a:lstStyle/>
          <a:p>
            <a:fld id="{FD6B784B-CE46-42E0-B03C-1DDAE3547C16}"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9B674C19-4289-9F92-3F95-FDC4A2A7E9A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7364F82-CA9E-86BE-72FE-07EF3D2C7E37}"/>
              </a:ext>
            </a:extLst>
          </p:cNvPr>
          <p:cNvSpPr>
            <a:spLocks noGrp="1"/>
          </p:cNvSpPr>
          <p:nvPr>
            <p:ph type="sldNum" sz="quarter" idx="12"/>
          </p:nvPr>
        </p:nvSpPr>
        <p:spPr/>
        <p:txBody>
          <a:bodyPr/>
          <a:lstStyle/>
          <a:p>
            <a:fld id="{D40939FF-2ED3-411F-AA6F-ECCD45727312}" type="slidenum">
              <a:rPr lang="ru-RU" smtClean="0"/>
              <a:t>‹#›</a:t>
            </a:fld>
            <a:endParaRPr lang="ru-RU"/>
          </a:p>
        </p:txBody>
      </p:sp>
    </p:spTree>
    <p:extLst>
      <p:ext uri="{BB962C8B-B14F-4D97-AF65-F5344CB8AC3E}">
        <p14:creationId xmlns:p14="http://schemas.microsoft.com/office/powerpoint/2010/main" val="3579648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471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361F2F-1402-41C2-9CA3-885EAC2DD9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9EE715F8-AE04-21C8-9E59-8A07D31E94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A97DBFE-4220-1ED6-A633-5F6E1B6C00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6B784B-CE46-42E0-B03C-1DDAE3547C16}"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38370513-8722-5E1A-D9CB-F6A66FBFFD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AB6E466D-DD2B-0CA3-FEA7-C9E547646E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0939FF-2ED3-411F-AA6F-ECCD45727312}" type="slidenum">
              <a:rPr lang="ru-RU" smtClean="0"/>
              <a:t>‹#›</a:t>
            </a:fld>
            <a:endParaRPr lang="ru-RU"/>
          </a:p>
        </p:txBody>
      </p:sp>
    </p:spTree>
    <p:extLst>
      <p:ext uri="{BB962C8B-B14F-4D97-AF65-F5344CB8AC3E}">
        <p14:creationId xmlns:p14="http://schemas.microsoft.com/office/powerpoint/2010/main" val="26505306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0420727"/>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2.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3.sv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svg"/><Relationship Id="rId5" Type="http://schemas.openxmlformats.org/officeDocument/2006/relationships/image" Target="../media/image11.svg"/><Relationship Id="rId4" Type="http://schemas.openxmlformats.org/officeDocument/2006/relationships/image" Target="../media/image10.svg"/></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0.svg"/><Relationship Id="rId7" Type="http://schemas.openxmlformats.org/officeDocument/2006/relationships/image" Target="../media/image12.svg"/><Relationship Id="rId12" Type="http://schemas.openxmlformats.org/officeDocument/2006/relationships/image" Target="../media/image2.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6.svg"/><Relationship Id="rId11" Type="http://schemas.openxmlformats.org/officeDocument/2006/relationships/image" Target="../media/image16.svg"/><Relationship Id="rId5" Type="http://schemas.openxmlformats.org/officeDocument/2006/relationships/image" Target="../media/image5.svg"/><Relationship Id="rId10" Type="http://schemas.openxmlformats.org/officeDocument/2006/relationships/image" Target="../media/image15.svg"/><Relationship Id="rId4" Type="http://schemas.openxmlformats.org/officeDocument/2006/relationships/image" Target="../media/image3.svg"/><Relationship Id="rId9" Type="http://schemas.openxmlformats.org/officeDocument/2006/relationships/image" Target="../media/image14.sv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4.sv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6.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5.sv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32.sv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3.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svg"/><Relationship Id="rId7" Type="http://schemas.openxmlformats.org/officeDocument/2006/relationships/image" Target="../media/image35.sv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6.svg"/><Relationship Id="rId4" Type="http://schemas.openxmlformats.org/officeDocument/2006/relationships/image" Target="../media/image5.svg"/><Relationship Id="rId9" Type="http://schemas.openxmlformats.org/officeDocument/2006/relationships/image" Target="../media/image2.sv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38.svg"/></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40.svg"/><Relationship Id="rId7" Type="http://schemas.openxmlformats.org/officeDocument/2006/relationships/image" Target="../media/image44.sv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41.svg"/></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0.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3.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4.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0.svg"/><Relationship Id="rId7" Type="http://schemas.openxmlformats.org/officeDocument/2006/relationships/image" Target="../media/image53.sv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52.svg"/><Relationship Id="rId5" Type="http://schemas.openxmlformats.org/officeDocument/2006/relationships/image" Target="../media/image51.svg"/><Relationship Id="rId4" Type="http://schemas.openxmlformats.org/officeDocument/2006/relationships/image" Target="../media/image50.svg"/><Relationship Id="rId9" Type="http://schemas.openxmlformats.org/officeDocument/2006/relationships/image" Target="../media/image2.svg"/></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5.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6.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notesSlide" Target="../notesSlides/notesSlide46.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9.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5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0.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5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5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3.xml"/><Relationship Id="rId1" Type="http://schemas.openxmlformats.org/officeDocument/2006/relationships/slideLayout" Target="../slideLayouts/slideLayout12.xml"/><Relationship Id="rId6" Type="http://schemas.openxmlformats.org/officeDocument/2006/relationships/image" Target="../media/image2.svg"/><Relationship Id="rId5" Type="http://schemas.openxmlformats.org/officeDocument/2006/relationships/image" Target="../media/image63.svg"/><Relationship Id="rId4" Type="http://schemas.openxmlformats.org/officeDocument/2006/relationships/image" Target="../media/image4.svg"/></Relationships>
</file>

<file path=ppt/slides/_rels/slide54.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2.svg"/><Relationship Id="rId2" Type="http://schemas.openxmlformats.org/officeDocument/2006/relationships/notesSlide" Target="../notesSlides/notesSlide54.xml"/><Relationship Id="rId1" Type="http://schemas.openxmlformats.org/officeDocument/2006/relationships/slideLayout" Target="../slideLayouts/slideLayout12.xml"/><Relationship Id="rId6" Type="http://schemas.openxmlformats.org/officeDocument/2006/relationships/image" Target="../media/image63.svg"/><Relationship Id="rId5" Type="http://schemas.openxmlformats.org/officeDocument/2006/relationships/image" Target="../media/image4.svg"/><Relationship Id="rId4" Type="http://schemas.openxmlformats.org/officeDocument/2006/relationships/image" Target="../media/image3.svg"/></Relationships>
</file>

<file path=ppt/slides/_rels/slide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5.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4.svg"/></Relationships>
</file>

<file path=ppt/slides/_rels/slide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6.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4.svg"/></Relationships>
</file>

<file path=ppt/slides/_rels/slide57.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notesSlide" Target="../notesSlides/notesSlide57.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5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8.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59.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notesSlide" Target="../notesSlides/notesSlide59.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0.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1.xml.rels><?xml version="1.0" encoding="UTF-8" standalone="yes"?>
<Relationships xmlns="http://schemas.openxmlformats.org/package/2006/relationships"><Relationship Id="rId3" Type="http://schemas.openxmlformats.org/officeDocument/2006/relationships/image" Target="../media/image68.svg"/><Relationship Id="rId2" Type="http://schemas.openxmlformats.org/officeDocument/2006/relationships/notesSlide" Target="../notesSlides/notesSlide6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2.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69.svg"/></Relationships>
</file>

<file path=ppt/slides/_rels/slide63.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svg"/><Relationship Id="rId2" Type="http://schemas.openxmlformats.org/officeDocument/2006/relationships/notesSlide" Target="../notesSlides/notesSlide63.xml"/><Relationship Id="rId1" Type="http://schemas.openxmlformats.org/officeDocument/2006/relationships/slideLayout" Target="../slideLayouts/slideLayout12.xml"/><Relationship Id="rId6" Type="http://schemas.openxmlformats.org/officeDocument/2006/relationships/image" Target="../media/image70.svg"/><Relationship Id="rId5" Type="http://schemas.openxmlformats.org/officeDocument/2006/relationships/image" Target="../media/image63.svg"/><Relationship Id="rId4" Type="http://schemas.openxmlformats.org/officeDocument/2006/relationships/image" Target="../media/image4.svg"/></Relationships>
</file>

<file path=ppt/slides/_rels/slide6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4.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5.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6.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7.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8.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4.svg"/></Relationships>
</file>

<file path=ppt/slides/_rels/slide69.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svg"/><Relationship Id="rId2" Type="http://schemas.openxmlformats.org/officeDocument/2006/relationships/notesSlide" Target="../notesSlides/notesSlide69.xml"/><Relationship Id="rId1" Type="http://schemas.openxmlformats.org/officeDocument/2006/relationships/slideLayout" Target="../slideLayouts/slideLayout12.xml"/><Relationship Id="rId6" Type="http://schemas.openxmlformats.org/officeDocument/2006/relationships/image" Target="../media/image70.svg"/><Relationship Id="rId5" Type="http://schemas.openxmlformats.org/officeDocument/2006/relationships/image" Target="../media/image63.svg"/><Relationship Id="rId4" Type="http://schemas.openxmlformats.org/officeDocument/2006/relationships/image" Target="../media/image4.svg"/></Relationships>
</file>

<file path=ppt/slides/_rels/slide7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0.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71.xml.rels><?xml version="1.0" encoding="UTF-8" standalone="yes"?>
<Relationships xmlns="http://schemas.openxmlformats.org/package/2006/relationships"><Relationship Id="rId3" Type="http://schemas.openxmlformats.org/officeDocument/2006/relationships/image" Target="../media/image76.svg"/><Relationship Id="rId2" Type="http://schemas.openxmlformats.org/officeDocument/2006/relationships/notesSlide" Target="../notesSlides/notesSlide7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7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73.xml.rels><?xml version="1.0" encoding="UTF-8" standalone="yes"?>
<Relationships xmlns="http://schemas.openxmlformats.org/package/2006/relationships"><Relationship Id="rId3" Type="http://schemas.openxmlformats.org/officeDocument/2006/relationships/image" Target="../media/image78.svg"/><Relationship Id="rId2" Type="http://schemas.openxmlformats.org/officeDocument/2006/relationships/notesSlide" Target="../notesSlides/notesSlide73.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7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74.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75.xml.rels><?xml version="1.0" encoding="UTF-8" standalone="yes"?>
<Relationships xmlns="http://schemas.openxmlformats.org/package/2006/relationships"><Relationship Id="rId3" Type="http://schemas.openxmlformats.org/officeDocument/2006/relationships/image" Target="../media/image80.svg"/><Relationship Id="rId2" Type="http://schemas.openxmlformats.org/officeDocument/2006/relationships/notesSlide" Target="../notesSlides/notesSlide75.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76.xml.rels><?xml version="1.0" encoding="UTF-8" standalone="yes"?>
<Relationships xmlns="http://schemas.openxmlformats.org/package/2006/relationships"><Relationship Id="rId3" Type="http://schemas.openxmlformats.org/officeDocument/2006/relationships/image" Target="../media/image81.svg"/><Relationship Id="rId2" Type="http://schemas.openxmlformats.org/officeDocument/2006/relationships/notesSlide" Target="../notesSlides/notesSlide76.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82.svg"/></Relationships>
</file>

<file path=ppt/slides/_rels/slide7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8.xml"/><Relationship Id="rId1" Type="http://schemas.openxmlformats.org/officeDocument/2006/relationships/slideLayout" Target="../slideLayouts/slideLayout12.xml"/><Relationship Id="rId6" Type="http://schemas.openxmlformats.org/officeDocument/2006/relationships/image" Target="../media/image2.svg"/><Relationship Id="rId5" Type="http://schemas.openxmlformats.org/officeDocument/2006/relationships/image" Target="../media/image63.svg"/><Relationship Id="rId4" Type="http://schemas.openxmlformats.org/officeDocument/2006/relationships/image" Target="../media/image4.svg"/></Relationships>
</file>

<file path=ppt/slides/_rels/slide7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79.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80.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notesSlide" Target="../notesSlides/notesSlide80.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8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8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82.xml.rels><?xml version="1.0" encoding="UTF-8" standalone="yes"?>
<Relationships xmlns="http://schemas.openxmlformats.org/package/2006/relationships"><Relationship Id="rId3" Type="http://schemas.openxmlformats.org/officeDocument/2006/relationships/image" Target="../media/image86.svg"/><Relationship Id="rId2" Type="http://schemas.openxmlformats.org/officeDocument/2006/relationships/notesSlide" Target="../notesSlides/notesSlide8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8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83.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84.xml.rels><?xml version="1.0" encoding="UTF-8" standalone="yes"?>
<Relationships xmlns="http://schemas.openxmlformats.org/package/2006/relationships"><Relationship Id="rId3" Type="http://schemas.openxmlformats.org/officeDocument/2006/relationships/image" Target="../media/image88.svg"/><Relationship Id="rId2" Type="http://schemas.openxmlformats.org/officeDocument/2006/relationships/notesSlide" Target="../notesSlides/notesSlide84.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85.xml.rels><?xml version="1.0" encoding="UTF-8" standalone="yes"?>
<Relationships xmlns="http://schemas.openxmlformats.org/package/2006/relationships"><Relationship Id="rId3" Type="http://schemas.openxmlformats.org/officeDocument/2006/relationships/image" Target="../media/image81.svg"/><Relationship Id="rId2" Type="http://schemas.openxmlformats.org/officeDocument/2006/relationships/notesSlide" Target="../notesSlides/notesSlide85.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82.svg"/></Relationships>
</file>

<file path=ppt/slides/_rels/slide8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notesSlide" Target="../notesSlides/notesSlide87.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90.svg"/></Relationships>
</file>

<file path=ppt/slides/_rels/slide8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8" Type="http://schemas.openxmlformats.org/officeDocument/2006/relationships/image" Target="../media/image92.svg"/><Relationship Id="rId3" Type="http://schemas.openxmlformats.org/officeDocument/2006/relationships/image" Target="../media/image3.svg"/><Relationship Id="rId7" Type="http://schemas.openxmlformats.org/officeDocument/2006/relationships/image" Target="../media/image91.svg"/><Relationship Id="rId2" Type="http://schemas.openxmlformats.org/officeDocument/2006/relationships/notesSlide" Target="../notesSlides/notesSlide90.xml"/><Relationship Id="rId1" Type="http://schemas.openxmlformats.org/officeDocument/2006/relationships/slideLayout" Target="../slideLayouts/slideLayout12.xml"/><Relationship Id="rId6" Type="http://schemas.openxmlformats.org/officeDocument/2006/relationships/image" Target="../media/image70.svg"/><Relationship Id="rId5" Type="http://schemas.openxmlformats.org/officeDocument/2006/relationships/image" Target="../media/image63.svg"/><Relationship Id="rId4" Type="http://schemas.openxmlformats.org/officeDocument/2006/relationships/image" Target="../media/image4.svg"/></Relationships>
</file>

<file path=ppt/slides/_rels/slide91.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91.xml"/><Relationship Id="rId1" Type="http://schemas.openxmlformats.org/officeDocument/2006/relationships/slideLayout" Target="../slideLayouts/slideLayout12.xml"/><Relationship Id="rId6" Type="http://schemas.openxmlformats.org/officeDocument/2006/relationships/image" Target="../media/image2.svg"/><Relationship Id="rId5" Type="http://schemas.openxmlformats.org/officeDocument/2006/relationships/image" Target="../media/image94.svg"/><Relationship Id="rId4" Type="http://schemas.openxmlformats.org/officeDocument/2006/relationships/image" Target="../media/image93.svg"/></Relationships>
</file>

<file path=ppt/slides/_rels/slide92.xml.rels><?xml version="1.0" encoding="UTF-8" standalone="yes"?>
<Relationships xmlns="http://schemas.openxmlformats.org/package/2006/relationships"><Relationship Id="rId3" Type="http://schemas.openxmlformats.org/officeDocument/2006/relationships/image" Target="../media/image95.svg"/><Relationship Id="rId2" Type="http://schemas.openxmlformats.org/officeDocument/2006/relationships/notesSlide" Target="../notesSlides/notesSlide9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3.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5.svg"/></Relationships>
</file>

<file path=ppt/slides/_rels/slide9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94.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95.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93.svg"/></Relationships>
</file>

<file path=ppt/slides/_rels/slide9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96.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3" Type="http://schemas.openxmlformats.org/officeDocument/2006/relationships/image" Target="../media/image96.svg"/><Relationship Id="rId2" Type="http://schemas.openxmlformats.org/officeDocument/2006/relationships/notesSlide" Target="../notesSlides/notesSlide97.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98.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98.xml"/><Relationship Id="rId1" Type="http://schemas.openxmlformats.org/officeDocument/2006/relationships/slideLayout" Target="../slideLayouts/slideLayout12.xml"/><Relationship Id="rId6" Type="http://schemas.openxmlformats.org/officeDocument/2006/relationships/image" Target="../media/image2.svg"/><Relationship Id="rId5" Type="http://schemas.openxmlformats.org/officeDocument/2006/relationships/image" Target="../media/image51.svg"/><Relationship Id="rId4" Type="http://schemas.openxmlformats.org/officeDocument/2006/relationships/image" Target="../media/image50.svg"/></Relationships>
</file>

<file path=ppt/slides/_rels/slide9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99.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00.xml"/><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01.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102.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50.svg"/></Relationships>
</file>

<file path=ppt/slides/_rels/slide10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03.xml"/><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4.xml"/><Relationship Id="rId1" Type="http://schemas.openxmlformats.org/officeDocument/2006/relationships/slideLayout" Target="../slideLayouts/slideLayout12.xml"/><Relationship Id="rId6" Type="http://schemas.openxmlformats.org/officeDocument/2006/relationships/image" Target="../media/image2.svg"/><Relationship Id="rId5" Type="http://schemas.openxmlformats.org/officeDocument/2006/relationships/image" Target="../media/image63.svg"/><Relationship Id="rId4" Type="http://schemas.openxmlformats.org/officeDocument/2006/relationships/image" Target="../media/image4.svg"/></Relationships>
</file>

<file path=ppt/slides/_rels/slide105.xml.rels><?xml version="1.0" encoding="UTF-8" standalone="yes"?>
<Relationships xmlns="http://schemas.openxmlformats.org/package/2006/relationships"><Relationship Id="rId3" Type="http://schemas.openxmlformats.org/officeDocument/2006/relationships/image" Target="../media/image97.svg"/><Relationship Id="rId2" Type="http://schemas.openxmlformats.org/officeDocument/2006/relationships/notesSlide" Target="../notesSlides/notesSlide105.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0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6.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5.svg"/></Relationships>
</file>

<file path=ppt/slides/_rels/slide10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07.xml"/><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0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11542DC-FB21-C6F4-4451-2665BBFB6AF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C7967FC-C4FD-7296-7704-78600E142CCE}"/>
              </a:ext>
            </a:extLst>
          </p:cNvPr>
          <p:cNvSpPr/>
          <p:nvPr/>
        </p:nvSpPr>
        <p:spPr>
          <a:xfrm>
            <a:off x="979017" y="2457906"/>
            <a:ext cx="10822664" cy="2436435"/>
          </a:xfrm>
          <a:prstGeom prst="rect">
            <a:avLst/>
          </a:prstGeom>
          <a:noFill/>
          <a:ln/>
        </p:spPr>
        <p:txBody>
          <a:bodyPr wrap="square" lIns="0" tIns="0" rIns="0" bIns="0" rtlCol="0" anchor="t">
            <a:normAutofit fontScale="77500" lnSpcReduction="20000"/>
          </a:bodyPr>
          <a:lstStyle/>
          <a:p>
            <a:pPr marL="0" marR="0" lvl="0" indent="0" algn="l" defTabSz="1219170" rtl="0" eaLnBrk="1" fontAlgn="auto" latinLnBrk="0" hangingPunct="1">
              <a:lnSpc>
                <a:spcPts val="7185"/>
              </a:lnSpc>
              <a:spcBef>
                <a:spcPts val="0"/>
              </a:spcBef>
              <a:spcAft>
                <a:spcPts val="0"/>
              </a:spcAft>
              <a:buClrTx/>
              <a:buSzTx/>
              <a:buFontTx/>
              <a:buNone/>
              <a:tabLst/>
              <a:defRPr/>
            </a:pPr>
            <a:r>
              <a:rPr kumimoji="0" lang="ru-RU" sz="5527"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Лекция 8: </a:t>
            </a:r>
            <a:r>
              <a:rPr lang="ru-RU" sz="5527" b="1" dirty="0">
                <a:solidFill>
                  <a:srgbClr val="FFFFFF"/>
                </a:solidFill>
                <a:latin typeface="Arial" pitchFamily="34" charset="0"/>
                <a:ea typeface="Arial" pitchFamily="34" charset="-122"/>
                <a:cs typeface="Arial" pitchFamily="34" charset="-120"/>
              </a:rPr>
              <a:t>эволюционные алгоритмы и символические вычисления</a:t>
            </a:r>
            <a:endParaRPr kumimoji="0" lang="en-US" sz="552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2391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321779" y="2730767"/>
            <a:ext cx="4736460" cy="233172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Эволюционные алгоритмы</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076554" y="1273531"/>
            <a:ext cx="5690007" cy="4310253"/>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36320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Эволюционные алгоритмы</a:t>
            </a:r>
            <a:endParaRPr lang="en-US" sz="5584" dirty="0">
              <a:solidFill>
                <a:prstClr val="black"/>
              </a:solidFill>
              <a:latin typeface="Calibri" panose="020F0502020204030204"/>
            </a:endParaRPr>
          </a:p>
        </p:txBody>
      </p:sp>
      <p:sp>
        <p:nvSpPr>
          <p:cNvPr id="3" name="Text 1"/>
          <p:cNvSpPr/>
          <p:nvPr/>
        </p:nvSpPr>
        <p:spPr>
          <a:xfrm>
            <a:off x="1188720" y="2386584"/>
            <a:ext cx="37795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Предметная область</a:t>
            </a:r>
            <a:endParaRPr lang="en-US" sz="2820" dirty="0">
              <a:solidFill>
                <a:prstClr val="black"/>
              </a:solidFill>
              <a:latin typeface="Calibri" panose="020F0502020204030204"/>
            </a:endParaRPr>
          </a:p>
        </p:txBody>
      </p:sp>
      <p:sp>
        <p:nvSpPr>
          <p:cNvPr id="4" name="Text 2"/>
          <p:cNvSpPr/>
          <p:nvPr/>
        </p:nvSpPr>
        <p:spPr>
          <a:xfrm>
            <a:off x="1188720" y="3331616"/>
            <a:ext cx="23164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Компоненты</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sp>
        <p:nvSpPr>
          <p:cNvPr id="7" name="Text 3"/>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792480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Предметная область</a:t>
            </a:r>
            <a:endParaRPr lang="en-US" sz="5584" dirty="0">
              <a:solidFill>
                <a:prstClr val="black"/>
              </a:solidFill>
              <a:latin typeface="Calibri" panose="020F0502020204030204"/>
            </a:endParaRPr>
          </a:p>
        </p:txBody>
      </p:sp>
      <p:sp>
        <p:nvSpPr>
          <p:cNvPr id="3" name="Text 1"/>
          <p:cNvSpPr/>
          <p:nvPr/>
        </p:nvSpPr>
        <p:spPr>
          <a:xfrm>
            <a:off x="1188720" y="2386584"/>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Эволюционный алгоритм - подразумевает стратегию эволюции, работает с векторами действительных чисе...</a:t>
            </a:r>
            <a:endParaRPr lang="en-US" sz="2820" dirty="0">
              <a:solidFill>
                <a:prstClr val="black"/>
              </a:solidFill>
              <a:latin typeface="Calibri" panose="020F0502020204030204"/>
            </a:endParaRPr>
          </a:p>
        </p:txBody>
      </p:sp>
      <p:sp>
        <p:nvSpPr>
          <p:cNvPr id="4" name="Text 2"/>
          <p:cNvSpPr/>
          <p:nvPr/>
        </p:nvSpPr>
        <p:spPr>
          <a:xfrm>
            <a:off x="1188720" y="3865169"/>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Определение: представляет собой метаэвристику, вдохновленную процессом естественного отбора, кото...</a:t>
            </a:r>
            <a:endParaRPr lang="en-US" sz="2820" dirty="0">
              <a:solidFill>
                <a:prstClr val="black"/>
              </a:solidFill>
              <a:latin typeface="Calibri" panose="020F0502020204030204"/>
            </a:endParaRPr>
          </a:p>
        </p:txBody>
      </p:sp>
      <p:sp>
        <p:nvSpPr>
          <p:cNvPr id="5" name="Text 3"/>
          <p:cNvSpPr/>
          <p:nvPr/>
        </p:nvSpPr>
        <p:spPr>
          <a:xfrm>
            <a:off x="1188720" y="5343068"/>
            <a:ext cx="13411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Основа</a:t>
            </a:r>
            <a:endParaRPr lang="en-US" sz="2820"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5343068"/>
            <a:ext cx="114605" cy="533552"/>
          </a:xfrm>
          <a:prstGeom prst="rect">
            <a:avLst/>
          </a:prstGeom>
        </p:spPr>
      </p:pic>
      <p:sp>
        <p:nvSpPr>
          <p:cNvPr id="9"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68819" y="857251"/>
            <a:ext cx="3779520" cy="2228850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Эволюционный алгоритм - подразумевает стратегию эволюции, работает с векторами действительных чисел в качестве представлений решений и обычно использует самоадаптирующиеся скорости мутаций, в основном используется для численной оптимизации, хотя есть и варианты для комбинаторных задач</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66826" y="962177"/>
            <a:ext cx="5690007" cy="4934331"/>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113129" y="1722044"/>
            <a:ext cx="9997440" cy="3429000"/>
          </a:xfrm>
          <a:prstGeom prst="rect">
            <a:avLst/>
          </a:prstGeom>
          <a:noFill/>
          <a:ln/>
        </p:spPr>
        <p:txBody>
          <a:bodyPr wrap="square" lIns="0" tIns="0" rIns="0" bIns="0" rtlCol="0" anchor="t">
            <a:normAutofit/>
          </a:bodyPr>
          <a:lstStyle/>
          <a:p>
            <a:pPr defTabSz="1219170">
              <a:lnSpc>
                <a:spcPts val="5053"/>
              </a:lnSpc>
            </a:pPr>
            <a:r>
              <a:rPr lang="en-US" sz="3609" b="1" dirty="0">
                <a:solidFill>
                  <a:srgbClr val="FFFFFF"/>
                </a:solidFill>
                <a:latin typeface="Arial" pitchFamily="34" charset="0"/>
                <a:ea typeface="Arial" pitchFamily="34" charset="-122"/>
                <a:cs typeface="Arial" pitchFamily="34" charset="-120"/>
              </a:rPr>
              <a:t>Определение: представляет собой метаэвристику, вдохновленную процессом естественного отбора, который принадлежит к более широкому классу эволюционных алгоритмов.</a:t>
            </a:r>
            <a:endParaRPr lang="en-US" sz="3609"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999897"/>
            <a:ext cx="999744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Определение: представляет собо...</a:t>
            </a:r>
            <a:endParaRPr lang="en-US" sz="7106" dirty="0">
              <a:solidFill>
                <a:prstClr val="black"/>
              </a:solidFill>
              <a:latin typeface="Calibri" panose="020F0502020204030204"/>
            </a:endParaRPr>
          </a:p>
        </p:txBody>
      </p:sp>
      <p:sp>
        <p:nvSpPr>
          <p:cNvPr id="3" name="Text 1"/>
          <p:cNvSpPr/>
          <p:nvPr/>
        </p:nvSpPr>
        <p:spPr>
          <a:xfrm>
            <a:off x="937565" y="4075024"/>
            <a:ext cx="10363200" cy="1783080"/>
          </a:xfrm>
          <a:prstGeom prst="rect">
            <a:avLst/>
          </a:prstGeom>
          <a:noFill/>
          <a:ln/>
        </p:spPr>
        <p:txBody>
          <a:bodyPr wrap="square" lIns="0" tIns="0" rIns="0" bIns="0" rtlCol="0" anchor="t">
            <a:normAutofit/>
          </a:bodyPr>
          <a:lstStyle/>
          <a:p>
            <a:pPr defTabSz="1219170">
              <a:lnSpc>
                <a:spcPts val="6599"/>
              </a:lnSpc>
            </a:pPr>
            <a:r>
              <a:rPr lang="en-US" sz="5076" dirty="0">
                <a:solidFill>
                  <a:srgbClr val="FFFFFF"/>
                </a:solidFill>
                <a:latin typeface="Arial" pitchFamily="34" charset="0"/>
                <a:ea typeface="Arial" pitchFamily="34" charset="-122"/>
                <a:cs typeface="Arial" pitchFamily="34" charset="-120"/>
              </a:rPr>
              <a:t>Метаэвристика - процедура или эвристика более высокого уро...</a:t>
            </a:r>
            <a:endParaRPr lang="en-US" sz="5076"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496209"/>
            <a:ext cx="10279075"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628775"/>
            <a:ext cx="10363200" cy="3634740"/>
          </a:xfrm>
          <a:prstGeom prst="rect">
            <a:avLst/>
          </a:prstGeom>
          <a:noFill/>
          <a:ln/>
        </p:spPr>
        <p:txBody>
          <a:bodyPr wrap="square" lIns="0" tIns="0" rIns="0" bIns="0" rtlCol="0" anchor="t">
            <a:normAutofit/>
          </a:bodyPr>
          <a:lstStyle/>
          <a:p>
            <a:pPr defTabSz="1219170">
              <a:lnSpc>
                <a:spcPts val="3807"/>
              </a:lnSpc>
            </a:pPr>
            <a:r>
              <a:rPr lang="en-US" sz="2539" b="1" dirty="0">
                <a:solidFill>
                  <a:srgbClr val="FFFFFF"/>
                </a:solidFill>
                <a:latin typeface="Arial" pitchFamily="34" charset="0"/>
                <a:ea typeface="Arial" pitchFamily="34" charset="-122"/>
                <a:cs typeface="Arial" pitchFamily="34" charset="-120"/>
              </a:rPr>
              <a:t>Метаэвристика - процедура или эвристика более высокого уровня, предназначенная для поиска, генерации, настройки или выбора эвристики (алгоритма частичного поиска), которая может обеспечить достаточно хорошее решение задачи оптимизации или задачи машинного обучения, особенно при неполной или несовершенной информации или ограниченной вычислительной мощности.</a:t>
            </a:r>
            <a:endParaRPr lang="en-US" sz="2539"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1193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Метаэвристика - процеду...</a:t>
            </a:r>
            <a:endParaRPr lang="en-US" sz="5584" dirty="0">
              <a:solidFill>
                <a:prstClr val="black"/>
              </a:solidFill>
              <a:latin typeface="Calibri" panose="020F0502020204030204"/>
            </a:endParaRPr>
          </a:p>
        </p:txBody>
      </p:sp>
      <p:sp>
        <p:nvSpPr>
          <p:cNvPr id="3" name="Text 1"/>
          <p:cNvSpPr/>
          <p:nvPr/>
        </p:nvSpPr>
        <p:spPr>
          <a:xfrm>
            <a:off x="1638605" y="2386584"/>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Метаэвристика выбирает подмножество решений, которое в противном случае слишком велико для полн...</a:t>
            </a:r>
            <a:endParaRPr lang="en-US" sz="2820" dirty="0">
              <a:solidFill>
                <a:prstClr val="black"/>
              </a:solidFill>
              <a:latin typeface="Calibri" panose="020F0502020204030204"/>
            </a:endParaRPr>
          </a:p>
        </p:txBody>
      </p:sp>
      <p:pic>
        <p:nvPicPr>
          <p:cNvPr id="4" name="Image 0" descr="file:///C:/Users/Hvv13/AppData/Local/Programs/Xmind/resources/app.asar/static/snowbird/resource/markers/symbolMarkers/symbol-exclam.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88721" y="2462709"/>
            <a:ext cx="381609" cy="381305"/>
          </a:xfrm>
          <a:prstGeom prst="rect">
            <a:avLst/>
          </a:prstGeom>
        </p:spPr>
      </p:pic>
      <p:sp>
        <p:nvSpPr>
          <p:cNvPr id="5" name="Text 2"/>
          <p:cNvSpPr/>
          <p:nvPr/>
        </p:nvSpPr>
        <p:spPr>
          <a:xfrm>
            <a:off x="1638605" y="3865169"/>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Другие известные метаэвристики (основаны на некоторых в том числе и специальных компонентах эв...</a:t>
            </a:r>
            <a:endParaRPr lang="en-US" sz="2820" dirty="0">
              <a:solidFill>
                <a:prstClr val="black"/>
              </a:solidFill>
              <a:latin typeface="Calibri" panose="020F0502020204030204"/>
            </a:endParaRPr>
          </a:p>
        </p:txBody>
      </p:sp>
      <p:pic>
        <p:nvPicPr>
          <p:cNvPr id="6" name="Image 1" descr="file:///C:/Users/Hvv13/AppData/Local/Programs/Xmind/resources/app.asar/static/snowbird/resource/markers/symbolMarkers/symbol-lightning.sv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88721" y="3941293"/>
            <a:ext cx="381609" cy="381305"/>
          </a:xfrm>
          <a:prstGeom prst="rect">
            <a:avLst/>
          </a:prstGeom>
        </p:spPr>
      </p:pic>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2386584"/>
            <a:ext cx="114605" cy="533552"/>
          </a:xfrm>
          <a:prstGeom prst="rect">
            <a:avLst/>
          </a:prstGeom>
        </p:spPr>
      </p:pic>
      <p:pic>
        <p:nvPicPr>
          <p:cNvPr id="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6" y="3865169"/>
            <a:ext cx="114605" cy="533552"/>
          </a:xfrm>
          <a:prstGeom prst="rect">
            <a:avLst/>
          </a:prstGeom>
        </p:spPr>
      </p:pic>
      <p:sp>
        <p:nvSpPr>
          <p:cNvPr id="9" name="Text 3"/>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2595" y="518466"/>
            <a:ext cx="342595" cy="301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504493" y="1748791"/>
            <a:ext cx="10241280" cy="3360420"/>
          </a:xfrm>
          <a:prstGeom prst="rect">
            <a:avLst/>
          </a:prstGeom>
          <a:noFill/>
          <a:ln/>
        </p:spPr>
        <p:txBody>
          <a:bodyPr wrap="square" lIns="0" tIns="0" rIns="0" bIns="0" rtlCol="0" anchor="t">
            <a:normAutofit/>
          </a:bodyPr>
          <a:lstStyle/>
          <a:p>
            <a:pPr defTabSz="1219170">
              <a:lnSpc>
                <a:spcPts val="4145"/>
              </a:lnSpc>
            </a:pPr>
            <a:r>
              <a:rPr lang="en-US" sz="2764" b="1" dirty="0">
                <a:solidFill>
                  <a:srgbClr val="FFFFFF"/>
                </a:solidFill>
                <a:latin typeface="Arial" pitchFamily="34" charset="0"/>
                <a:ea typeface="Arial" pitchFamily="34" charset="-122"/>
                <a:cs typeface="Arial" pitchFamily="34" charset="-120"/>
              </a:rPr>
              <a:t>Метаэвристика выбирает подмножество решений, которое в противном случае слишком велико для полного перечисления или иного исследования. Метаэвристика может делать относительно мало предположений о решаемой задаче оптимизации и поэтому может быть применима для множества задач.</a:t>
            </a:r>
            <a:endParaRPr lang="en-US" sz="2764" dirty="0">
              <a:solidFill>
                <a:prstClr val="black"/>
              </a:solidFill>
              <a:latin typeface="Calibri" panose="020F0502020204030204"/>
            </a:endParaRPr>
          </a:p>
        </p:txBody>
      </p:sp>
      <p:pic>
        <p:nvPicPr>
          <p:cNvPr id="3" name="Image 0" descr="file:///C:/Users/Hvv13/AppData/Local/Programs/Xmind/resources/app.asar/static/snowbird/resource/markers/symbolMarkers/symbol-exclam.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4867" y="1842059"/>
            <a:ext cx="373075" cy="373075"/>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966569" y="931317"/>
            <a:ext cx="1011936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Метаэвристика выбирает подмнож...</a:t>
            </a:r>
            <a:endParaRPr lang="en-US" sz="7106" dirty="0">
              <a:solidFill>
                <a:prstClr val="black"/>
              </a:solidFill>
              <a:latin typeface="Calibri" panose="020F0502020204030204"/>
            </a:endParaRPr>
          </a:p>
        </p:txBody>
      </p:sp>
      <p:pic>
        <p:nvPicPr>
          <p:cNvPr id="3" name="Image 0" descr="file:///C:/Users/Hvv13/AppData/Local/Programs/Xmind/resources/app.asar/static/snowbird/resource/markers/symbolMarkers/symbol-exclam.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1075335"/>
            <a:ext cx="960729" cy="960120"/>
          </a:xfrm>
          <a:prstGeom prst="rect">
            <a:avLst/>
          </a:prstGeom>
        </p:spPr>
      </p:pic>
      <p:sp>
        <p:nvSpPr>
          <p:cNvPr id="4" name="Text 1"/>
          <p:cNvSpPr/>
          <p:nvPr/>
        </p:nvSpPr>
        <p:spPr>
          <a:xfrm>
            <a:off x="1326489" y="4006445"/>
            <a:ext cx="10363200" cy="1988820"/>
          </a:xfrm>
          <a:prstGeom prst="rect">
            <a:avLst/>
          </a:prstGeom>
          <a:noFill/>
          <a:ln/>
        </p:spPr>
        <p:txBody>
          <a:bodyPr wrap="square" lIns="0" tIns="0" rIns="0" bIns="0" rtlCol="0" anchor="t">
            <a:normAutofit/>
          </a:bodyPr>
          <a:lstStyle/>
          <a:p>
            <a:pPr defTabSz="1219170">
              <a:lnSpc>
                <a:spcPts val="3553"/>
              </a:lnSpc>
            </a:pPr>
            <a:r>
              <a:rPr lang="en-US" sz="2369" dirty="0">
                <a:solidFill>
                  <a:srgbClr val="FFFFFF"/>
                </a:solidFill>
                <a:latin typeface="Arial" pitchFamily="34" charset="0"/>
                <a:ea typeface="Arial" pitchFamily="34" charset="-122"/>
                <a:cs typeface="Arial" pitchFamily="34" charset="-120"/>
              </a:rPr>
              <a:t>Их использование всегда представляет интерес, когда точные или другие (приближенные) методы недоступны или нецелесообразны, либо потому, что время вычисления слишком велико, либо потому, что, например, предоставленное решение слишком неточное.</a:t>
            </a:r>
            <a:endParaRPr lang="en-US" sz="2369" dirty="0">
              <a:solidFill>
                <a:prstClr val="black"/>
              </a:solidFill>
              <a:latin typeface="Calibri" panose="020F0502020204030204"/>
            </a:endParaRPr>
          </a:p>
        </p:txBody>
      </p:sp>
      <p:pic>
        <p:nvPicPr>
          <p:cNvPr id="5" name="Image 1" descr="file:///C:/Users/Hvv13/AppData/Local/Programs/Xmind/resources/app.asar/static/snowbird/resource/markers/symbolMarkers/symbol-lightning.sv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4086683"/>
            <a:ext cx="320649" cy="320268"/>
          </a:xfrm>
          <a:prstGeom prst="rect">
            <a:avLst/>
          </a:prstGeom>
        </p:spPr>
      </p:pic>
      <p:pic>
        <p:nvPicPr>
          <p:cNvPr id="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3427629"/>
            <a:ext cx="10316871" cy="578815"/>
          </a:xfrm>
          <a:prstGeom prst="rect">
            <a:avLst/>
          </a:prstGeom>
        </p:spPr>
      </p:pic>
      <p:sp>
        <p:nvSpPr>
          <p:cNvPr id="7"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570329" y="1748791"/>
            <a:ext cx="10363200" cy="336042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Другие известные метаэвристики (основаны на некоторых в том числе и специальных компонентах эволюционных алгоритмов и агентных систем, при этом могут включать элементы друг друга):</a:t>
            </a:r>
            <a:endParaRPr lang="en-US" sz="3553" dirty="0">
              <a:solidFill>
                <a:prstClr val="black"/>
              </a:solidFill>
              <a:latin typeface="Calibri" panose="020F0502020204030204"/>
            </a:endParaRPr>
          </a:p>
        </p:txBody>
      </p:sp>
      <p:pic>
        <p:nvPicPr>
          <p:cNvPr id="3" name="Image 0" descr="file:///C:/Users/Hvv13/AppData/Local/Programs/Xmind/resources/app.asar/static/snowbird/resource/markers/symbolMarkers/symbol-lightning.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2195" y="1844802"/>
            <a:ext cx="480365" cy="480060"/>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760525" y="857251"/>
            <a:ext cx="1036320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Другие известные мета...</a:t>
            </a:r>
            <a:endParaRPr lang="en-US" sz="5584" dirty="0">
              <a:solidFill>
                <a:prstClr val="black"/>
              </a:solidFill>
              <a:latin typeface="Calibri" panose="020F0502020204030204"/>
            </a:endParaRPr>
          </a:p>
        </p:txBody>
      </p:sp>
      <p:pic>
        <p:nvPicPr>
          <p:cNvPr id="3" name="Image 0" descr="file:///C:/Users/Hvv13/AppData/Local/Programs/Xmind/resources/app.asar/static/snowbird/resource/markers/symbolMarkers/symbol-lightning.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970407"/>
            <a:ext cx="754685" cy="754380"/>
          </a:xfrm>
          <a:prstGeom prst="rect">
            <a:avLst/>
          </a:prstGeom>
        </p:spPr>
      </p:pic>
      <p:sp>
        <p:nvSpPr>
          <p:cNvPr id="4" name="Text 1"/>
          <p:cNvSpPr/>
          <p:nvPr/>
        </p:nvSpPr>
        <p:spPr>
          <a:xfrm>
            <a:off x="1188720" y="2386584"/>
            <a:ext cx="987552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Агентные модели -  для моделирования действий и взаимодействий автономных агентов с целью понима...</a:t>
            </a:r>
            <a:endParaRPr lang="en-US" sz="2820" dirty="0">
              <a:solidFill>
                <a:prstClr val="black"/>
              </a:solidFill>
              <a:latin typeface="Calibri" panose="020F0502020204030204"/>
            </a:endParaRPr>
          </a:p>
        </p:txBody>
      </p:sp>
      <p:sp>
        <p:nvSpPr>
          <p:cNvPr id="5" name="Text 2"/>
          <p:cNvSpPr/>
          <p:nvPr/>
        </p:nvSpPr>
        <p:spPr>
          <a:xfrm>
            <a:off x="1188720" y="3865169"/>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Искусственная жизнь -  сильно отличается от традиционного моделирования, поскольку изучает не ...</a:t>
            </a:r>
            <a:endParaRPr lang="en-US" sz="2820" dirty="0">
              <a:solidFill>
                <a:prstClr val="black"/>
              </a:solidFill>
              <a:latin typeface="Calibri" panose="020F0502020204030204"/>
            </a:endParaRPr>
          </a:p>
        </p:txBody>
      </p:sp>
      <p:sp>
        <p:nvSpPr>
          <p:cNvPr id="6" name="Text 3"/>
          <p:cNvSpPr/>
          <p:nvPr/>
        </p:nvSpPr>
        <p:spPr>
          <a:xfrm>
            <a:off x="1188720" y="5343068"/>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Система классификаторов обучения - представляют собой парадигму методов машинного обучения, основ...</a:t>
            </a:r>
            <a:endParaRPr lang="en-US" sz="2820" dirty="0">
              <a:solidFill>
                <a:prstClr val="black"/>
              </a:solidFill>
              <a:latin typeface="Calibri" panose="020F0502020204030204"/>
            </a:endParaRPr>
          </a:p>
        </p:txBody>
      </p:sp>
      <p:sp>
        <p:nvSpPr>
          <p:cNvPr id="7" name="Text 4"/>
          <p:cNvSpPr/>
          <p:nvPr/>
        </p:nvSpPr>
        <p:spPr>
          <a:xfrm>
            <a:off x="1188720" y="6821652"/>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Дифференциальная эволюция - основана на различиях векторов и поэтому в первую очередь подходит для за...</a:t>
            </a:r>
            <a:endParaRPr lang="en-US" sz="2820" dirty="0">
              <a:solidFill>
                <a:prstClr val="black"/>
              </a:solidFill>
              <a:latin typeface="Calibri" panose="020F0502020204030204"/>
            </a:endParaRPr>
          </a:p>
        </p:txBody>
      </p:sp>
      <p:sp>
        <p:nvSpPr>
          <p:cNvPr id="8" name="Text 5"/>
          <p:cNvSpPr/>
          <p:nvPr/>
        </p:nvSpPr>
        <p:spPr>
          <a:xfrm>
            <a:off x="1188720" y="8299552"/>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Культурные алгоритмы - вид эволюционных алгоритмов, в которых помимо популяционного компонента сущест...</a:t>
            </a:r>
            <a:endParaRPr lang="en-US" sz="2820" dirty="0">
              <a:solidFill>
                <a:prstClr val="black"/>
              </a:solidFill>
              <a:latin typeface="Calibri" panose="020F0502020204030204"/>
            </a:endParaRPr>
          </a:p>
        </p:txBody>
      </p:sp>
      <p:sp>
        <p:nvSpPr>
          <p:cNvPr id="9" name="Text 6"/>
          <p:cNvSpPr/>
          <p:nvPr/>
        </p:nvSpPr>
        <p:spPr>
          <a:xfrm>
            <a:off x="1188720" y="9778136"/>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Нейроэволюция - подобно генетическому программированию, но геномы представляют собой и...</a:t>
            </a:r>
            <a:endParaRPr lang="en-US" sz="2820" dirty="0">
              <a:solidFill>
                <a:prstClr val="black"/>
              </a:solidFill>
              <a:latin typeface="Calibri" panose="020F0502020204030204"/>
            </a:endParaRPr>
          </a:p>
        </p:txBody>
      </p:sp>
      <p:sp>
        <p:nvSpPr>
          <p:cNvPr id="10" name="Text 7"/>
          <p:cNvSpPr/>
          <p:nvPr/>
        </p:nvSpPr>
        <p:spPr>
          <a:xfrm>
            <a:off x="1188720" y="11256036"/>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Меметический алгоритмы - синергия эволюционного или любого популяционного подхода с отдельными пр...</a:t>
            </a:r>
            <a:endParaRPr lang="en-US" sz="2820" dirty="0">
              <a:solidFill>
                <a:prstClr val="black"/>
              </a:solidFill>
              <a:latin typeface="Calibri" panose="020F0502020204030204"/>
            </a:endParaRPr>
          </a:p>
        </p:txBody>
      </p:sp>
      <p:sp>
        <p:nvSpPr>
          <p:cNvPr id="11" name="Text 8"/>
          <p:cNvSpPr/>
          <p:nvPr/>
        </p:nvSpPr>
        <p:spPr>
          <a:xfrm>
            <a:off x="1188720" y="12734620"/>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Самоорганизующиеся модели - системы, где некоторая форма общего порядка возникает из локальных взаим...</a:t>
            </a:r>
            <a:endParaRPr lang="en-US" sz="2820" dirty="0">
              <a:solidFill>
                <a:prstClr val="black"/>
              </a:solidFill>
              <a:latin typeface="Calibri" panose="020F0502020204030204"/>
            </a:endParaRPr>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2386584"/>
            <a:ext cx="114605" cy="533552"/>
          </a:xfrm>
          <a:prstGeom prst="rect">
            <a:avLst/>
          </a:prstGeom>
        </p:spPr>
      </p:pic>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3865169"/>
            <a:ext cx="114605" cy="533552"/>
          </a:xfrm>
          <a:prstGeom prst="rect">
            <a:avLst/>
          </a:prstGeom>
        </p:spPr>
      </p:pic>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6" y="5343068"/>
            <a:ext cx="114605" cy="533552"/>
          </a:xfrm>
          <a:prstGeom prst="rect">
            <a:avLst/>
          </a:prstGeom>
        </p:spPr>
      </p:pic>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7566" y="6821652"/>
            <a:ext cx="114605" cy="533552"/>
          </a:xfrm>
          <a:prstGeom prst="rect">
            <a:avLst/>
          </a:prstGeom>
        </p:spPr>
      </p:pic>
      <p:pic>
        <p:nvPicPr>
          <p:cNvPr id="16"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37566" y="8299552"/>
            <a:ext cx="114605" cy="533552"/>
          </a:xfrm>
          <a:prstGeom prst="rect">
            <a:avLst/>
          </a:prstGeom>
        </p:spPr>
      </p:pic>
      <p:pic>
        <p:nvPicPr>
          <p:cNvPr id="17"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7566" y="9778136"/>
            <a:ext cx="114605" cy="533552"/>
          </a:xfrm>
          <a:prstGeom prst="rect">
            <a:avLst/>
          </a:prstGeom>
        </p:spPr>
      </p:pic>
      <p:pic>
        <p:nvPicPr>
          <p:cNvPr id="18"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37566" y="11256036"/>
            <a:ext cx="114605" cy="533552"/>
          </a:xfrm>
          <a:prstGeom prst="rect">
            <a:avLst/>
          </a:prstGeom>
        </p:spPr>
      </p:pic>
      <p:pic>
        <p:nvPicPr>
          <p:cNvPr id="19"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37566" y="12734620"/>
            <a:ext cx="114605" cy="533552"/>
          </a:xfrm>
          <a:prstGeom prst="rect">
            <a:avLst/>
          </a:prstGeom>
        </p:spPr>
      </p:pic>
      <p:sp>
        <p:nvSpPr>
          <p:cNvPr id="20" name="Text 9"/>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21"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42595" y="518466"/>
            <a:ext cx="342595" cy="301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84669" y="857251"/>
            <a:ext cx="3779520" cy="1309878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Агентные модели -  для моделирования действий и взаимодействий автономных агентов с целью понимания поведения системы и того, что управляет ее результатами.</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81457" y="1904467"/>
            <a:ext cx="5690007" cy="3049067"/>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947090"/>
            <a:ext cx="999744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Агентные модели -  для моделировани...</a:t>
            </a:r>
            <a:endParaRPr lang="en-US" sz="7106" dirty="0">
              <a:solidFill>
                <a:prstClr val="black"/>
              </a:solidFill>
              <a:latin typeface="Calibri" panose="020F0502020204030204"/>
            </a:endParaRPr>
          </a:p>
        </p:txBody>
      </p:sp>
      <p:sp>
        <p:nvSpPr>
          <p:cNvPr id="3" name="Text 1"/>
          <p:cNvSpPr/>
          <p:nvPr/>
        </p:nvSpPr>
        <p:spPr>
          <a:xfrm>
            <a:off x="937565" y="4022903"/>
            <a:ext cx="10241280" cy="1920240"/>
          </a:xfrm>
          <a:prstGeom prst="rect">
            <a:avLst/>
          </a:prstGeom>
          <a:noFill/>
          <a:ln/>
        </p:spPr>
        <p:txBody>
          <a:bodyPr wrap="square" lIns="0" tIns="0" rIns="0" bIns="0" rtlCol="0" anchor="t">
            <a:normAutofit/>
          </a:bodyPr>
          <a:lstStyle/>
          <a:p>
            <a:pPr defTabSz="1219170">
              <a:lnSpc>
                <a:spcPts val="4659"/>
              </a:lnSpc>
            </a:pPr>
            <a:r>
              <a:rPr lang="en-US" sz="3328" dirty="0">
                <a:solidFill>
                  <a:srgbClr val="FFFFFF"/>
                </a:solidFill>
                <a:latin typeface="Arial" pitchFamily="34" charset="0"/>
                <a:ea typeface="Arial" pitchFamily="34" charset="-122"/>
                <a:cs typeface="Arial" pitchFamily="34" charset="-120"/>
              </a:rPr>
              <a:t>Роевой интеллект - это коллективное поведение децентрализованных самоорганизующихся систем, как естественных, так и искусственных.</a:t>
            </a:r>
            <a:endParaRPr lang="en-US" sz="3328"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3443402"/>
            <a:ext cx="10173005"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49312" y="857251"/>
            <a:ext cx="3901440" cy="1076706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Роевой интеллект - это коллективное поведение децентрализованных самоорганизующихся систем, как естественных, так и искусственных.</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47319" y="1532763"/>
            <a:ext cx="5690007" cy="3793160"/>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64387" y="857251"/>
            <a:ext cx="8945271" cy="4286251"/>
          </a:xfrm>
          <a:prstGeom prst="rect">
            <a:avLst/>
          </a:prstGeom>
        </p:spPr>
      </p:pic>
      <p:sp>
        <p:nvSpPr>
          <p:cNvPr id="3" name="Text 0"/>
          <p:cNvSpPr/>
          <p:nvPr/>
        </p:nvSpPr>
        <p:spPr>
          <a:xfrm>
            <a:off x="964387" y="5417820"/>
            <a:ext cx="10363200" cy="2331720"/>
          </a:xfrm>
          <a:prstGeom prst="rect">
            <a:avLst/>
          </a:prstGeom>
          <a:noFill/>
          <a:ln/>
        </p:spPr>
        <p:txBody>
          <a:bodyPr wrap="square" lIns="0" tIns="0" rIns="0" bIns="0" rtlCol="0" anchor="t">
            <a:normAutofit/>
          </a:bodyPr>
          <a:lstStyle/>
          <a:p>
            <a:pPr defTabSz="1219170">
              <a:lnSpc>
                <a:spcPts val="4264"/>
              </a:lnSpc>
            </a:pPr>
            <a:r>
              <a:rPr lang="en-US" sz="3045" b="1" dirty="0">
                <a:solidFill>
                  <a:srgbClr val="FFFFFF"/>
                </a:solidFill>
                <a:latin typeface="Arial" pitchFamily="34" charset="0"/>
                <a:ea typeface="Arial" pitchFamily="34" charset="-122"/>
                <a:cs typeface="Arial" pitchFamily="34" charset="-120"/>
              </a:rPr>
              <a:t>Искусственная жизнь -  сильно отличается от традиционного моделирования, поскольку изучает не только «жизнь, какой мы ее знаем», но и «жизнь, какой она могла бы быть».</a:t>
            </a:r>
            <a:endParaRPr lang="en-US" sz="3045"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49312" y="857251"/>
            <a:ext cx="3901440" cy="3079242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Система классификаторов обучения - представляют собой парадигму методов машинного обучения, основанных на правилах, которые сочетают в себе компонент обнаружения с компонентом обучения, стремятся идентифицировать набор контекстно-зависимых правил, которые коллективно хранят и применяют знания по частям, чтобы делать прогнозы, решением является набор классификаторов (правил или условий)</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47319" y="1104139"/>
            <a:ext cx="5690007" cy="4649724"/>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68819" y="857251"/>
            <a:ext cx="3779520" cy="1769364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Дифференциальная эволюция - основана на различиях векторов и поэтому в первую очередь подходит для задач численной оптимизации, оптимизирует проблему, пытаясь улучшить решение-кандидат в отношении заданной меры качества</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66826" y="1244041"/>
            <a:ext cx="5690007" cy="4369232"/>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13130" y="857251"/>
            <a:ext cx="8738007" cy="4286251"/>
          </a:xfrm>
          <a:prstGeom prst="rect">
            <a:avLst/>
          </a:prstGeom>
        </p:spPr>
      </p:pic>
      <p:sp>
        <p:nvSpPr>
          <p:cNvPr id="3" name="Text 0"/>
          <p:cNvSpPr/>
          <p:nvPr/>
        </p:nvSpPr>
        <p:spPr>
          <a:xfrm>
            <a:off x="1113129" y="5417820"/>
            <a:ext cx="9997440" cy="2331720"/>
          </a:xfrm>
          <a:prstGeom prst="rect">
            <a:avLst/>
          </a:prstGeom>
          <a:noFill/>
          <a:ln/>
        </p:spPr>
        <p:txBody>
          <a:bodyPr wrap="square" lIns="0" tIns="0" rIns="0" bIns="0" rtlCol="0" anchor="t">
            <a:normAutofit/>
          </a:bodyPr>
          <a:lstStyle/>
          <a:p>
            <a:pPr defTabSz="1219170">
              <a:lnSpc>
                <a:spcPts val="4264"/>
              </a:lnSpc>
            </a:pPr>
            <a:r>
              <a:rPr lang="en-US" sz="3045" b="1" dirty="0">
                <a:solidFill>
                  <a:srgbClr val="FFFFFF"/>
                </a:solidFill>
                <a:latin typeface="Arial" pitchFamily="34" charset="0"/>
                <a:ea typeface="Arial" pitchFamily="34" charset="-122"/>
                <a:cs typeface="Arial" pitchFamily="34" charset="-120"/>
              </a:rPr>
              <a:t>Культурные алгоритмы - вид эволюционных алгоритмов, в которых помимо популяционного компонента существует компонент знаний, называемый пространством убеждений.</a:t>
            </a:r>
            <a:endParaRPr lang="en-US" sz="3045"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87552" y="857251"/>
            <a:ext cx="10216896" cy="4286251"/>
          </a:xfrm>
          <a:prstGeom prst="rect">
            <a:avLst/>
          </a:prstGeom>
        </p:spPr>
      </p:pic>
      <p:sp>
        <p:nvSpPr>
          <p:cNvPr id="3" name="Text 0"/>
          <p:cNvSpPr/>
          <p:nvPr/>
        </p:nvSpPr>
        <p:spPr>
          <a:xfrm>
            <a:off x="987552" y="5417820"/>
            <a:ext cx="10241280" cy="2880360"/>
          </a:xfrm>
          <a:prstGeom prst="rect">
            <a:avLst/>
          </a:prstGeom>
          <a:noFill/>
          <a:ln/>
        </p:spPr>
        <p:txBody>
          <a:bodyPr wrap="square" lIns="0" tIns="0" rIns="0" bIns="0" rtlCol="0" anchor="t">
            <a:normAutofit/>
          </a:bodyPr>
          <a:lstStyle/>
          <a:p>
            <a:pPr defTabSz="1219170">
              <a:lnSpc>
                <a:spcPts val="4264"/>
              </a:lnSpc>
            </a:pPr>
            <a:r>
              <a:rPr lang="en-US" sz="3045" b="1" dirty="0">
                <a:solidFill>
                  <a:srgbClr val="FFFFFF"/>
                </a:solidFill>
                <a:latin typeface="Arial" pitchFamily="34" charset="0"/>
                <a:ea typeface="Arial" pitchFamily="34" charset="-122"/>
                <a:cs typeface="Arial" pitchFamily="34" charset="-120"/>
              </a:rPr>
              <a:t>Нейроэволюция - подобно генетическому программированию, но геномы представляют собой искусственные нейронные сети, описывая структуру и веса связей, кодирование генома может быть прямым или косвенным</a:t>
            </a:r>
            <a:endParaRPr lang="en-US" sz="3045"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54189" y="857251"/>
            <a:ext cx="3901440" cy="1769364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Меметический алгоритмы - синергия эволюционного или любого популяционного подхода с отдельными процедурами индивидуального обучения или локального улучшения для поиска проблем (направленны на ускорение эволюционного поиска оптимума).</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50977" y="1079450"/>
            <a:ext cx="5690007" cy="4699101"/>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552944" y="857251"/>
            <a:ext cx="3657600" cy="1309878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Самоорганизующиеся модели - системы, где некоторая форма общего порядка возникает из локальных взаимодействий между частями изначально неупорядоченной системы </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049731" y="1379830"/>
            <a:ext cx="5690007" cy="4098341"/>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28041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Основа</a:t>
            </a:r>
            <a:endParaRPr lang="en-US" sz="5584" dirty="0">
              <a:solidFill>
                <a:prstClr val="black"/>
              </a:solidFill>
              <a:latin typeface="Calibri" panose="020F0502020204030204"/>
            </a:endParaRPr>
          </a:p>
        </p:txBody>
      </p:sp>
      <p:sp>
        <p:nvSpPr>
          <p:cNvPr id="3" name="Text 1"/>
          <p:cNvSpPr/>
          <p:nvPr/>
        </p:nvSpPr>
        <p:spPr>
          <a:xfrm>
            <a:off x="1188720" y="2386584"/>
            <a:ext cx="17068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Генетика:</a:t>
            </a:r>
            <a:endParaRPr lang="en-US" sz="2820" dirty="0">
              <a:solidFill>
                <a:prstClr val="black"/>
              </a:solidFill>
              <a:latin typeface="Calibri" panose="020F0502020204030204"/>
            </a:endParaRPr>
          </a:p>
        </p:txBody>
      </p:sp>
      <p:sp>
        <p:nvSpPr>
          <p:cNvPr id="4" name="Text 2"/>
          <p:cNvSpPr/>
          <p:nvPr/>
        </p:nvSpPr>
        <p:spPr>
          <a:xfrm>
            <a:off x="1188720" y="3331616"/>
            <a:ext cx="37795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Естественный отбор:</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sp>
        <p:nvSpPr>
          <p:cNvPr id="7" name="Text 3"/>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728509" y="2983231"/>
            <a:ext cx="3291840" cy="891540"/>
          </a:xfrm>
          <a:prstGeom prst="rect">
            <a:avLst/>
          </a:prstGeom>
          <a:noFill/>
          <a:ln/>
        </p:spPr>
        <p:txBody>
          <a:bodyPr wrap="square" lIns="0" tIns="0" rIns="0" bIns="0" rtlCol="0" anchor="t">
            <a:normAutofit/>
          </a:bodyPr>
          <a:lstStyle/>
          <a:p>
            <a:pPr defTabSz="1219170">
              <a:lnSpc>
                <a:spcPts val="6599"/>
              </a:lnSpc>
            </a:pPr>
            <a:r>
              <a:rPr lang="en-US" sz="5076" b="1" dirty="0">
                <a:solidFill>
                  <a:srgbClr val="FFFFFF"/>
                </a:solidFill>
                <a:latin typeface="Arial" pitchFamily="34" charset="0"/>
                <a:ea typeface="Arial" pitchFamily="34" charset="-122"/>
                <a:cs typeface="Arial" pitchFamily="34" charset="-120"/>
              </a:rPr>
              <a:t>Генетика:</a:t>
            </a:r>
            <a:endParaRPr lang="en-US" sz="5076"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225297" y="1545109"/>
            <a:ext cx="5690007" cy="3767100"/>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365760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Генетика:</a:t>
            </a:r>
            <a:endParaRPr lang="en-US" sz="5584" dirty="0">
              <a:solidFill>
                <a:prstClr val="black"/>
              </a:solidFill>
              <a:latin typeface="Calibri" panose="020F0502020204030204"/>
            </a:endParaRPr>
          </a:p>
        </p:txBody>
      </p:sp>
      <p:sp>
        <p:nvSpPr>
          <p:cNvPr id="3" name="Text 1"/>
          <p:cNvSpPr/>
          <p:nvPr/>
        </p:nvSpPr>
        <p:spPr>
          <a:xfrm>
            <a:off x="1188720" y="2386584"/>
            <a:ext cx="963168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Скрещивание - обмен генетическим материалом двух организмов при воспроизведении нового</a:t>
            </a:r>
            <a:endParaRPr lang="en-US" sz="2820" dirty="0">
              <a:solidFill>
                <a:prstClr val="black"/>
              </a:solidFill>
              <a:latin typeface="Calibri" panose="020F0502020204030204"/>
            </a:endParaRPr>
          </a:p>
        </p:txBody>
      </p:sp>
      <p:sp>
        <p:nvSpPr>
          <p:cNvPr id="4" name="Text 2"/>
          <p:cNvSpPr/>
          <p:nvPr/>
        </p:nvSpPr>
        <p:spPr>
          <a:xfrm>
            <a:off x="1188720" y="3865169"/>
            <a:ext cx="902208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Мутация - стойкие ошибки, возникающие в ДНК организмов из-за внешних и внутренних факторов</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sp>
        <p:nvSpPr>
          <p:cNvPr id="7" name="Text 3"/>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84669" y="857251"/>
            <a:ext cx="3779520" cy="692658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Скрещивание - обмен генетическим материалом двух организмов при воспроизведении нового</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81457" y="1829029"/>
            <a:ext cx="5690007" cy="3200628"/>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68819" y="857251"/>
            <a:ext cx="3779520" cy="774954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Мутация - стойкие ошибки, возникающие в ДНК организмов из-за внешних и внутренних факторов</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66826" y="1827658"/>
            <a:ext cx="5690007" cy="3203372"/>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556601" y="2660905"/>
            <a:ext cx="3657600" cy="157734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Естественный отбор:</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054609" y="1420977"/>
            <a:ext cx="5690007" cy="4016731"/>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804672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Естественный отбор:</a:t>
            </a:r>
            <a:endParaRPr lang="en-US" sz="5584" dirty="0">
              <a:solidFill>
                <a:prstClr val="black"/>
              </a:solidFill>
              <a:latin typeface="Calibri" panose="020F0502020204030204"/>
            </a:endParaRPr>
          </a:p>
        </p:txBody>
      </p:sp>
      <p:sp>
        <p:nvSpPr>
          <p:cNvPr id="3" name="Text 1"/>
          <p:cNvSpPr/>
          <p:nvPr/>
        </p:nvSpPr>
        <p:spPr>
          <a:xfrm>
            <a:off x="1175309" y="2386585"/>
            <a:ext cx="8656320" cy="1028700"/>
          </a:xfrm>
          <a:prstGeom prst="rect">
            <a:avLst/>
          </a:prstGeom>
          <a:noFill/>
          <a:ln/>
        </p:spPr>
        <p:txBody>
          <a:bodyPr wrap="square" lIns="0" tIns="0" rIns="0" bIns="0" rtlCol="0" anchor="t">
            <a:normAutofit/>
          </a:bodyPr>
          <a:lstStyle/>
          <a:p>
            <a:pPr defTabSz="1219170">
              <a:lnSpc>
                <a:spcPts val="3723"/>
              </a:lnSpc>
            </a:pPr>
            <a:r>
              <a:rPr lang="en-US" sz="2481" dirty="0">
                <a:solidFill>
                  <a:srgbClr val="FFFFFF"/>
                </a:solidFill>
                <a:latin typeface="Arial" pitchFamily="34" charset="0"/>
                <a:ea typeface="Arial" pitchFamily="34" charset="-122"/>
                <a:cs typeface="Arial" pitchFamily="34" charset="-120"/>
              </a:rPr>
              <a:t>Фитнес - критерий приспосабливаемости организмов к условиям среды</a:t>
            </a:r>
            <a:endParaRPr lang="en-US" sz="2481" dirty="0">
              <a:solidFill>
                <a:prstClr val="black"/>
              </a:solidFill>
              <a:latin typeface="Calibri" panose="020F0502020204030204"/>
            </a:endParaRPr>
          </a:p>
        </p:txBody>
      </p:sp>
      <p:sp>
        <p:nvSpPr>
          <p:cNvPr id="4" name="Text 2"/>
          <p:cNvSpPr/>
          <p:nvPr/>
        </p:nvSpPr>
        <p:spPr>
          <a:xfrm>
            <a:off x="1175309" y="3804133"/>
            <a:ext cx="10119360" cy="1028700"/>
          </a:xfrm>
          <a:prstGeom prst="rect">
            <a:avLst/>
          </a:prstGeom>
          <a:noFill/>
          <a:ln/>
        </p:spPr>
        <p:txBody>
          <a:bodyPr wrap="square" lIns="0" tIns="0" rIns="0" bIns="0" rtlCol="0" anchor="t">
            <a:normAutofit/>
          </a:bodyPr>
          <a:lstStyle/>
          <a:p>
            <a:pPr defTabSz="1219170">
              <a:lnSpc>
                <a:spcPts val="3723"/>
              </a:lnSpc>
            </a:pPr>
            <a:r>
              <a:rPr lang="en-US" sz="2481" dirty="0">
                <a:solidFill>
                  <a:srgbClr val="FFFFFF"/>
                </a:solidFill>
                <a:latin typeface="Arial" pitchFamily="34" charset="0"/>
                <a:ea typeface="Arial" pitchFamily="34" charset="-122"/>
                <a:cs typeface="Arial" pitchFamily="34" charset="-120"/>
              </a:rPr>
              <a:t>Отбор - естественный процесс выживания и смерти организмов в условиях среды в зависимости от их приспосабливаемости</a:t>
            </a:r>
            <a:endParaRPr lang="en-US" sz="2481"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5"/>
            <a:ext cx="101193" cy="50269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04133"/>
            <a:ext cx="101193" cy="502692"/>
          </a:xfrm>
          <a:prstGeom prst="rect">
            <a:avLst/>
          </a:prstGeom>
        </p:spPr>
      </p:pic>
      <p:sp>
        <p:nvSpPr>
          <p:cNvPr id="7" name="Text 3"/>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097966"/>
            <a:ext cx="10316871" cy="3321329"/>
          </a:xfrm>
          <a:prstGeom prst="rect">
            <a:avLst/>
          </a:prstGeom>
        </p:spPr>
      </p:pic>
      <p:sp>
        <p:nvSpPr>
          <p:cNvPr id="3" name="Text 0"/>
          <p:cNvSpPr/>
          <p:nvPr/>
        </p:nvSpPr>
        <p:spPr>
          <a:xfrm>
            <a:off x="937565" y="4693615"/>
            <a:ext cx="10241280" cy="1097280"/>
          </a:xfrm>
          <a:prstGeom prst="rect">
            <a:avLst/>
          </a:prstGeom>
          <a:noFill/>
          <a:ln/>
        </p:spPr>
        <p:txBody>
          <a:bodyPr wrap="square" lIns="0" tIns="0" rIns="0" bIns="0" rtlCol="0" anchor="t">
            <a:normAutofit/>
          </a:bodyPr>
          <a:lstStyle/>
          <a:p>
            <a:pPr defTabSz="1219170">
              <a:lnSpc>
                <a:spcPts val="3948"/>
              </a:lnSpc>
            </a:pPr>
            <a:r>
              <a:rPr lang="en-US" sz="2820" b="1" dirty="0">
                <a:solidFill>
                  <a:srgbClr val="FFFFFF"/>
                </a:solidFill>
                <a:latin typeface="Arial" pitchFamily="34" charset="0"/>
                <a:ea typeface="Arial" pitchFamily="34" charset="-122"/>
                <a:cs typeface="Arial" pitchFamily="34" charset="-120"/>
              </a:rPr>
              <a:t>Фитнес - критерий приспосабливаемости организмов к условиям среды</a:t>
            </a:r>
            <a:endParaRPr lang="en-US" sz="2820"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99299" y="857251"/>
            <a:ext cx="3779520" cy="925830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Отбор - естественный процесс выживания и смерти организмов в условиях среды в зависимости от их приспосабливаемости</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97306" y="1464183"/>
            <a:ext cx="5690007" cy="3928948"/>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47548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Компоненты</a:t>
            </a:r>
            <a:endParaRPr lang="en-US" sz="5584" dirty="0">
              <a:solidFill>
                <a:prstClr val="black"/>
              </a:solidFill>
              <a:latin typeface="Calibri" panose="020F0502020204030204"/>
            </a:endParaRPr>
          </a:p>
        </p:txBody>
      </p:sp>
      <p:sp>
        <p:nvSpPr>
          <p:cNvPr id="3" name="Text 1"/>
          <p:cNvSpPr/>
          <p:nvPr/>
        </p:nvSpPr>
        <p:spPr>
          <a:xfrm>
            <a:off x="1188720" y="2386584"/>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Шаблон - позволяет выделять общие участки двоичных строк и маскировать различия....</a:t>
            </a:r>
            <a:endParaRPr lang="en-US" sz="2820" dirty="0">
              <a:solidFill>
                <a:prstClr val="black"/>
              </a:solidFill>
              <a:latin typeface="Calibri" panose="020F0502020204030204"/>
            </a:endParaRPr>
          </a:p>
        </p:txBody>
      </p:sp>
      <p:sp>
        <p:nvSpPr>
          <p:cNvPr id="4" name="Text 2"/>
          <p:cNvSpPr/>
          <p:nvPr/>
        </p:nvSpPr>
        <p:spPr>
          <a:xfrm>
            <a:off x="1188720" y="3865169"/>
            <a:ext cx="780288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Начальная популяция - создаётся с учётом особенностей и свойств задачи</a:t>
            </a:r>
            <a:endParaRPr lang="en-US" sz="2820" dirty="0">
              <a:solidFill>
                <a:prstClr val="black"/>
              </a:solidFill>
              <a:latin typeface="Calibri" panose="020F0502020204030204"/>
            </a:endParaRPr>
          </a:p>
        </p:txBody>
      </p:sp>
      <p:sp>
        <p:nvSpPr>
          <p:cNvPr id="5" name="Text 3"/>
          <p:cNvSpPr/>
          <p:nvPr/>
        </p:nvSpPr>
        <p:spPr>
          <a:xfrm>
            <a:off x="1188720" y="5343068"/>
            <a:ext cx="987552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Операторы скрещивания (оператор кроссинговера, позволяет из базовых хромосом получить новые путё...</a:t>
            </a:r>
            <a:endParaRPr lang="en-US" sz="2820" dirty="0">
              <a:solidFill>
                <a:prstClr val="black"/>
              </a:solidFill>
              <a:latin typeface="Calibri" panose="020F0502020204030204"/>
            </a:endParaRPr>
          </a:p>
        </p:txBody>
      </p:sp>
      <p:sp>
        <p:nvSpPr>
          <p:cNvPr id="6" name="Text 4"/>
          <p:cNvSpPr/>
          <p:nvPr/>
        </p:nvSpPr>
        <p:spPr>
          <a:xfrm>
            <a:off x="1188720" y="6821652"/>
            <a:ext cx="36576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Операторы мутации</a:t>
            </a:r>
            <a:endParaRPr lang="en-US" sz="2820" dirty="0">
              <a:solidFill>
                <a:prstClr val="black"/>
              </a:solidFill>
              <a:latin typeface="Calibri" panose="020F0502020204030204"/>
            </a:endParaRPr>
          </a:p>
        </p:txBody>
      </p:sp>
      <p:sp>
        <p:nvSpPr>
          <p:cNvPr id="7" name="Text 5"/>
          <p:cNvSpPr/>
          <p:nvPr/>
        </p:nvSpPr>
        <p:spPr>
          <a:xfrm>
            <a:off x="1188720" y="7765999"/>
            <a:ext cx="30480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Финтес-функции</a:t>
            </a:r>
            <a:endParaRPr lang="en-US" sz="2820" dirty="0">
              <a:solidFill>
                <a:prstClr val="black"/>
              </a:solidFill>
              <a:latin typeface="Calibri" panose="020F0502020204030204"/>
            </a:endParaRPr>
          </a:p>
        </p:txBody>
      </p:sp>
      <p:sp>
        <p:nvSpPr>
          <p:cNvPr id="8" name="Text 6"/>
          <p:cNvSpPr/>
          <p:nvPr/>
        </p:nvSpPr>
        <p:spPr>
          <a:xfrm>
            <a:off x="1188720" y="8711032"/>
            <a:ext cx="95097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Методы отбора лучших представителей популяции в соответствии с критериями</a:t>
            </a:r>
            <a:endParaRPr lang="en-US" sz="2820" dirty="0">
              <a:solidFill>
                <a:prstClr val="black"/>
              </a:solidFill>
              <a:latin typeface="Calibri" panose="020F0502020204030204"/>
            </a:endParaRPr>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5343068"/>
            <a:ext cx="114605" cy="533552"/>
          </a:xfrm>
          <a:prstGeom prst="rect">
            <a:avLst/>
          </a:prstGeom>
        </p:spPr>
      </p:pic>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6" y="6821652"/>
            <a:ext cx="114605" cy="533552"/>
          </a:xfrm>
          <a:prstGeom prst="rect">
            <a:avLst/>
          </a:prstGeom>
        </p:spPr>
      </p:pic>
      <p:pic>
        <p:nvPicPr>
          <p:cNvPr id="1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7566" y="7765999"/>
            <a:ext cx="114605" cy="533552"/>
          </a:xfrm>
          <a:prstGeom prst="rect">
            <a:avLst/>
          </a:prstGeom>
        </p:spPr>
      </p:pic>
      <p:pic>
        <p:nvPicPr>
          <p:cNvPr id="1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37566" y="8711032"/>
            <a:ext cx="114605" cy="533552"/>
          </a:xfrm>
          <a:prstGeom prst="rect">
            <a:avLst/>
          </a:prstGeom>
        </p:spPr>
      </p:pic>
      <p:sp>
        <p:nvSpPr>
          <p:cNvPr id="15" name="Text 7"/>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42595" y="518466"/>
            <a:ext cx="342595" cy="3017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218883" y="857251"/>
            <a:ext cx="3779520" cy="1309878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Шаблон - позволяет выделять общие участки двоичных строк и маскировать различия.</a:t>
            </a:r>
            <a:endParaRPr lang="en-US" sz="4061" dirty="0">
              <a:solidFill>
                <a:prstClr val="black"/>
              </a:solidFill>
              <a:latin typeface="Calibri" panose="020F0502020204030204"/>
            </a:endParaRPr>
          </a:p>
          <a:p>
            <a:pPr defTabSz="1219170">
              <a:lnSpc>
                <a:spcPts val="5685"/>
              </a:lnSpc>
            </a:pPr>
            <a:r>
              <a:rPr lang="en-US" sz="4061" b="1" dirty="0">
                <a:solidFill>
                  <a:srgbClr val="FFFFFF"/>
                </a:solidFill>
                <a:latin typeface="Arial" pitchFamily="34" charset="0"/>
                <a:ea typeface="Arial" pitchFamily="34" charset="-122"/>
                <a:cs typeface="Arial" pitchFamily="34" charset="-120"/>
              </a:rPr>
              <a:t>P.S.: символом "*" в некотором разряде обозначается то, что там может быть как 1, так и 0.</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261872" y="857251"/>
            <a:ext cx="5143805" cy="5143500"/>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914858"/>
            <a:ext cx="975360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Шаблон - позволяет выделять общие у...</a:t>
            </a:r>
            <a:endParaRPr lang="en-US" sz="7106" dirty="0">
              <a:solidFill>
                <a:prstClr val="black"/>
              </a:solidFill>
              <a:latin typeface="Calibri" panose="020F0502020204030204"/>
            </a:endParaRPr>
          </a:p>
        </p:txBody>
      </p:sp>
      <p:sp>
        <p:nvSpPr>
          <p:cNvPr id="3" name="Text 1"/>
          <p:cNvSpPr/>
          <p:nvPr/>
        </p:nvSpPr>
        <p:spPr>
          <a:xfrm>
            <a:off x="1471575" y="3990671"/>
            <a:ext cx="10363200" cy="1988820"/>
          </a:xfrm>
          <a:prstGeom prst="rect">
            <a:avLst/>
          </a:prstGeom>
          <a:noFill/>
          <a:ln/>
        </p:spPr>
        <p:txBody>
          <a:bodyPr wrap="square" lIns="0" tIns="0" rIns="0" bIns="0" rtlCol="0" anchor="t">
            <a:normAutofit/>
          </a:bodyPr>
          <a:lstStyle/>
          <a:p>
            <a:pPr defTabSz="1219170">
              <a:lnSpc>
                <a:spcPts val="4816"/>
              </a:lnSpc>
            </a:pPr>
            <a:r>
              <a:rPr lang="en-US" sz="3440" dirty="0">
                <a:solidFill>
                  <a:srgbClr val="FFFFFF"/>
                </a:solidFill>
                <a:latin typeface="Arial" pitchFamily="34" charset="0"/>
                <a:ea typeface="Arial" pitchFamily="34" charset="-122"/>
                <a:cs typeface="Arial" pitchFamily="34" charset="-120"/>
              </a:rPr>
              <a:t>Например, для двух бинарных строк "111000111000" и "110011001100" шаблон будет выглядеть следующим образом: "110**100".</a:t>
            </a:r>
            <a:endParaRPr lang="en-US" sz="3440" dirty="0">
              <a:solidFill>
                <a:prstClr val="black"/>
              </a:solidFill>
              <a:latin typeface="Calibri" panose="020F0502020204030204"/>
            </a:endParaRPr>
          </a:p>
        </p:txBody>
      </p:sp>
      <p:pic>
        <p:nvPicPr>
          <p:cNvPr id="4" name="Image 0" descr="file:///C:/Users/Hvv13/AppData/Local/Programs/Xmind/resources/app.asar/static/snowbird/resource/markers/symbolMarkers/symbol-lightning.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4083254"/>
            <a:ext cx="464515" cy="464972"/>
          </a:xfrm>
          <a:prstGeom prst="rect">
            <a:avLst/>
          </a:prstGeom>
        </p:spPr>
      </p:pic>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3411170"/>
            <a:ext cx="10271760" cy="578815"/>
          </a:xfrm>
          <a:prstGeom prst="rect">
            <a:avLst/>
          </a:prstGeom>
        </p:spPr>
      </p:pic>
      <p:sp>
        <p:nvSpPr>
          <p:cNvPr id="6"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420368" y="857251"/>
            <a:ext cx="9350045" cy="4286251"/>
          </a:xfrm>
          <a:prstGeom prst="rect">
            <a:avLst/>
          </a:prstGeom>
        </p:spPr>
      </p:pic>
      <p:sp>
        <p:nvSpPr>
          <p:cNvPr id="3" name="Text 0"/>
          <p:cNvSpPr/>
          <p:nvPr/>
        </p:nvSpPr>
        <p:spPr>
          <a:xfrm>
            <a:off x="1420368" y="5417820"/>
            <a:ext cx="8290560" cy="1097280"/>
          </a:xfrm>
          <a:prstGeom prst="rect">
            <a:avLst/>
          </a:prstGeom>
          <a:noFill/>
          <a:ln/>
        </p:spPr>
        <p:txBody>
          <a:bodyPr wrap="square" lIns="0" tIns="0" rIns="0" bIns="0" rtlCol="0" anchor="t">
            <a:normAutofit/>
          </a:bodyPr>
          <a:lstStyle/>
          <a:p>
            <a:pPr defTabSz="1219170">
              <a:lnSpc>
                <a:spcPts val="3948"/>
              </a:lnSpc>
            </a:pPr>
            <a:r>
              <a:rPr lang="en-US" sz="2820" b="1" dirty="0">
                <a:solidFill>
                  <a:srgbClr val="FFFFFF"/>
                </a:solidFill>
                <a:latin typeface="Arial" pitchFamily="34" charset="0"/>
                <a:ea typeface="Arial" pitchFamily="34" charset="-122"/>
                <a:cs typeface="Arial" pitchFamily="34" charset="-120"/>
              </a:rPr>
              <a:t>Начальная популяция - создаётся с учётом особенностей и свойств задачи</a:t>
            </a:r>
            <a:endParaRPr lang="en-US" sz="2820"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452067" y="1722044"/>
            <a:ext cx="9387840" cy="3429000"/>
          </a:xfrm>
          <a:prstGeom prst="rect">
            <a:avLst/>
          </a:prstGeom>
          <a:noFill/>
          <a:ln/>
        </p:spPr>
        <p:txBody>
          <a:bodyPr wrap="square" lIns="0" tIns="0" rIns="0" bIns="0" rtlCol="0" anchor="t">
            <a:normAutofit/>
          </a:bodyPr>
          <a:lstStyle/>
          <a:p>
            <a:pPr defTabSz="1219170">
              <a:lnSpc>
                <a:spcPts val="5053"/>
              </a:lnSpc>
            </a:pPr>
            <a:r>
              <a:rPr lang="en-US" sz="3609" b="1" dirty="0">
                <a:solidFill>
                  <a:srgbClr val="FFFFFF"/>
                </a:solidFill>
                <a:latin typeface="Arial" pitchFamily="34" charset="0"/>
                <a:ea typeface="Arial" pitchFamily="34" charset="-122"/>
                <a:cs typeface="Arial" pitchFamily="34" charset="-120"/>
              </a:rPr>
              <a:t>Операторы скрещивания (оператор кроссинговера, позволяет из базовых хромосом получить новые путём соединения родительских генов различными способами):</a:t>
            </a:r>
            <a:endParaRPr lang="en-US" sz="3609"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1193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Операторы скрещивания...</a:t>
            </a:r>
            <a:endParaRPr lang="en-US" sz="5584" dirty="0">
              <a:solidFill>
                <a:prstClr val="black"/>
              </a:solidFill>
              <a:latin typeface="Calibri" panose="020F0502020204030204"/>
            </a:endParaRPr>
          </a:p>
        </p:txBody>
      </p:sp>
      <p:sp>
        <p:nvSpPr>
          <p:cNvPr id="3" name="Text 1"/>
          <p:cNvSpPr/>
          <p:nvPr/>
        </p:nvSpPr>
        <p:spPr>
          <a:xfrm>
            <a:off x="1166775" y="2386585"/>
            <a:ext cx="7802880" cy="48006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Одноточечный - разрез только в одной случайно точке</a:t>
            </a:r>
            <a:endParaRPr lang="en-US" sz="2256" dirty="0">
              <a:solidFill>
                <a:prstClr val="black"/>
              </a:solidFill>
              <a:latin typeface="Calibri" panose="020F0502020204030204"/>
            </a:endParaRPr>
          </a:p>
        </p:txBody>
      </p:sp>
      <p:sp>
        <p:nvSpPr>
          <p:cNvPr id="4" name="Text 2"/>
          <p:cNvSpPr/>
          <p:nvPr/>
        </p:nvSpPr>
        <p:spPr>
          <a:xfrm>
            <a:off x="1166775" y="3255493"/>
            <a:ext cx="6583680" cy="48006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Многоточечный - разрез в n случайных точках</a:t>
            </a:r>
            <a:endParaRPr lang="en-US" sz="2256" dirty="0">
              <a:solidFill>
                <a:prstClr val="black"/>
              </a:solidFill>
              <a:latin typeface="Calibri" panose="020F0502020204030204"/>
            </a:endParaRPr>
          </a:p>
        </p:txBody>
      </p:sp>
      <p:sp>
        <p:nvSpPr>
          <p:cNvPr id="5" name="Text 3"/>
          <p:cNvSpPr/>
          <p:nvPr/>
        </p:nvSpPr>
        <p:spPr>
          <a:xfrm>
            <a:off x="1166775" y="4123716"/>
            <a:ext cx="1011936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Равномерный кроссовер - каждый ген выбирается случайным образом из одного из соответствующих генов родительских хромосом</a:t>
            </a:r>
            <a:endParaRPr lang="en-US" sz="2256" dirty="0">
              <a:solidFill>
                <a:prstClr val="black"/>
              </a:solidFill>
              <a:latin typeface="Calibri" panose="020F0502020204030204"/>
            </a:endParaRPr>
          </a:p>
        </p:txBody>
      </p:sp>
      <p:sp>
        <p:nvSpPr>
          <p:cNvPr id="6" name="Text 4"/>
          <p:cNvSpPr/>
          <p:nvPr/>
        </p:nvSpPr>
        <p:spPr>
          <a:xfrm>
            <a:off x="1166775" y="5450052"/>
            <a:ext cx="963168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Дискретная рекомбинация - при генерации потомства применяются правила равномерного кроссовера</a:t>
            </a:r>
            <a:endParaRPr lang="en-US" sz="2256" dirty="0">
              <a:solidFill>
                <a:prstClr val="black"/>
              </a:solidFill>
              <a:latin typeface="Calibri" panose="020F0502020204030204"/>
            </a:endParaRPr>
          </a:p>
        </p:txBody>
      </p:sp>
      <p:sp>
        <p:nvSpPr>
          <p:cNvPr id="7" name="Text 5"/>
          <p:cNvSpPr/>
          <p:nvPr/>
        </p:nvSpPr>
        <p:spPr>
          <a:xfrm>
            <a:off x="1166775" y="6775704"/>
            <a:ext cx="999744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Промежуточная рекомбинация - значения аллелей дочернего генома генерируются путем смешивания аллелей двух родительских геномов</a:t>
            </a:r>
            <a:endParaRPr lang="en-US" sz="2256" dirty="0">
              <a:solidFill>
                <a:prstClr val="black"/>
              </a:solidFill>
              <a:latin typeface="Calibri" panose="020F0502020204030204"/>
            </a:endParaRPr>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86585"/>
            <a:ext cx="91440" cy="457428"/>
          </a:xfrm>
          <a:prstGeom prst="rect">
            <a:avLst/>
          </a:prstGeom>
        </p:spPr>
      </p:pic>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3255493"/>
            <a:ext cx="91440" cy="457428"/>
          </a:xfrm>
          <a:prstGeom prst="rect">
            <a:avLst/>
          </a:prstGeom>
        </p:spPr>
      </p:pic>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5" y="4123717"/>
            <a:ext cx="91440" cy="457428"/>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5" y="5450053"/>
            <a:ext cx="91440" cy="457428"/>
          </a:xfrm>
          <a:prstGeom prst="rect">
            <a:avLst/>
          </a:prstGeom>
        </p:spPr>
      </p:pic>
      <p:pic>
        <p:nvPicPr>
          <p:cNvPr id="1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7565" y="6775705"/>
            <a:ext cx="91440" cy="457428"/>
          </a:xfrm>
          <a:prstGeom prst="rect">
            <a:avLst/>
          </a:prstGeom>
        </p:spPr>
      </p:pic>
      <p:sp>
        <p:nvSpPr>
          <p:cNvPr id="13" name="Text 6"/>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2595" y="518466"/>
            <a:ext cx="342595" cy="3017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4258665" y="2276856"/>
            <a:ext cx="6949440" cy="233172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Одноточечный - разрез только в одной случайно точке</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007059" y="2902305"/>
            <a:ext cx="2438400" cy="1054075"/>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4402531" y="2660905"/>
            <a:ext cx="6705600" cy="157734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Многоточечный - разрез в n случайных точках</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152144" y="2889277"/>
            <a:ext cx="2438400" cy="1078764"/>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49312" y="857251"/>
            <a:ext cx="3901440" cy="850392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Равномерный кроссовер - каждый ген выбирается случайным образом из одного из соответствующих генов родительских хромосом</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47319" y="1684326"/>
            <a:ext cx="5690007" cy="3489351"/>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91984" y="857251"/>
            <a:ext cx="3779520" cy="692658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Дискретная рекомбинация - при генерации потомства применяются правила равномерного кроссовера</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88771" y="1974420"/>
            <a:ext cx="5690007" cy="2909849"/>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84669" y="857251"/>
            <a:ext cx="3779520" cy="1001268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Промежуточная рекомбинация - значения аллелей дочернего генома генерируются путем смешивания аллелей двух родительских геномов</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81457" y="1471041"/>
            <a:ext cx="5690007" cy="3915232"/>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76809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Операторы мутации</a:t>
            </a:r>
            <a:endParaRPr lang="en-US" sz="5584" dirty="0">
              <a:solidFill>
                <a:prstClr val="black"/>
              </a:solidFill>
              <a:latin typeface="Calibri" panose="020F0502020204030204"/>
            </a:endParaRPr>
          </a:p>
        </p:txBody>
      </p:sp>
      <p:sp>
        <p:nvSpPr>
          <p:cNvPr id="3" name="Text 1"/>
          <p:cNvSpPr/>
          <p:nvPr/>
        </p:nvSpPr>
        <p:spPr>
          <a:xfrm>
            <a:off x="1166775" y="2386584"/>
            <a:ext cx="987552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Мутация битового переворота - один или несколько случайных битов переворачиваются</a:t>
            </a:r>
            <a:endParaRPr lang="en-US" sz="2256" dirty="0">
              <a:solidFill>
                <a:prstClr val="black"/>
              </a:solidFill>
              <a:latin typeface="Calibri" panose="020F0502020204030204"/>
            </a:endParaRPr>
          </a:p>
        </p:txBody>
      </p:sp>
      <p:sp>
        <p:nvSpPr>
          <p:cNvPr id="4" name="Text 2"/>
          <p:cNvSpPr/>
          <p:nvPr/>
        </p:nvSpPr>
        <p:spPr>
          <a:xfrm>
            <a:off x="1166775" y="3712236"/>
            <a:ext cx="963168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Мутация обмена - случайным образом выбираются две позиции на хромосоме и значения меняются местами</a:t>
            </a:r>
            <a:endParaRPr lang="en-US" sz="2256" dirty="0">
              <a:solidFill>
                <a:prstClr val="black"/>
              </a:solidFill>
              <a:latin typeface="Calibri" panose="020F0502020204030204"/>
            </a:endParaRPr>
          </a:p>
        </p:txBody>
      </p:sp>
      <p:sp>
        <p:nvSpPr>
          <p:cNvPr id="5" name="Text 3"/>
          <p:cNvSpPr/>
          <p:nvPr/>
        </p:nvSpPr>
        <p:spPr>
          <a:xfrm>
            <a:off x="1166775" y="5038572"/>
            <a:ext cx="950976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Скремблирующая мутация - из всей хромосомы выбирается подмножество генов и их значения перемешиваются между собой случайным образом</a:t>
            </a:r>
            <a:endParaRPr lang="en-US" sz="2256" dirty="0">
              <a:solidFill>
                <a:prstClr val="black"/>
              </a:solidFill>
              <a:latin typeface="Calibri" panose="020F0502020204030204"/>
            </a:endParaRPr>
          </a:p>
        </p:txBody>
      </p:sp>
      <p:sp>
        <p:nvSpPr>
          <p:cNvPr id="6" name="Text 4"/>
          <p:cNvSpPr/>
          <p:nvPr/>
        </p:nvSpPr>
        <p:spPr>
          <a:xfrm>
            <a:off x="1166775" y="6821652"/>
            <a:ext cx="816864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Инверсионная мутация -  из всей хромосомы выбирается подмножество генов и их значения меняются местами с противоположными в выборке элементами</a:t>
            </a:r>
            <a:endParaRPr lang="en-US" sz="2256" dirty="0">
              <a:solidFill>
                <a:prstClr val="black"/>
              </a:solidFill>
              <a:latin typeface="Calibri" panose="020F0502020204030204"/>
            </a:endParaRPr>
          </a:p>
        </p:txBody>
      </p:sp>
      <p:sp>
        <p:nvSpPr>
          <p:cNvPr id="7" name="Text 5"/>
          <p:cNvSpPr/>
          <p:nvPr/>
        </p:nvSpPr>
        <p:spPr>
          <a:xfrm>
            <a:off x="1166775" y="8604732"/>
            <a:ext cx="902208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Мутация без учета ограничений - действительное число можно изменить с помощью закона распределения</a:t>
            </a:r>
            <a:endParaRPr lang="en-US" sz="2256" dirty="0">
              <a:solidFill>
                <a:prstClr val="black"/>
              </a:solidFill>
              <a:latin typeface="Calibri" panose="020F0502020204030204"/>
            </a:endParaRPr>
          </a:p>
        </p:txBody>
      </p:sp>
      <p:sp>
        <p:nvSpPr>
          <p:cNvPr id="8" name="Text 6"/>
          <p:cNvSpPr/>
          <p:nvPr/>
        </p:nvSpPr>
        <p:spPr>
          <a:xfrm>
            <a:off x="1166775" y="9930384"/>
            <a:ext cx="890016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Мутация с учетом ограничений - небольшие изменения более вероятны, чем большие</a:t>
            </a:r>
            <a:endParaRPr lang="en-US" sz="2256" dirty="0">
              <a:solidFill>
                <a:prstClr val="black"/>
              </a:solidFill>
              <a:latin typeface="Calibri" panose="020F0502020204030204"/>
            </a:endParaRPr>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86585"/>
            <a:ext cx="91440" cy="457428"/>
          </a:xfrm>
          <a:prstGeom prst="rect">
            <a:avLst/>
          </a:prstGeom>
        </p:spPr>
      </p:pic>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3712237"/>
            <a:ext cx="91440" cy="457428"/>
          </a:xfrm>
          <a:prstGeom prst="rect">
            <a:avLst/>
          </a:prstGeom>
        </p:spPr>
      </p:pic>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5" y="5038573"/>
            <a:ext cx="91440" cy="457428"/>
          </a:xfrm>
          <a:prstGeom prst="rect">
            <a:avLst/>
          </a:prstGeom>
        </p:spPr>
      </p:pic>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5" y="6821653"/>
            <a:ext cx="91440" cy="457428"/>
          </a:xfrm>
          <a:prstGeom prst="rect">
            <a:avLst/>
          </a:prstGeom>
        </p:spPr>
      </p:pic>
      <p:pic>
        <p:nvPicPr>
          <p:cNvPr id="1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7565" y="8604732"/>
            <a:ext cx="91440" cy="457428"/>
          </a:xfrm>
          <a:prstGeom prst="rect">
            <a:avLst/>
          </a:prstGeom>
        </p:spPr>
      </p:pic>
      <p:pic>
        <p:nvPicPr>
          <p:cNvPr id="1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37565" y="9930384"/>
            <a:ext cx="91440" cy="457428"/>
          </a:xfrm>
          <a:prstGeom prst="rect">
            <a:avLst/>
          </a:prstGeom>
        </p:spPr>
      </p:pic>
      <p:sp>
        <p:nvSpPr>
          <p:cNvPr id="15" name="Text 7"/>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42595" y="518466"/>
            <a:ext cx="342595" cy="3017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2213077"/>
            <a:ext cx="10316871" cy="1091108"/>
          </a:xfrm>
          <a:prstGeom prst="rect">
            <a:avLst/>
          </a:prstGeom>
        </p:spPr>
      </p:pic>
      <p:sp>
        <p:nvSpPr>
          <p:cNvPr id="3" name="Text 0"/>
          <p:cNvSpPr/>
          <p:nvPr/>
        </p:nvSpPr>
        <p:spPr>
          <a:xfrm>
            <a:off x="937565" y="3578504"/>
            <a:ext cx="9997440" cy="1097280"/>
          </a:xfrm>
          <a:prstGeom prst="rect">
            <a:avLst/>
          </a:prstGeom>
          <a:noFill/>
          <a:ln/>
        </p:spPr>
        <p:txBody>
          <a:bodyPr wrap="square" lIns="0" tIns="0" rIns="0" bIns="0" rtlCol="0" anchor="t">
            <a:normAutofit/>
          </a:bodyPr>
          <a:lstStyle/>
          <a:p>
            <a:pPr defTabSz="1219170">
              <a:lnSpc>
                <a:spcPts val="3948"/>
              </a:lnSpc>
            </a:pPr>
            <a:r>
              <a:rPr lang="en-US" sz="2820" b="1" dirty="0">
                <a:solidFill>
                  <a:srgbClr val="FFFFFF"/>
                </a:solidFill>
                <a:latin typeface="Arial" pitchFamily="34" charset="0"/>
                <a:ea typeface="Arial" pitchFamily="34" charset="-122"/>
                <a:cs typeface="Arial" pitchFamily="34" charset="-120"/>
              </a:rPr>
              <a:t>Мутация битового переворота - один или несколько случайных битов переворачиваются</a:t>
            </a:r>
            <a:endParaRPr lang="en-US" sz="2820"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947090"/>
            <a:ext cx="987552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Мутация битового переворота - один ...</a:t>
            </a:r>
            <a:endParaRPr lang="en-US" sz="7106" dirty="0">
              <a:solidFill>
                <a:prstClr val="black"/>
              </a:solidFill>
              <a:latin typeface="Calibri" panose="020F0502020204030204"/>
            </a:endParaRPr>
          </a:p>
        </p:txBody>
      </p:sp>
      <p:sp>
        <p:nvSpPr>
          <p:cNvPr id="3" name="Text 1"/>
          <p:cNvSpPr/>
          <p:nvPr/>
        </p:nvSpPr>
        <p:spPr>
          <a:xfrm>
            <a:off x="937565" y="4022903"/>
            <a:ext cx="10363200" cy="1920240"/>
          </a:xfrm>
          <a:prstGeom prst="rect">
            <a:avLst/>
          </a:prstGeom>
          <a:noFill/>
          <a:ln/>
        </p:spPr>
        <p:txBody>
          <a:bodyPr wrap="square" lIns="0" tIns="0" rIns="0" bIns="0" rtlCol="0" anchor="t">
            <a:normAutofit/>
          </a:bodyPr>
          <a:lstStyle/>
          <a:p>
            <a:pPr defTabSz="1219170">
              <a:lnSpc>
                <a:spcPts val="4659"/>
              </a:lnSpc>
            </a:pPr>
            <a:r>
              <a:rPr lang="en-US" sz="3328" dirty="0">
                <a:solidFill>
                  <a:srgbClr val="FFFFFF"/>
                </a:solidFill>
                <a:latin typeface="Arial" pitchFamily="34" charset="0"/>
                <a:ea typeface="Arial" pitchFamily="34" charset="-122"/>
                <a:cs typeface="Arial" pitchFamily="34" charset="-120"/>
              </a:rPr>
              <a:t>Случайный сброс - модифицируемый переворот, в котором для целых чисел выбирается другое число из области допустимых значений</a:t>
            </a:r>
            <a:endParaRPr lang="en-US" sz="3328"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443402"/>
            <a:ext cx="10271760"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184376"/>
            <a:ext cx="10316871" cy="2809723"/>
          </a:xfrm>
          <a:prstGeom prst="rect">
            <a:avLst/>
          </a:prstGeom>
        </p:spPr>
      </p:pic>
      <p:sp>
        <p:nvSpPr>
          <p:cNvPr id="3" name="Text 0"/>
          <p:cNvSpPr/>
          <p:nvPr/>
        </p:nvSpPr>
        <p:spPr>
          <a:xfrm>
            <a:off x="937565" y="4267734"/>
            <a:ext cx="10119360" cy="1440180"/>
          </a:xfrm>
          <a:prstGeom prst="rect">
            <a:avLst/>
          </a:prstGeom>
          <a:noFill/>
          <a:ln/>
        </p:spPr>
        <p:txBody>
          <a:bodyPr wrap="square" lIns="0" tIns="0" rIns="0" bIns="0" rtlCol="0" anchor="t">
            <a:normAutofit/>
          </a:bodyPr>
          <a:lstStyle/>
          <a:p>
            <a:pPr defTabSz="1219170">
              <a:lnSpc>
                <a:spcPts val="3468"/>
              </a:lnSpc>
            </a:pPr>
            <a:r>
              <a:rPr lang="en-US" sz="2312" b="1" dirty="0">
                <a:solidFill>
                  <a:srgbClr val="FFFFFF"/>
                </a:solidFill>
                <a:latin typeface="Arial" pitchFamily="34" charset="0"/>
                <a:ea typeface="Arial" pitchFamily="34" charset="-122"/>
                <a:cs typeface="Arial" pitchFamily="34" charset="-120"/>
              </a:rPr>
              <a:t>Случайный сброс - модифицируемый переворот, в котором для целых чисел выбирается другое число из области допустимых значений</a:t>
            </a:r>
            <a:endParaRPr lang="en-US" sz="2312"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925727"/>
            <a:ext cx="10316871" cy="1003325"/>
          </a:xfrm>
          <a:prstGeom prst="rect">
            <a:avLst/>
          </a:prstGeom>
        </p:spPr>
      </p:pic>
      <p:sp>
        <p:nvSpPr>
          <p:cNvPr id="3" name="Text 0"/>
          <p:cNvSpPr/>
          <p:nvPr/>
        </p:nvSpPr>
        <p:spPr>
          <a:xfrm>
            <a:off x="937565" y="3204057"/>
            <a:ext cx="8656320" cy="1783080"/>
          </a:xfrm>
          <a:prstGeom prst="rect">
            <a:avLst/>
          </a:prstGeom>
          <a:noFill/>
          <a:ln/>
        </p:spPr>
        <p:txBody>
          <a:bodyPr wrap="square" lIns="0" tIns="0" rIns="0" bIns="0" rtlCol="0" anchor="t">
            <a:normAutofit/>
          </a:bodyPr>
          <a:lstStyle/>
          <a:p>
            <a:pPr defTabSz="1219170">
              <a:lnSpc>
                <a:spcPts val="4264"/>
              </a:lnSpc>
            </a:pPr>
            <a:r>
              <a:rPr lang="en-US" sz="3045" b="1" dirty="0">
                <a:solidFill>
                  <a:srgbClr val="FFFFFF"/>
                </a:solidFill>
                <a:latin typeface="Arial" pitchFamily="34" charset="0"/>
                <a:ea typeface="Arial" pitchFamily="34" charset="-122"/>
                <a:cs typeface="Arial" pitchFamily="34" charset="-120"/>
              </a:rPr>
              <a:t>Мутация обмена - случайным образом выбираются две позиции на хромосоме и значения меняются местами</a:t>
            </a:r>
            <a:endParaRPr lang="en-US" sz="3045"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999794"/>
            <a:ext cx="10316871" cy="919657"/>
          </a:xfrm>
          <a:prstGeom prst="rect">
            <a:avLst/>
          </a:prstGeom>
        </p:spPr>
      </p:pic>
      <p:sp>
        <p:nvSpPr>
          <p:cNvPr id="3" name="Text 0"/>
          <p:cNvSpPr/>
          <p:nvPr/>
        </p:nvSpPr>
        <p:spPr>
          <a:xfrm>
            <a:off x="937565" y="3193771"/>
            <a:ext cx="10363200" cy="1714500"/>
          </a:xfrm>
          <a:prstGeom prst="rect">
            <a:avLst/>
          </a:prstGeom>
          <a:noFill/>
          <a:ln/>
        </p:spPr>
        <p:txBody>
          <a:bodyPr wrap="square" lIns="0" tIns="0" rIns="0" bIns="0" rtlCol="0" anchor="t">
            <a:normAutofit/>
          </a:bodyPr>
          <a:lstStyle/>
          <a:p>
            <a:pPr defTabSz="1219170">
              <a:lnSpc>
                <a:spcPts val="4105"/>
              </a:lnSpc>
            </a:pPr>
            <a:r>
              <a:rPr lang="en-US" sz="2933" b="1" dirty="0">
                <a:solidFill>
                  <a:srgbClr val="FFFFFF"/>
                </a:solidFill>
                <a:latin typeface="Arial" pitchFamily="34" charset="0"/>
                <a:ea typeface="Arial" pitchFamily="34" charset="-122"/>
                <a:cs typeface="Arial" pitchFamily="34" charset="-120"/>
              </a:rPr>
              <a:t>Скремблирующая мутация - из всей хромосомы выбирается подмножество генов и их значения перемешиваются между собой случайным образом</a:t>
            </a:r>
            <a:endParaRPr lang="en-US" sz="2933"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808455"/>
            <a:ext cx="10316871" cy="662483"/>
          </a:xfrm>
          <a:prstGeom prst="rect">
            <a:avLst/>
          </a:prstGeom>
        </p:spPr>
      </p:pic>
      <p:sp>
        <p:nvSpPr>
          <p:cNvPr id="3" name="Text 0"/>
          <p:cNvSpPr/>
          <p:nvPr/>
        </p:nvSpPr>
        <p:spPr>
          <a:xfrm>
            <a:off x="937565" y="2745257"/>
            <a:ext cx="9875520" cy="2331720"/>
          </a:xfrm>
          <a:prstGeom prst="rect">
            <a:avLst/>
          </a:prstGeom>
          <a:noFill/>
          <a:ln/>
        </p:spPr>
        <p:txBody>
          <a:bodyPr wrap="square" lIns="0" tIns="0" rIns="0" bIns="0" rtlCol="0" anchor="t">
            <a:normAutofit/>
          </a:bodyPr>
          <a:lstStyle/>
          <a:p>
            <a:pPr defTabSz="1219170">
              <a:lnSpc>
                <a:spcPts val="4264"/>
              </a:lnSpc>
            </a:pPr>
            <a:r>
              <a:rPr lang="en-US" sz="3045" b="1" dirty="0">
                <a:solidFill>
                  <a:srgbClr val="FFFFFF"/>
                </a:solidFill>
                <a:latin typeface="Arial" pitchFamily="34" charset="0"/>
                <a:ea typeface="Arial" pitchFamily="34" charset="-122"/>
                <a:cs typeface="Arial" pitchFamily="34" charset="-120"/>
              </a:rPr>
              <a:t>Инверсионная мутация -  из всей хромосомы выбирается подмножество генов и их значения меняются местами с противоположными в выборке элементами</a:t>
            </a:r>
            <a:endParaRPr lang="en-US" sz="3045"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68045" y="857251"/>
            <a:ext cx="8572195" cy="4286251"/>
          </a:xfrm>
          <a:prstGeom prst="rect">
            <a:avLst/>
          </a:prstGeom>
        </p:spPr>
      </p:pic>
      <p:sp>
        <p:nvSpPr>
          <p:cNvPr id="3" name="Text 0"/>
          <p:cNvSpPr/>
          <p:nvPr/>
        </p:nvSpPr>
        <p:spPr>
          <a:xfrm>
            <a:off x="968045" y="5417820"/>
            <a:ext cx="10363200" cy="1783080"/>
          </a:xfrm>
          <a:prstGeom prst="rect">
            <a:avLst/>
          </a:prstGeom>
          <a:noFill/>
          <a:ln/>
        </p:spPr>
        <p:txBody>
          <a:bodyPr wrap="square" lIns="0" tIns="0" rIns="0" bIns="0" rtlCol="0" anchor="t">
            <a:normAutofit/>
          </a:bodyPr>
          <a:lstStyle/>
          <a:p>
            <a:pPr defTabSz="1219170">
              <a:lnSpc>
                <a:spcPts val="4264"/>
              </a:lnSpc>
            </a:pPr>
            <a:r>
              <a:rPr lang="en-US" sz="3045" b="1" dirty="0">
                <a:solidFill>
                  <a:srgbClr val="FFFFFF"/>
                </a:solidFill>
                <a:latin typeface="Arial" pitchFamily="34" charset="0"/>
                <a:ea typeface="Arial" pitchFamily="34" charset="-122"/>
                <a:cs typeface="Arial" pitchFamily="34" charset="-120"/>
              </a:rPr>
              <a:t>Мутация без учета ограничений - действительное число можно изменить с помощью закона распределения</a:t>
            </a:r>
            <a:endParaRPr lang="en-US" sz="3045"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533437" y="857251"/>
            <a:ext cx="3657600" cy="617220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Мутация с учетом ограничений - небольшие изменения более вероятны, чем большие</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031443" y="1646606"/>
            <a:ext cx="5690007" cy="3564103"/>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633984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Финтес-функции</a:t>
            </a:r>
            <a:endParaRPr lang="en-US" sz="5584" dirty="0">
              <a:solidFill>
                <a:prstClr val="black"/>
              </a:solidFill>
              <a:latin typeface="Calibri" panose="020F0502020204030204"/>
            </a:endParaRPr>
          </a:p>
        </p:txBody>
      </p:sp>
      <p:sp>
        <p:nvSpPr>
          <p:cNvPr id="3" name="Text 1"/>
          <p:cNvSpPr/>
          <p:nvPr/>
        </p:nvSpPr>
        <p:spPr>
          <a:xfrm>
            <a:off x="1188720" y="2386584"/>
            <a:ext cx="23164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Требования:</a:t>
            </a:r>
            <a:endParaRPr lang="en-US" sz="2820" dirty="0">
              <a:solidFill>
                <a:prstClr val="black"/>
              </a:solidFill>
              <a:latin typeface="Calibri" panose="020F0502020204030204"/>
            </a:endParaRPr>
          </a:p>
        </p:txBody>
      </p:sp>
      <p:sp>
        <p:nvSpPr>
          <p:cNvPr id="4" name="Text 2"/>
          <p:cNvSpPr/>
          <p:nvPr/>
        </p:nvSpPr>
        <p:spPr>
          <a:xfrm>
            <a:off x="1188720" y="3331616"/>
            <a:ext cx="89001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Критерии пригодности (глобальные и локальные)</a:t>
            </a:r>
            <a:endParaRPr lang="en-US" sz="2820" dirty="0">
              <a:solidFill>
                <a:prstClr val="black"/>
              </a:solidFill>
              <a:latin typeface="Calibri" panose="020F0502020204030204"/>
            </a:endParaRPr>
          </a:p>
        </p:txBody>
      </p:sp>
      <p:sp>
        <p:nvSpPr>
          <p:cNvPr id="5" name="Text 3"/>
          <p:cNvSpPr/>
          <p:nvPr/>
        </p:nvSpPr>
        <p:spPr>
          <a:xfrm>
            <a:off x="1188720" y="4276649"/>
            <a:ext cx="70713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При многокритериальной оптимизации:</a:t>
            </a:r>
            <a:endParaRPr lang="en-US" sz="2820"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276649"/>
            <a:ext cx="114605" cy="533552"/>
          </a:xfrm>
          <a:prstGeom prst="rect">
            <a:avLst/>
          </a:prstGeom>
        </p:spPr>
      </p:pic>
      <p:sp>
        <p:nvSpPr>
          <p:cNvPr id="9"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47548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Требования:</a:t>
            </a:r>
            <a:endParaRPr lang="en-US" sz="5584" dirty="0">
              <a:solidFill>
                <a:prstClr val="black"/>
              </a:solidFill>
              <a:latin typeface="Calibri" panose="020F0502020204030204"/>
            </a:endParaRPr>
          </a:p>
        </p:txBody>
      </p:sp>
      <p:sp>
        <p:nvSpPr>
          <p:cNvPr id="3" name="Text 1"/>
          <p:cNvSpPr/>
          <p:nvPr/>
        </p:nvSpPr>
        <p:spPr>
          <a:xfrm>
            <a:off x="1638605" y="2386584"/>
            <a:ext cx="69494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Минимизация затрат на вычисления</a:t>
            </a:r>
            <a:endParaRPr lang="en-US" sz="2820" dirty="0">
              <a:solidFill>
                <a:prstClr val="black"/>
              </a:solidFill>
              <a:latin typeface="Calibri" panose="020F0502020204030204"/>
            </a:endParaRPr>
          </a:p>
        </p:txBody>
      </p:sp>
      <p:pic>
        <p:nvPicPr>
          <p:cNvPr id="4" name="Image 0" descr="file:///C:/Users/Hvv13/AppData/Local/Programs/Xmind/resources/app.asar/static/snowbird/resource/markers/symbolMarkers/symbol-exclam.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88721" y="2462709"/>
            <a:ext cx="381609" cy="381305"/>
          </a:xfrm>
          <a:prstGeom prst="rect">
            <a:avLst/>
          </a:prstGeom>
        </p:spPr>
      </p:pic>
      <p:sp>
        <p:nvSpPr>
          <p:cNvPr id="5" name="Text 2"/>
          <p:cNvSpPr/>
          <p:nvPr/>
        </p:nvSpPr>
        <p:spPr>
          <a:xfrm>
            <a:off x="1638605" y="3331616"/>
            <a:ext cx="52425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Ярко выраженный рельеф </a:t>
            </a:r>
            <a:endParaRPr lang="en-US" sz="2820" dirty="0">
              <a:solidFill>
                <a:prstClr val="black"/>
              </a:solidFill>
              <a:latin typeface="Calibri" panose="020F0502020204030204"/>
            </a:endParaRPr>
          </a:p>
        </p:txBody>
      </p:sp>
      <p:pic>
        <p:nvPicPr>
          <p:cNvPr id="6" name="Image 1" descr="file:///C:/Users/Hvv13/AppData/Local/Programs/Xmind/resources/app.asar/static/snowbird/resource/markers/symbolMarkers/symbol-exclam.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88721" y="3407741"/>
            <a:ext cx="381609" cy="381305"/>
          </a:xfrm>
          <a:prstGeom prst="rect">
            <a:avLst/>
          </a:prstGeom>
        </p:spPr>
      </p:pic>
      <p:sp>
        <p:nvSpPr>
          <p:cNvPr id="7" name="Text 3"/>
          <p:cNvSpPr/>
          <p:nvPr/>
        </p:nvSpPr>
        <p:spPr>
          <a:xfrm>
            <a:off x="1638605" y="4276649"/>
            <a:ext cx="80467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Соответствие предметной области задачи</a:t>
            </a:r>
            <a:endParaRPr lang="en-US" sz="2820" dirty="0">
              <a:solidFill>
                <a:prstClr val="black"/>
              </a:solidFill>
              <a:latin typeface="Calibri" panose="020F0502020204030204"/>
            </a:endParaRPr>
          </a:p>
        </p:txBody>
      </p:sp>
      <p:pic>
        <p:nvPicPr>
          <p:cNvPr id="8" name="Image 2" descr="file:///C:/Users/Hvv13/AppData/Local/Programs/Xmind/resources/app.asar/static/snowbird/resource/markers/symbolMarkers/symbol-exclam.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88721" y="4352773"/>
            <a:ext cx="381609" cy="381305"/>
          </a:xfrm>
          <a:prstGeom prst="rect">
            <a:avLst/>
          </a:prstGeom>
        </p:spPr>
      </p:pic>
      <p:pic>
        <p:nvPicPr>
          <p:cNvPr id="9"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2386584"/>
            <a:ext cx="114605" cy="533552"/>
          </a:xfrm>
          <a:prstGeom prst="rect">
            <a:avLst/>
          </a:prstGeom>
        </p:spPr>
      </p:pic>
      <p:pic>
        <p:nvPicPr>
          <p:cNvPr id="10"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3331616"/>
            <a:ext cx="114605" cy="533552"/>
          </a:xfrm>
          <a:prstGeom prst="rect">
            <a:avLst/>
          </a:prstGeom>
        </p:spPr>
      </p:pic>
      <p:pic>
        <p:nvPicPr>
          <p:cNvPr id="11"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6" y="4276649"/>
            <a:ext cx="114605" cy="533552"/>
          </a:xfrm>
          <a:prstGeom prst="rect">
            <a:avLst/>
          </a:prstGeom>
        </p:spPr>
      </p:pic>
      <p:sp>
        <p:nvSpPr>
          <p:cNvPr id="12"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3"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2595" y="518466"/>
            <a:ext cx="342595" cy="3017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987552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Критерии пригодности (г...</a:t>
            </a:r>
            <a:endParaRPr lang="en-US" sz="5584" dirty="0">
              <a:solidFill>
                <a:prstClr val="black"/>
              </a:solidFill>
              <a:latin typeface="Calibri" panose="020F0502020204030204"/>
            </a:endParaRPr>
          </a:p>
        </p:txBody>
      </p:sp>
      <p:sp>
        <p:nvSpPr>
          <p:cNvPr id="3" name="Text 1"/>
          <p:cNvSpPr/>
          <p:nvPr/>
        </p:nvSpPr>
        <p:spPr>
          <a:xfrm>
            <a:off x="1188720" y="2386584"/>
            <a:ext cx="37795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Случайный критерий</a:t>
            </a:r>
            <a:endParaRPr lang="en-US" sz="2820" dirty="0">
              <a:solidFill>
                <a:prstClr val="black"/>
              </a:solidFill>
              <a:latin typeface="Calibri" panose="020F0502020204030204"/>
            </a:endParaRPr>
          </a:p>
        </p:txBody>
      </p:sp>
      <p:sp>
        <p:nvSpPr>
          <p:cNvPr id="4" name="Text 2"/>
          <p:cNvSpPr/>
          <p:nvPr/>
        </p:nvSpPr>
        <p:spPr>
          <a:xfrm>
            <a:off x="1188720" y="3331616"/>
            <a:ext cx="45110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Стратегические критерии</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sp>
        <p:nvSpPr>
          <p:cNvPr id="7" name="Text 3"/>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36320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При многокритериальной...</a:t>
            </a:r>
            <a:endParaRPr lang="en-US" sz="5584" dirty="0">
              <a:solidFill>
                <a:prstClr val="black"/>
              </a:solidFill>
              <a:latin typeface="Calibri" panose="020F0502020204030204"/>
            </a:endParaRPr>
          </a:p>
        </p:txBody>
      </p:sp>
      <p:sp>
        <p:nvSpPr>
          <p:cNvPr id="3" name="Text 1"/>
          <p:cNvSpPr/>
          <p:nvPr/>
        </p:nvSpPr>
        <p:spPr>
          <a:xfrm>
            <a:off x="1188720" y="2386584"/>
            <a:ext cx="71932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Взвешенные функции суммы и штрафа:</a:t>
            </a:r>
            <a:endParaRPr lang="en-US" sz="2820" dirty="0">
              <a:solidFill>
                <a:prstClr val="black"/>
              </a:solidFill>
              <a:latin typeface="Calibri" panose="020F0502020204030204"/>
            </a:endParaRPr>
          </a:p>
        </p:txBody>
      </p:sp>
      <p:sp>
        <p:nvSpPr>
          <p:cNvPr id="4" name="Text 2"/>
          <p:cNvSpPr/>
          <p:nvPr/>
        </p:nvSpPr>
        <p:spPr>
          <a:xfrm>
            <a:off x="1188720" y="3331616"/>
            <a:ext cx="26822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Фронт Парето:</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sp>
        <p:nvSpPr>
          <p:cNvPr id="7" name="Text 3"/>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999897"/>
            <a:ext cx="975360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Взвешенные функции суммы и ...</a:t>
            </a:r>
            <a:endParaRPr lang="en-US" sz="7106" dirty="0">
              <a:solidFill>
                <a:prstClr val="black"/>
              </a:solidFill>
              <a:latin typeface="Calibri" panose="020F0502020204030204"/>
            </a:endParaRPr>
          </a:p>
        </p:txBody>
      </p:sp>
      <p:sp>
        <p:nvSpPr>
          <p:cNvPr id="3" name="Text 1"/>
          <p:cNvSpPr/>
          <p:nvPr/>
        </p:nvSpPr>
        <p:spPr>
          <a:xfrm>
            <a:off x="937565" y="4075024"/>
            <a:ext cx="10363200" cy="1783080"/>
          </a:xfrm>
          <a:prstGeom prst="rect">
            <a:avLst/>
          </a:prstGeom>
          <a:noFill/>
          <a:ln/>
        </p:spPr>
        <p:txBody>
          <a:bodyPr wrap="square" lIns="0" tIns="0" rIns="0" bIns="0" rtlCol="0" anchor="t">
            <a:normAutofit/>
          </a:bodyPr>
          <a:lstStyle/>
          <a:p>
            <a:pPr defTabSz="1219170">
              <a:lnSpc>
                <a:spcPts val="6599"/>
              </a:lnSpc>
            </a:pPr>
            <a:r>
              <a:rPr lang="en-US" sz="5076" dirty="0">
                <a:solidFill>
                  <a:srgbClr val="FFFFFF"/>
                </a:solidFill>
                <a:latin typeface="Arial" pitchFamily="34" charset="0"/>
                <a:ea typeface="Arial" pitchFamily="34" charset="-122"/>
                <a:cs typeface="Arial" pitchFamily="34" charset="-120"/>
              </a:rPr>
              <a:t>Грубая пригодность, где o - целевое значение, а w - его вес.</a:t>
            </a:r>
            <a:endParaRPr lang="en-US" sz="5076"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3496209"/>
            <a:ext cx="10294925"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433323"/>
            <a:ext cx="10316871" cy="2649931"/>
          </a:xfrm>
          <a:prstGeom prst="rect">
            <a:avLst/>
          </a:prstGeom>
        </p:spPr>
      </p:pic>
      <p:sp>
        <p:nvSpPr>
          <p:cNvPr id="3" name="Text 0"/>
          <p:cNvSpPr/>
          <p:nvPr/>
        </p:nvSpPr>
        <p:spPr>
          <a:xfrm>
            <a:off x="937565" y="4357573"/>
            <a:ext cx="9875520" cy="1097280"/>
          </a:xfrm>
          <a:prstGeom prst="rect">
            <a:avLst/>
          </a:prstGeom>
          <a:noFill/>
          <a:ln/>
        </p:spPr>
        <p:txBody>
          <a:bodyPr wrap="square" lIns="0" tIns="0" rIns="0" bIns="0" rtlCol="0" anchor="t">
            <a:normAutofit/>
          </a:bodyPr>
          <a:lstStyle/>
          <a:p>
            <a:pPr defTabSz="1219170">
              <a:lnSpc>
                <a:spcPts val="3948"/>
              </a:lnSpc>
            </a:pPr>
            <a:r>
              <a:rPr lang="en-US" sz="2820" b="1" dirty="0">
                <a:solidFill>
                  <a:srgbClr val="FFFFFF"/>
                </a:solidFill>
                <a:latin typeface="Arial" pitchFamily="34" charset="0"/>
                <a:ea typeface="Arial" pitchFamily="34" charset="-122"/>
                <a:cs typeface="Arial" pitchFamily="34" charset="-120"/>
              </a:rPr>
              <a:t>Грубая пригодность, где o - целевое значение, а w - его вес.</a:t>
            </a:r>
            <a:endParaRPr lang="en-US" sz="2820"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999897"/>
            <a:ext cx="999744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Грубая пригодность, где o - целевое зна...</a:t>
            </a:r>
            <a:endParaRPr lang="en-US" sz="7106" dirty="0">
              <a:solidFill>
                <a:prstClr val="black"/>
              </a:solidFill>
              <a:latin typeface="Calibri" panose="020F0502020204030204"/>
            </a:endParaRPr>
          </a:p>
        </p:txBody>
      </p:sp>
      <p:sp>
        <p:nvSpPr>
          <p:cNvPr id="3" name="Text 1"/>
          <p:cNvSpPr/>
          <p:nvPr/>
        </p:nvSpPr>
        <p:spPr>
          <a:xfrm>
            <a:off x="937565" y="4075024"/>
            <a:ext cx="10363200" cy="1783080"/>
          </a:xfrm>
          <a:prstGeom prst="rect">
            <a:avLst/>
          </a:prstGeom>
          <a:noFill/>
          <a:ln/>
        </p:spPr>
        <p:txBody>
          <a:bodyPr wrap="square" lIns="0" tIns="0" rIns="0" bIns="0" rtlCol="0" anchor="t">
            <a:normAutofit/>
          </a:bodyPr>
          <a:lstStyle/>
          <a:p>
            <a:pPr defTabSz="1219170">
              <a:lnSpc>
                <a:spcPts val="6599"/>
              </a:lnSpc>
            </a:pPr>
            <a:r>
              <a:rPr lang="en-US" sz="5076" dirty="0">
                <a:solidFill>
                  <a:srgbClr val="FFFFFF"/>
                </a:solidFill>
                <a:latin typeface="Arial" pitchFamily="34" charset="0"/>
                <a:ea typeface="Arial" pitchFamily="34" charset="-122"/>
                <a:cs typeface="Arial" pitchFamily="34" charset="-120"/>
              </a:rPr>
              <a:t>Итоговая пригодность, где pf(r) - штрафная функция.</a:t>
            </a:r>
            <a:endParaRPr lang="en-US" sz="5076"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3496209"/>
            <a:ext cx="10264445"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870863"/>
            <a:ext cx="10316871" cy="2308403"/>
          </a:xfrm>
          <a:prstGeom prst="rect">
            <a:avLst/>
          </a:prstGeom>
        </p:spPr>
      </p:pic>
      <p:sp>
        <p:nvSpPr>
          <p:cNvPr id="3" name="Text 0"/>
          <p:cNvSpPr/>
          <p:nvPr/>
        </p:nvSpPr>
        <p:spPr>
          <a:xfrm>
            <a:off x="937565" y="4453585"/>
            <a:ext cx="10119360" cy="548640"/>
          </a:xfrm>
          <a:prstGeom prst="rect">
            <a:avLst/>
          </a:prstGeom>
          <a:noFill/>
          <a:ln/>
        </p:spPr>
        <p:txBody>
          <a:bodyPr wrap="square" lIns="0" tIns="0" rIns="0" bIns="0" rtlCol="0" anchor="t">
            <a:normAutofit/>
          </a:bodyPr>
          <a:lstStyle/>
          <a:p>
            <a:pPr defTabSz="1219170">
              <a:lnSpc>
                <a:spcPts val="3948"/>
              </a:lnSpc>
            </a:pPr>
            <a:r>
              <a:rPr lang="en-US" sz="2820" b="1" dirty="0">
                <a:solidFill>
                  <a:srgbClr val="FFFFFF"/>
                </a:solidFill>
                <a:latin typeface="Arial" pitchFamily="34" charset="0"/>
                <a:ea typeface="Arial" pitchFamily="34" charset="-122"/>
                <a:cs typeface="Arial" pitchFamily="34" charset="-120"/>
              </a:rPr>
              <a:t>Итоговая пригодность, где pf(r) - штрафная функция.</a:t>
            </a:r>
            <a:endParaRPr lang="en-US" sz="2820"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62051"/>
            <a:ext cx="7071360" cy="130302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Фронт Парето:</a:t>
            </a:r>
            <a:endParaRPr lang="en-US" sz="7106" dirty="0">
              <a:solidFill>
                <a:prstClr val="black"/>
              </a:solidFill>
              <a:latin typeface="Calibri" panose="020F0502020204030204"/>
            </a:endParaRPr>
          </a:p>
        </p:txBody>
      </p:sp>
      <p:sp>
        <p:nvSpPr>
          <p:cNvPr id="3" name="Text 1"/>
          <p:cNvSpPr/>
          <p:nvPr/>
        </p:nvSpPr>
        <p:spPr>
          <a:xfrm>
            <a:off x="937565" y="2689022"/>
            <a:ext cx="10119360" cy="3360420"/>
          </a:xfrm>
          <a:prstGeom prst="rect">
            <a:avLst/>
          </a:prstGeom>
          <a:noFill/>
          <a:ln/>
        </p:spPr>
        <p:txBody>
          <a:bodyPr wrap="square" lIns="0" tIns="0" rIns="0" bIns="0" rtlCol="0" anchor="t">
            <a:normAutofit/>
          </a:bodyPr>
          <a:lstStyle/>
          <a:p>
            <a:pPr defTabSz="1219170">
              <a:lnSpc>
                <a:spcPts val="4896"/>
              </a:lnSpc>
            </a:pPr>
            <a:r>
              <a:rPr lang="en-US" sz="3497" dirty="0">
                <a:solidFill>
                  <a:srgbClr val="FFFFFF"/>
                </a:solidFill>
                <a:latin typeface="Arial" pitchFamily="34" charset="0"/>
                <a:ea typeface="Arial" pitchFamily="34" charset="-122"/>
                <a:cs typeface="Arial" pitchFamily="34" charset="-120"/>
              </a:rPr>
              <a:t>Поиск сбалансированных вариантов между границей всех возможных краевых решений: NSGA-II (Non-dominated Sorting Genetic Algorithm II), NSGA-III, SPEA2 (Strength Pareto Evolutionary Algorithm 2).</a:t>
            </a:r>
            <a:endParaRPr lang="en-US" sz="34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110207"/>
            <a:ext cx="10088880"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66851"/>
            <a:ext cx="1011936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Поиск сбалансированных...</a:t>
            </a:r>
            <a:endParaRPr lang="en-US" sz="7106" dirty="0">
              <a:solidFill>
                <a:prstClr val="black"/>
              </a:solidFill>
              <a:latin typeface="Calibri" panose="020F0502020204030204"/>
            </a:endParaRPr>
          </a:p>
        </p:txBody>
      </p:sp>
      <p:sp>
        <p:nvSpPr>
          <p:cNvPr id="3" name="Text 1"/>
          <p:cNvSpPr/>
          <p:nvPr/>
        </p:nvSpPr>
        <p:spPr>
          <a:xfrm>
            <a:off x="1493520" y="3942664"/>
            <a:ext cx="9631680" cy="2057400"/>
          </a:xfrm>
          <a:prstGeom prst="rect">
            <a:avLst/>
          </a:prstGeom>
          <a:noFill/>
          <a:ln/>
        </p:spPr>
        <p:txBody>
          <a:bodyPr wrap="square" lIns="0" tIns="0" rIns="0" bIns="0" rtlCol="0" anchor="t">
            <a:normAutofit/>
          </a:bodyPr>
          <a:lstStyle/>
          <a:p>
            <a:pPr defTabSz="1219170">
              <a:lnSpc>
                <a:spcPts val="5053"/>
              </a:lnSpc>
            </a:pPr>
            <a:r>
              <a:rPr lang="en-US" sz="3609" dirty="0">
                <a:solidFill>
                  <a:srgbClr val="FFFFFF"/>
                </a:solidFill>
                <a:latin typeface="Arial" pitchFamily="34" charset="0"/>
                <a:ea typeface="Arial" pitchFamily="34" charset="-122"/>
                <a:cs typeface="Arial" pitchFamily="34" charset="-120"/>
              </a:rPr>
              <a:t>Требует ручного выбора специалистом конкретного сбалансированного варианта для задачи предметной области</a:t>
            </a:r>
            <a:endParaRPr lang="en-US" sz="3609" dirty="0">
              <a:solidFill>
                <a:prstClr val="black"/>
              </a:solidFill>
              <a:latin typeface="Calibri" panose="020F0502020204030204"/>
            </a:endParaRPr>
          </a:p>
        </p:txBody>
      </p:sp>
      <p:pic>
        <p:nvPicPr>
          <p:cNvPr id="4" name="Image 0" descr="file:///C:/Users/Hvv13/AppData/Local/Programs/Xmind/resources/app.asar/static/snowbird/resource/markers/symbolMarkers/symbol-exclam.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4040049"/>
            <a:ext cx="487680" cy="487604"/>
          </a:xfrm>
          <a:prstGeom prst="rect">
            <a:avLst/>
          </a:prstGeom>
        </p:spPr>
      </p:pic>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3363163"/>
            <a:ext cx="10096195" cy="578815"/>
          </a:xfrm>
          <a:prstGeom prst="rect">
            <a:avLst/>
          </a:prstGeom>
        </p:spPr>
      </p:pic>
      <p:sp>
        <p:nvSpPr>
          <p:cNvPr id="6"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2412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Методы отбора лучших п...</a:t>
            </a:r>
            <a:endParaRPr lang="en-US" sz="5584" dirty="0">
              <a:solidFill>
                <a:prstClr val="black"/>
              </a:solidFill>
              <a:latin typeface="Calibri" panose="020F0502020204030204"/>
            </a:endParaRPr>
          </a:p>
        </p:txBody>
      </p:sp>
      <p:sp>
        <p:nvSpPr>
          <p:cNvPr id="3" name="Text 1"/>
          <p:cNvSpPr/>
          <p:nvPr/>
        </p:nvSpPr>
        <p:spPr>
          <a:xfrm>
            <a:off x="1188720" y="2386584"/>
            <a:ext cx="40233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Выбор колеса рулетки </a:t>
            </a:r>
            <a:endParaRPr lang="en-US" sz="2820" dirty="0">
              <a:solidFill>
                <a:prstClr val="black"/>
              </a:solidFill>
              <a:latin typeface="Calibri" panose="020F0502020204030204"/>
            </a:endParaRPr>
          </a:p>
        </p:txBody>
      </p:sp>
      <p:sp>
        <p:nvSpPr>
          <p:cNvPr id="4" name="Text 2"/>
          <p:cNvSpPr/>
          <p:nvPr/>
        </p:nvSpPr>
        <p:spPr>
          <a:xfrm>
            <a:off x="1188720" y="3331616"/>
            <a:ext cx="30480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Выбор турниром</a:t>
            </a:r>
            <a:endParaRPr lang="en-US" sz="2820" dirty="0">
              <a:solidFill>
                <a:prstClr val="black"/>
              </a:solidFill>
              <a:latin typeface="Calibri" panose="020F0502020204030204"/>
            </a:endParaRPr>
          </a:p>
        </p:txBody>
      </p:sp>
      <p:sp>
        <p:nvSpPr>
          <p:cNvPr id="5" name="Text 3"/>
          <p:cNvSpPr/>
          <p:nvPr/>
        </p:nvSpPr>
        <p:spPr>
          <a:xfrm>
            <a:off x="1188720" y="4276649"/>
            <a:ext cx="39014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Принцип элитарности</a:t>
            </a:r>
            <a:endParaRPr lang="en-US" sz="2820" dirty="0">
              <a:solidFill>
                <a:prstClr val="black"/>
              </a:solidFill>
              <a:latin typeface="Calibri" panose="020F0502020204030204"/>
            </a:endParaRPr>
          </a:p>
        </p:txBody>
      </p:sp>
      <p:sp>
        <p:nvSpPr>
          <p:cNvPr id="6" name="Text 4"/>
          <p:cNvSpPr/>
          <p:nvPr/>
        </p:nvSpPr>
        <p:spPr>
          <a:xfrm>
            <a:off x="1188720" y="5220996"/>
            <a:ext cx="32918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Отбор Больцмана</a:t>
            </a:r>
            <a:endParaRPr lang="en-US" sz="2820" dirty="0">
              <a:solidFill>
                <a:prstClr val="black"/>
              </a:solidFill>
              <a:latin typeface="Calibri" panose="020F0502020204030204"/>
            </a:endParaRPr>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276649"/>
            <a:ext cx="114605" cy="533552"/>
          </a:xfrm>
          <a:prstGeom prst="rect">
            <a:avLst/>
          </a:prstGeom>
        </p:spPr>
      </p:pic>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6" y="5220996"/>
            <a:ext cx="114605" cy="533552"/>
          </a:xfrm>
          <a:prstGeom prst="rect">
            <a:avLst/>
          </a:prstGeom>
        </p:spPr>
      </p:pic>
      <p:sp>
        <p:nvSpPr>
          <p:cNvPr id="11" name="Text 5"/>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2595" y="518466"/>
            <a:ext cx="342595" cy="3017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8272272" y="2276856"/>
            <a:ext cx="2194560" cy="233172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Выбор колеса рулетки </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770279" y="1233756"/>
            <a:ext cx="5690007" cy="4391177"/>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8017459" y="2660905"/>
            <a:ext cx="2682240" cy="157734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Выбор турниром</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515466" y="1764565"/>
            <a:ext cx="5690007" cy="3328188"/>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556601" y="2660905"/>
            <a:ext cx="3535680" cy="157734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Принцип элитарности</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175310" y="857251"/>
            <a:ext cx="5569305" cy="5143500"/>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804099" y="2660905"/>
            <a:ext cx="3169920" cy="157734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Отбор Больцмана</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302106" y="1484071"/>
            <a:ext cx="5690007" cy="3890544"/>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731520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Символический ИИ</a:t>
            </a:r>
            <a:endParaRPr lang="en-US" sz="5584" dirty="0">
              <a:solidFill>
                <a:prstClr val="black"/>
              </a:solidFill>
              <a:latin typeface="Calibri" panose="020F0502020204030204"/>
            </a:endParaRPr>
          </a:p>
        </p:txBody>
      </p:sp>
      <p:sp>
        <p:nvSpPr>
          <p:cNvPr id="3" name="Text 1"/>
          <p:cNvSpPr/>
          <p:nvPr/>
        </p:nvSpPr>
        <p:spPr>
          <a:xfrm>
            <a:off x="1188720" y="2386584"/>
            <a:ext cx="41452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Представление знаний</a:t>
            </a:r>
            <a:endParaRPr lang="en-US" sz="2820" dirty="0">
              <a:solidFill>
                <a:prstClr val="black"/>
              </a:solidFill>
              <a:latin typeface="Calibri" panose="020F0502020204030204"/>
            </a:endParaRPr>
          </a:p>
        </p:txBody>
      </p:sp>
      <p:sp>
        <p:nvSpPr>
          <p:cNvPr id="4" name="Text 2"/>
          <p:cNvSpPr/>
          <p:nvPr/>
        </p:nvSpPr>
        <p:spPr>
          <a:xfrm>
            <a:off x="1188720" y="3331616"/>
            <a:ext cx="45110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Вывод на основе правил</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sp>
        <p:nvSpPr>
          <p:cNvPr id="7" name="Text 3"/>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865632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Представление знаний</a:t>
            </a:r>
            <a:endParaRPr lang="en-US" sz="5584" dirty="0">
              <a:solidFill>
                <a:prstClr val="black"/>
              </a:solidFill>
              <a:latin typeface="Calibri" panose="020F0502020204030204"/>
            </a:endParaRPr>
          </a:p>
        </p:txBody>
      </p:sp>
      <p:sp>
        <p:nvSpPr>
          <p:cNvPr id="3" name="Text 1"/>
          <p:cNvSpPr/>
          <p:nvPr/>
        </p:nvSpPr>
        <p:spPr>
          <a:xfrm>
            <a:off x="1188720" y="2386584"/>
            <a:ext cx="36576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Семантические сети</a:t>
            </a:r>
            <a:endParaRPr lang="en-US" sz="2820" dirty="0">
              <a:solidFill>
                <a:prstClr val="black"/>
              </a:solidFill>
              <a:latin typeface="Calibri" panose="020F0502020204030204"/>
            </a:endParaRPr>
          </a:p>
        </p:txBody>
      </p:sp>
      <p:sp>
        <p:nvSpPr>
          <p:cNvPr id="4" name="Text 2"/>
          <p:cNvSpPr/>
          <p:nvPr/>
        </p:nvSpPr>
        <p:spPr>
          <a:xfrm>
            <a:off x="1188720" y="3331616"/>
            <a:ext cx="14630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Фреймы</a:t>
            </a:r>
            <a:endParaRPr lang="en-US" sz="2820" dirty="0">
              <a:solidFill>
                <a:prstClr val="black"/>
              </a:solidFill>
              <a:latin typeface="Calibri" panose="020F0502020204030204"/>
            </a:endParaRPr>
          </a:p>
        </p:txBody>
      </p:sp>
      <p:sp>
        <p:nvSpPr>
          <p:cNvPr id="5" name="Text 3"/>
          <p:cNvSpPr/>
          <p:nvPr/>
        </p:nvSpPr>
        <p:spPr>
          <a:xfrm>
            <a:off x="1188720" y="4276649"/>
            <a:ext cx="67056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Объектно-ориентированные системы</a:t>
            </a:r>
            <a:endParaRPr lang="en-US" sz="2820" dirty="0">
              <a:solidFill>
                <a:prstClr val="black"/>
              </a:solidFill>
              <a:latin typeface="Calibri" panose="020F0502020204030204"/>
            </a:endParaRPr>
          </a:p>
        </p:txBody>
      </p:sp>
      <p:sp>
        <p:nvSpPr>
          <p:cNvPr id="6" name="Text 4"/>
          <p:cNvSpPr/>
          <p:nvPr/>
        </p:nvSpPr>
        <p:spPr>
          <a:xfrm>
            <a:off x="1188720" y="5220996"/>
            <a:ext cx="19507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Подтема 4</a:t>
            </a:r>
            <a:endParaRPr lang="en-US" sz="2820" dirty="0">
              <a:solidFill>
                <a:prstClr val="black"/>
              </a:solidFill>
              <a:latin typeface="Calibri" panose="020F0502020204030204"/>
            </a:endParaRPr>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276649"/>
            <a:ext cx="114605" cy="533552"/>
          </a:xfrm>
          <a:prstGeom prst="rect">
            <a:avLst/>
          </a:prstGeom>
        </p:spPr>
      </p:pic>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6" y="5220996"/>
            <a:ext cx="114605" cy="533552"/>
          </a:xfrm>
          <a:prstGeom prst="rect">
            <a:avLst/>
          </a:prstGeom>
        </p:spPr>
      </p:pic>
      <p:sp>
        <p:nvSpPr>
          <p:cNvPr id="11" name="Text 5"/>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2595" y="518466"/>
            <a:ext cx="342595" cy="30175"/>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579767" y="2660905"/>
            <a:ext cx="3535680" cy="157734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Семантические сети</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076554" y="1641806"/>
            <a:ext cx="5690007" cy="3574389"/>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623975"/>
            <a:ext cx="9753600" cy="130302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Семантические сети</a:t>
            </a:r>
            <a:endParaRPr lang="en-US" sz="7106" dirty="0">
              <a:solidFill>
                <a:prstClr val="black"/>
              </a:solidFill>
              <a:latin typeface="Calibri" panose="020F0502020204030204"/>
            </a:endParaRPr>
          </a:p>
        </p:txBody>
      </p:sp>
      <p:sp>
        <p:nvSpPr>
          <p:cNvPr id="3" name="Text 1"/>
          <p:cNvSpPr/>
          <p:nvPr/>
        </p:nvSpPr>
        <p:spPr>
          <a:xfrm>
            <a:off x="937565" y="3450945"/>
            <a:ext cx="9631680" cy="1783080"/>
          </a:xfrm>
          <a:prstGeom prst="rect">
            <a:avLst/>
          </a:prstGeom>
          <a:noFill/>
          <a:ln/>
        </p:spPr>
        <p:txBody>
          <a:bodyPr wrap="square" lIns="0" tIns="0" rIns="0" bIns="0" rtlCol="0" anchor="t">
            <a:normAutofit/>
          </a:bodyPr>
          <a:lstStyle/>
          <a:p>
            <a:pPr defTabSz="1219170">
              <a:lnSpc>
                <a:spcPts val="6599"/>
              </a:lnSpc>
            </a:pPr>
            <a:r>
              <a:rPr lang="en-US" sz="5076" dirty="0">
                <a:solidFill>
                  <a:srgbClr val="FFFFFF"/>
                </a:solidFill>
                <a:latin typeface="Arial" pitchFamily="34" charset="0"/>
                <a:ea typeface="Arial" pitchFamily="34" charset="-122"/>
                <a:cs typeface="Arial" pitchFamily="34" charset="-120"/>
              </a:rPr>
              <a:t>Представление знаний в виде понятий и связей между ними</a:t>
            </a:r>
            <a:endParaRPr lang="en-US" sz="5076"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872131"/>
            <a:ext cx="9692640"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895539" y="2983231"/>
            <a:ext cx="2926080" cy="891540"/>
          </a:xfrm>
          <a:prstGeom prst="rect">
            <a:avLst/>
          </a:prstGeom>
          <a:noFill/>
          <a:ln/>
        </p:spPr>
        <p:txBody>
          <a:bodyPr wrap="square" lIns="0" tIns="0" rIns="0" bIns="0" rtlCol="0" anchor="t">
            <a:normAutofit/>
          </a:bodyPr>
          <a:lstStyle/>
          <a:p>
            <a:pPr defTabSz="1219170">
              <a:lnSpc>
                <a:spcPts val="6599"/>
              </a:lnSpc>
            </a:pPr>
            <a:r>
              <a:rPr lang="en-US" sz="5076" b="1" dirty="0">
                <a:solidFill>
                  <a:srgbClr val="FFFFFF"/>
                </a:solidFill>
                <a:latin typeface="Arial" pitchFamily="34" charset="0"/>
                <a:ea typeface="Arial" pitchFamily="34" charset="-122"/>
                <a:cs typeface="Arial" pitchFamily="34" charset="-120"/>
              </a:rPr>
              <a:t>Фреймы</a:t>
            </a:r>
            <a:endParaRPr lang="en-US" sz="5076"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393546" y="1084937"/>
            <a:ext cx="5690007" cy="4688815"/>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529335"/>
            <a:ext cx="4145280" cy="130302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Фреймы</a:t>
            </a:r>
            <a:endParaRPr lang="en-US" sz="7106" dirty="0">
              <a:solidFill>
                <a:prstClr val="black"/>
              </a:solidFill>
              <a:latin typeface="Calibri" panose="020F0502020204030204"/>
            </a:endParaRPr>
          </a:p>
        </p:txBody>
      </p:sp>
      <p:sp>
        <p:nvSpPr>
          <p:cNvPr id="3" name="Text 1"/>
          <p:cNvSpPr/>
          <p:nvPr/>
        </p:nvSpPr>
        <p:spPr>
          <a:xfrm>
            <a:off x="937565" y="3356991"/>
            <a:ext cx="9265920" cy="1988820"/>
          </a:xfrm>
          <a:prstGeom prst="rect">
            <a:avLst/>
          </a:prstGeom>
          <a:noFill/>
          <a:ln/>
        </p:spPr>
        <p:txBody>
          <a:bodyPr wrap="square" lIns="0" tIns="0" rIns="0" bIns="0" rtlCol="0" anchor="t">
            <a:normAutofit/>
          </a:bodyPr>
          <a:lstStyle/>
          <a:p>
            <a:pPr defTabSz="1219170">
              <a:lnSpc>
                <a:spcPts val="4864"/>
              </a:lnSpc>
            </a:pPr>
            <a:r>
              <a:rPr lang="en-US" sz="3475" dirty="0">
                <a:solidFill>
                  <a:srgbClr val="FFFFFF"/>
                </a:solidFill>
                <a:latin typeface="Arial" pitchFamily="34" charset="0"/>
                <a:ea typeface="Arial" pitchFamily="34" charset="-122"/>
                <a:cs typeface="Arial" pitchFamily="34" charset="-120"/>
              </a:rPr>
              <a:t>Представление знаний в виде составных структур (понятия и их атрибуты), а также связей между ними</a:t>
            </a:r>
            <a:endParaRPr lang="en-US" sz="3475"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777491"/>
            <a:ext cx="9159849"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567575" y="1892809"/>
            <a:ext cx="3657600" cy="308610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Объектно-ориентированные системы</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065582" y="1453896"/>
            <a:ext cx="5690007" cy="3950208"/>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66851"/>
            <a:ext cx="987552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Объектно-ориентированные ...</a:t>
            </a:r>
            <a:endParaRPr lang="en-US" sz="7106" dirty="0">
              <a:solidFill>
                <a:prstClr val="black"/>
              </a:solidFill>
              <a:latin typeface="Calibri" panose="020F0502020204030204"/>
            </a:endParaRPr>
          </a:p>
        </p:txBody>
      </p:sp>
      <p:sp>
        <p:nvSpPr>
          <p:cNvPr id="3" name="Text 1"/>
          <p:cNvSpPr/>
          <p:nvPr/>
        </p:nvSpPr>
        <p:spPr>
          <a:xfrm>
            <a:off x="937565" y="3942664"/>
            <a:ext cx="10241280" cy="2057400"/>
          </a:xfrm>
          <a:prstGeom prst="rect">
            <a:avLst/>
          </a:prstGeom>
          <a:noFill/>
          <a:ln/>
        </p:spPr>
        <p:txBody>
          <a:bodyPr wrap="square" lIns="0" tIns="0" rIns="0" bIns="0" rtlCol="0" anchor="t">
            <a:normAutofit/>
          </a:bodyPr>
          <a:lstStyle/>
          <a:p>
            <a:pPr defTabSz="1219170">
              <a:lnSpc>
                <a:spcPts val="5053"/>
              </a:lnSpc>
            </a:pPr>
            <a:r>
              <a:rPr lang="en-US" sz="3609" dirty="0">
                <a:solidFill>
                  <a:srgbClr val="FFFFFF"/>
                </a:solidFill>
                <a:latin typeface="Arial" pitchFamily="34" charset="0"/>
                <a:ea typeface="Arial" pitchFamily="34" charset="-122"/>
                <a:cs typeface="Arial" pitchFamily="34" charset="-120"/>
              </a:rPr>
              <a:t>Представление знаний в виде совокупности объектов определённой области вместе с их свойсвами и поведением</a:t>
            </a:r>
            <a:endParaRPr lang="en-US" sz="3609"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363163"/>
            <a:ext cx="10180320"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8247888" y="1988820"/>
            <a:ext cx="2926080" cy="2880360"/>
          </a:xfrm>
          <a:prstGeom prst="rect">
            <a:avLst/>
          </a:prstGeom>
          <a:noFill/>
          <a:ln/>
        </p:spPr>
        <p:txBody>
          <a:bodyPr wrap="square" lIns="0" tIns="0" rIns="0" bIns="0" rtlCol="0" anchor="t">
            <a:normAutofit/>
          </a:bodyPr>
          <a:lstStyle/>
          <a:p>
            <a:pPr algn="ctr" defTabSz="1219170">
              <a:lnSpc>
                <a:spcPts val="4264"/>
              </a:lnSpc>
            </a:pPr>
            <a:r>
              <a:rPr lang="en-US" sz="3045" b="1" dirty="0">
                <a:solidFill>
                  <a:srgbClr val="FFFFFF"/>
                </a:solidFill>
                <a:latin typeface="Arial" pitchFamily="34" charset="0"/>
                <a:ea typeface="Arial" pitchFamily="34" charset="-122"/>
                <a:cs typeface="Arial" pitchFamily="34" charset="-120"/>
              </a:rPr>
              <a:t>Символы для представления знаний и информации для последу...</a:t>
            </a:r>
            <a:endParaRPr lang="en-US" sz="3045" dirty="0">
              <a:solidFill>
                <a:prstClr val="black"/>
              </a:solidFill>
              <a:latin typeface="Calibri" panose="020F0502020204030204"/>
            </a:endParaRPr>
          </a:p>
        </p:txBody>
      </p:sp>
      <p:sp>
        <p:nvSpPr>
          <p:cNvPr id="3" name="Text 1"/>
          <p:cNvSpPr/>
          <p:nvPr/>
        </p:nvSpPr>
        <p:spPr>
          <a:xfrm>
            <a:off x="1821485" y="1728216"/>
            <a:ext cx="5242560" cy="822960"/>
          </a:xfrm>
          <a:prstGeom prst="rect">
            <a:avLst/>
          </a:prstGeom>
          <a:noFill/>
          <a:ln/>
        </p:spPr>
        <p:txBody>
          <a:bodyPr wrap="square" lIns="0" tIns="0" rIns="0" bIns="0" rtlCol="0" anchor="t">
            <a:normAutofit/>
          </a:bodyPr>
          <a:lstStyle/>
          <a:p>
            <a:pPr algn="r" defTabSz="1219170">
              <a:lnSpc>
                <a:spcPts val="5685"/>
              </a:lnSpc>
            </a:pPr>
            <a:r>
              <a:rPr lang="en-US" sz="4061" dirty="0">
                <a:solidFill>
                  <a:srgbClr val="FFFFFF"/>
                </a:solidFill>
                <a:latin typeface="Arial" pitchFamily="34" charset="0"/>
                <a:ea typeface="Arial" pitchFamily="34" charset="-122"/>
                <a:cs typeface="Arial" pitchFamily="34" charset="-120"/>
              </a:rPr>
              <a:t>Семантические сети</a:t>
            </a:r>
            <a:endParaRPr lang="en-US" sz="4061" dirty="0">
              <a:solidFill>
                <a:prstClr val="black"/>
              </a:solidFill>
              <a:latin typeface="Calibri" panose="020F0502020204030204"/>
            </a:endParaRPr>
          </a:p>
        </p:txBody>
      </p:sp>
      <p:sp>
        <p:nvSpPr>
          <p:cNvPr id="4" name="Text 2"/>
          <p:cNvSpPr/>
          <p:nvPr/>
        </p:nvSpPr>
        <p:spPr>
          <a:xfrm>
            <a:off x="6592215" y="3044952"/>
            <a:ext cx="487680" cy="822960"/>
          </a:xfrm>
          <a:prstGeom prst="rect">
            <a:avLst/>
          </a:prstGeom>
          <a:noFill/>
          <a:ln/>
        </p:spPr>
        <p:txBody>
          <a:bodyPr wrap="square" lIns="0" tIns="0" rIns="0" bIns="0" rtlCol="0" anchor="t">
            <a:normAutofit/>
          </a:bodyPr>
          <a:lstStyle/>
          <a:p>
            <a:pPr defTabSz="1219170">
              <a:lnSpc>
                <a:spcPts val="5685"/>
              </a:lnSpc>
            </a:pPr>
            <a:r>
              <a:rPr lang="en-US" sz="4061" dirty="0">
                <a:solidFill>
                  <a:srgbClr val="FFFFFF"/>
                </a:solidFill>
                <a:latin typeface="Arial" pitchFamily="34" charset="0"/>
                <a:ea typeface="Arial" pitchFamily="34" charset="-122"/>
                <a:cs typeface="Arial" pitchFamily="34" charset="-120"/>
              </a:rPr>
              <a:t>...</a:t>
            </a:r>
            <a:endParaRPr lang="en-US" sz="4061" dirty="0">
              <a:solidFill>
                <a:prstClr val="black"/>
              </a:solidFill>
              <a:latin typeface="Calibri" panose="020F0502020204030204"/>
            </a:endParaRPr>
          </a:p>
        </p:txBody>
      </p:sp>
      <p:sp>
        <p:nvSpPr>
          <p:cNvPr id="5" name="Text 3"/>
          <p:cNvSpPr/>
          <p:nvPr/>
        </p:nvSpPr>
        <p:spPr>
          <a:xfrm>
            <a:off x="953415" y="4361688"/>
            <a:ext cx="6217920" cy="822960"/>
          </a:xfrm>
          <a:prstGeom prst="rect">
            <a:avLst/>
          </a:prstGeom>
          <a:noFill/>
          <a:ln/>
        </p:spPr>
        <p:txBody>
          <a:bodyPr wrap="square" lIns="0" tIns="0" rIns="0" bIns="0" rtlCol="0" anchor="t">
            <a:normAutofit/>
          </a:bodyPr>
          <a:lstStyle/>
          <a:p>
            <a:pPr algn="r" defTabSz="1219170">
              <a:lnSpc>
                <a:spcPts val="5685"/>
              </a:lnSpc>
            </a:pPr>
            <a:r>
              <a:rPr lang="en-US" sz="4061" dirty="0">
                <a:solidFill>
                  <a:srgbClr val="FFFFFF"/>
                </a:solidFill>
                <a:latin typeface="Arial" pitchFamily="34" charset="0"/>
                <a:ea typeface="Arial" pitchFamily="34" charset="-122"/>
                <a:cs typeface="Arial" pitchFamily="34" charset="-120"/>
              </a:rPr>
              <a:t>Объектно-ориентиров...</a:t>
            </a:r>
            <a:endParaRPr lang="en-US" sz="4061"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56730" y="857251"/>
            <a:ext cx="1087527" cy="25909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56730" y="3429001"/>
            <a:ext cx="1087527" cy="2571751"/>
          </a:xfrm>
          <a:prstGeom prst="rect">
            <a:avLst/>
          </a:prstGeom>
        </p:spPr>
      </p:pic>
      <p:sp>
        <p:nvSpPr>
          <p:cNvPr id="8"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8525" y="1892809"/>
            <a:ext cx="10241280" cy="308610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Символы для представления знаний и информации для последующего вывода и рассуждений, на их основе строятся Онтологии знаний.</a:t>
            </a:r>
            <a:endParaRPr lang="en-US" sz="4061"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95097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Вывод на основе правил</a:t>
            </a:r>
            <a:endParaRPr lang="en-US" sz="5584" dirty="0">
              <a:solidFill>
                <a:prstClr val="black"/>
              </a:solidFill>
              <a:latin typeface="Calibri" panose="020F0502020204030204"/>
            </a:endParaRPr>
          </a:p>
        </p:txBody>
      </p:sp>
      <p:sp>
        <p:nvSpPr>
          <p:cNvPr id="3" name="Text 1"/>
          <p:cNvSpPr/>
          <p:nvPr/>
        </p:nvSpPr>
        <p:spPr>
          <a:xfrm>
            <a:off x="1188720" y="2386584"/>
            <a:ext cx="36576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Логические системы</a:t>
            </a:r>
            <a:endParaRPr lang="en-US" sz="2820" dirty="0">
              <a:solidFill>
                <a:prstClr val="black"/>
              </a:solidFill>
              <a:latin typeface="Calibri" panose="020F0502020204030204"/>
            </a:endParaRPr>
          </a:p>
        </p:txBody>
      </p:sp>
      <p:sp>
        <p:nvSpPr>
          <p:cNvPr id="4" name="Text 2"/>
          <p:cNvSpPr/>
          <p:nvPr/>
        </p:nvSpPr>
        <p:spPr>
          <a:xfrm>
            <a:off x="1188720" y="3331616"/>
            <a:ext cx="76809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Логико-математические (функциональные)</a:t>
            </a:r>
            <a:endParaRPr lang="en-US" sz="2820" dirty="0">
              <a:solidFill>
                <a:prstClr val="black"/>
              </a:solidFill>
              <a:latin typeface="Calibri" panose="020F0502020204030204"/>
            </a:endParaRPr>
          </a:p>
        </p:txBody>
      </p:sp>
      <p:sp>
        <p:nvSpPr>
          <p:cNvPr id="5" name="Text 3"/>
          <p:cNvSpPr/>
          <p:nvPr/>
        </p:nvSpPr>
        <p:spPr>
          <a:xfrm>
            <a:off x="1188720" y="4276649"/>
            <a:ext cx="32918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Нечёткие системы</a:t>
            </a:r>
            <a:endParaRPr lang="en-US" sz="2820"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276649"/>
            <a:ext cx="114605" cy="533552"/>
          </a:xfrm>
          <a:prstGeom prst="rect">
            <a:avLst/>
          </a:prstGeom>
        </p:spPr>
      </p:pic>
      <p:sp>
        <p:nvSpPr>
          <p:cNvPr id="9"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780935" y="2660905"/>
            <a:ext cx="3169920" cy="157734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Логические системы</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278942" y="1207693"/>
            <a:ext cx="5690007" cy="4443299"/>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72338"/>
            <a:ext cx="9997440" cy="130302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Логические системы</a:t>
            </a:r>
            <a:endParaRPr lang="en-US" sz="7106" dirty="0">
              <a:solidFill>
                <a:prstClr val="black"/>
              </a:solidFill>
              <a:latin typeface="Calibri" panose="020F0502020204030204"/>
            </a:endParaRPr>
          </a:p>
        </p:txBody>
      </p:sp>
      <p:sp>
        <p:nvSpPr>
          <p:cNvPr id="3" name="Text 1"/>
          <p:cNvSpPr/>
          <p:nvPr/>
        </p:nvSpPr>
        <p:spPr>
          <a:xfrm>
            <a:off x="937565" y="2699995"/>
            <a:ext cx="9387840" cy="3291840"/>
          </a:xfrm>
          <a:prstGeom prst="rect">
            <a:avLst/>
          </a:prstGeom>
          <a:noFill/>
          <a:ln/>
        </p:spPr>
        <p:txBody>
          <a:bodyPr wrap="square" lIns="0" tIns="0" rIns="0" bIns="0" rtlCol="0" anchor="t">
            <a:normAutofit/>
          </a:bodyPr>
          <a:lstStyle/>
          <a:p>
            <a:pPr defTabSz="1219170">
              <a:lnSpc>
                <a:spcPts val="6080"/>
              </a:lnSpc>
            </a:pPr>
            <a:r>
              <a:rPr lang="en-US" sz="4343" dirty="0">
                <a:solidFill>
                  <a:srgbClr val="FFFFFF"/>
                </a:solidFill>
                <a:latin typeface="Arial" pitchFamily="34" charset="0"/>
                <a:ea typeface="Arial" pitchFamily="34" charset="-122"/>
                <a:cs typeface="Arial" pitchFamily="34" charset="-120"/>
              </a:rPr>
              <a:t>Представление задачи в виде совокупности фактов и последующим выводом на основе правил математической логики</a:t>
            </a:r>
            <a:endParaRPr lang="en-US" sz="4343"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120494"/>
            <a:ext cx="9921849"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65161" y="1722044"/>
            <a:ext cx="3779520" cy="3429000"/>
          </a:xfrm>
          <a:prstGeom prst="rect">
            <a:avLst/>
          </a:prstGeom>
          <a:noFill/>
          <a:ln/>
        </p:spPr>
        <p:txBody>
          <a:bodyPr wrap="square" lIns="0" tIns="0" rIns="0" bIns="0" rtlCol="0" anchor="t">
            <a:normAutofit/>
          </a:bodyPr>
          <a:lstStyle/>
          <a:p>
            <a:pPr defTabSz="1219170">
              <a:lnSpc>
                <a:spcPts val="5053"/>
              </a:lnSpc>
            </a:pPr>
            <a:r>
              <a:rPr lang="en-US" sz="3609" b="1" dirty="0">
                <a:solidFill>
                  <a:srgbClr val="FFFFFF"/>
                </a:solidFill>
                <a:latin typeface="Arial" pitchFamily="34" charset="0"/>
                <a:ea typeface="Arial" pitchFamily="34" charset="-122"/>
                <a:cs typeface="Arial" pitchFamily="34" charset="-120"/>
              </a:rPr>
              <a:t>Логико-математические (функциональные)</a:t>
            </a:r>
            <a:endParaRPr lang="en-US" sz="3609"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63169" y="859309"/>
            <a:ext cx="5690007" cy="5139385"/>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62737"/>
            <a:ext cx="999744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Логико-математические (ф...</a:t>
            </a:r>
            <a:endParaRPr lang="en-US" sz="7106" dirty="0">
              <a:solidFill>
                <a:prstClr val="black"/>
              </a:solidFill>
              <a:latin typeface="Calibri" panose="020F0502020204030204"/>
            </a:endParaRPr>
          </a:p>
        </p:txBody>
      </p:sp>
      <p:sp>
        <p:nvSpPr>
          <p:cNvPr id="3" name="Text 1"/>
          <p:cNvSpPr/>
          <p:nvPr/>
        </p:nvSpPr>
        <p:spPr>
          <a:xfrm>
            <a:off x="937565" y="3937864"/>
            <a:ext cx="10241280" cy="2057400"/>
          </a:xfrm>
          <a:prstGeom prst="rect">
            <a:avLst/>
          </a:prstGeom>
          <a:noFill/>
          <a:ln/>
        </p:spPr>
        <p:txBody>
          <a:bodyPr wrap="square" lIns="0" tIns="0" rIns="0" bIns="0" rtlCol="0" anchor="t">
            <a:normAutofit/>
          </a:bodyPr>
          <a:lstStyle/>
          <a:p>
            <a:pPr defTabSz="1219170">
              <a:lnSpc>
                <a:spcPts val="3807"/>
              </a:lnSpc>
            </a:pPr>
            <a:r>
              <a:rPr lang="en-US" sz="2539" dirty="0">
                <a:solidFill>
                  <a:srgbClr val="FFFFFF"/>
                </a:solidFill>
                <a:latin typeface="Arial" pitchFamily="34" charset="0"/>
                <a:ea typeface="Arial" pitchFamily="34" charset="-122"/>
                <a:cs typeface="Arial" pitchFamily="34" charset="-120"/>
              </a:rPr>
              <a:t>Представление задачи в качестве совокупности списков (знаний о задаче) и функций, которые позволяют получать на основе одних списков другие (сущность подхода заключается в "ленивых вычислениях").</a:t>
            </a:r>
            <a:endParaRPr lang="en-US" sz="2539"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359049"/>
            <a:ext cx="10157155"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862737"/>
            <a:ext cx="10316871" cy="4186809"/>
          </a:xfrm>
          <a:prstGeom prst="rect">
            <a:avLst/>
          </a:prstGeom>
        </p:spPr>
      </p:pic>
      <p:sp>
        <p:nvSpPr>
          <p:cNvPr id="3" name="Text 0"/>
          <p:cNvSpPr/>
          <p:nvPr/>
        </p:nvSpPr>
        <p:spPr>
          <a:xfrm>
            <a:off x="937565" y="5323180"/>
            <a:ext cx="451104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Нечёткие системы</a:t>
            </a:r>
            <a:endParaRPr lang="en-US" sz="3553"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075335"/>
            <a:ext cx="8900160" cy="130302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Нечёткие системы</a:t>
            </a:r>
            <a:endParaRPr lang="en-US" sz="7106" dirty="0">
              <a:solidFill>
                <a:prstClr val="black"/>
              </a:solidFill>
              <a:latin typeface="Calibri" panose="020F0502020204030204"/>
            </a:endParaRPr>
          </a:p>
        </p:txBody>
      </p:sp>
      <p:sp>
        <p:nvSpPr>
          <p:cNvPr id="3" name="Text 1"/>
          <p:cNvSpPr/>
          <p:nvPr/>
        </p:nvSpPr>
        <p:spPr>
          <a:xfrm>
            <a:off x="937565" y="2902305"/>
            <a:ext cx="10363200" cy="2880360"/>
          </a:xfrm>
          <a:prstGeom prst="rect">
            <a:avLst/>
          </a:prstGeom>
          <a:noFill/>
          <a:ln/>
        </p:spPr>
        <p:txBody>
          <a:bodyPr wrap="square" lIns="0" tIns="0" rIns="0" bIns="0" rtlCol="0" anchor="t">
            <a:normAutofit/>
          </a:bodyPr>
          <a:lstStyle/>
          <a:p>
            <a:pPr defTabSz="1219170">
              <a:lnSpc>
                <a:spcPts val="4264"/>
              </a:lnSpc>
            </a:pPr>
            <a:r>
              <a:rPr lang="en-US" sz="3045" dirty="0">
                <a:solidFill>
                  <a:srgbClr val="FFFFFF"/>
                </a:solidFill>
                <a:latin typeface="Arial" pitchFamily="34" charset="0"/>
                <a:ea typeface="Arial" pitchFamily="34" charset="-122"/>
                <a:cs typeface="Arial" pitchFamily="34" charset="-120"/>
              </a:rPr>
              <a:t>Представление задачи с помощью нечётких множеств, в которых знание от объекте описывается не бинарным представлением (0 и 1), а диапазоном от 0 до 1, что позволяет описывать сложные системы с частичной уверенностью в фактах.</a:t>
            </a:r>
            <a:endParaRPr lang="en-US" sz="3045"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23491"/>
            <a:ext cx="10287609"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751673" y="1988820"/>
            <a:ext cx="3048000" cy="2880360"/>
          </a:xfrm>
          <a:prstGeom prst="rect">
            <a:avLst/>
          </a:prstGeom>
          <a:noFill/>
          <a:ln/>
        </p:spPr>
        <p:txBody>
          <a:bodyPr wrap="square" lIns="0" tIns="0" rIns="0" bIns="0" rtlCol="0" anchor="t">
            <a:normAutofit/>
          </a:bodyPr>
          <a:lstStyle/>
          <a:p>
            <a:pPr algn="ctr" defTabSz="1219170">
              <a:lnSpc>
                <a:spcPts val="4264"/>
              </a:lnSpc>
            </a:pPr>
            <a:r>
              <a:rPr lang="en-US" sz="3045" b="1" dirty="0">
                <a:solidFill>
                  <a:srgbClr val="FFFFFF"/>
                </a:solidFill>
                <a:latin typeface="Arial" pitchFamily="34" charset="0"/>
                <a:ea typeface="Arial" pitchFamily="34" charset="-122"/>
                <a:cs typeface="Arial" pitchFamily="34" charset="-120"/>
              </a:rPr>
              <a:t>Описывают отношения в формальном виде, то есть именно они г...</a:t>
            </a:r>
            <a:endParaRPr lang="en-US" sz="3045" dirty="0">
              <a:solidFill>
                <a:prstClr val="black"/>
              </a:solidFill>
              <a:latin typeface="Calibri" panose="020F0502020204030204"/>
            </a:endParaRPr>
          </a:p>
        </p:txBody>
      </p:sp>
      <p:sp>
        <p:nvSpPr>
          <p:cNvPr id="3" name="Text 1"/>
          <p:cNvSpPr/>
          <p:nvPr/>
        </p:nvSpPr>
        <p:spPr>
          <a:xfrm>
            <a:off x="1394765" y="1728216"/>
            <a:ext cx="5242560" cy="822960"/>
          </a:xfrm>
          <a:prstGeom prst="rect">
            <a:avLst/>
          </a:prstGeom>
          <a:noFill/>
          <a:ln/>
        </p:spPr>
        <p:txBody>
          <a:bodyPr wrap="square" lIns="0" tIns="0" rIns="0" bIns="0" rtlCol="0" anchor="t">
            <a:normAutofit/>
          </a:bodyPr>
          <a:lstStyle/>
          <a:p>
            <a:pPr algn="r" defTabSz="1219170">
              <a:lnSpc>
                <a:spcPts val="5685"/>
              </a:lnSpc>
            </a:pPr>
            <a:r>
              <a:rPr lang="en-US" sz="4061" dirty="0">
                <a:solidFill>
                  <a:srgbClr val="FFFFFF"/>
                </a:solidFill>
                <a:latin typeface="Arial" pitchFamily="34" charset="0"/>
                <a:ea typeface="Arial" pitchFamily="34" charset="-122"/>
                <a:cs typeface="Arial" pitchFamily="34" charset="-120"/>
              </a:rPr>
              <a:t>Логические системы</a:t>
            </a:r>
            <a:endParaRPr lang="en-US" sz="4061" dirty="0">
              <a:solidFill>
                <a:prstClr val="black"/>
              </a:solidFill>
              <a:latin typeface="Calibri" panose="020F0502020204030204"/>
            </a:endParaRPr>
          </a:p>
        </p:txBody>
      </p:sp>
      <p:sp>
        <p:nvSpPr>
          <p:cNvPr id="4" name="Text 2"/>
          <p:cNvSpPr/>
          <p:nvPr/>
        </p:nvSpPr>
        <p:spPr>
          <a:xfrm>
            <a:off x="6149645" y="3044952"/>
            <a:ext cx="487680" cy="822960"/>
          </a:xfrm>
          <a:prstGeom prst="rect">
            <a:avLst/>
          </a:prstGeom>
          <a:noFill/>
          <a:ln/>
        </p:spPr>
        <p:txBody>
          <a:bodyPr wrap="square" lIns="0" tIns="0" rIns="0" bIns="0" rtlCol="0" anchor="t">
            <a:normAutofit/>
          </a:bodyPr>
          <a:lstStyle/>
          <a:p>
            <a:pPr defTabSz="1219170">
              <a:lnSpc>
                <a:spcPts val="5685"/>
              </a:lnSpc>
            </a:pPr>
            <a:r>
              <a:rPr lang="en-US" sz="4061" dirty="0">
                <a:solidFill>
                  <a:srgbClr val="FFFFFF"/>
                </a:solidFill>
                <a:latin typeface="Arial" pitchFamily="34" charset="0"/>
                <a:ea typeface="Arial" pitchFamily="34" charset="-122"/>
                <a:cs typeface="Arial" pitchFamily="34" charset="-120"/>
              </a:rPr>
              <a:t>...</a:t>
            </a:r>
            <a:endParaRPr lang="en-US" sz="4061" dirty="0">
              <a:solidFill>
                <a:prstClr val="black"/>
              </a:solidFill>
              <a:latin typeface="Calibri" panose="020F0502020204030204"/>
            </a:endParaRPr>
          </a:p>
        </p:txBody>
      </p:sp>
      <p:sp>
        <p:nvSpPr>
          <p:cNvPr id="5" name="Text 3"/>
          <p:cNvSpPr/>
          <p:nvPr/>
        </p:nvSpPr>
        <p:spPr>
          <a:xfrm>
            <a:off x="1905609" y="4361688"/>
            <a:ext cx="4754880" cy="822960"/>
          </a:xfrm>
          <a:prstGeom prst="rect">
            <a:avLst/>
          </a:prstGeom>
          <a:noFill/>
          <a:ln/>
        </p:spPr>
        <p:txBody>
          <a:bodyPr wrap="square" lIns="0" tIns="0" rIns="0" bIns="0" rtlCol="0" anchor="t">
            <a:normAutofit/>
          </a:bodyPr>
          <a:lstStyle/>
          <a:p>
            <a:pPr algn="r" defTabSz="1219170">
              <a:lnSpc>
                <a:spcPts val="5685"/>
              </a:lnSpc>
            </a:pPr>
            <a:r>
              <a:rPr lang="en-US" sz="4061" dirty="0">
                <a:solidFill>
                  <a:srgbClr val="FFFFFF"/>
                </a:solidFill>
                <a:latin typeface="Arial" pitchFamily="34" charset="0"/>
                <a:ea typeface="Arial" pitchFamily="34" charset="-122"/>
                <a:cs typeface="Arial" pitchFamily="34" charset="-120"/>
              </a:rPr>
              <a:t>Нечёткие системы</a:t>
            </a:r>
            <a:endParaRPr lang="en-US" sz="4061"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5379" y="857251"/>
            <a:ext cx="1087527" cy="25909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5379" y="3429001"/>
            <a:ext cx="1087527" cy="2571751"/>
          </a:xfrm>
          <a:prstGeom prst="rect">
            <a:avLst/>
          </a:prstGeom>
        </p:spPr>
      </p:pic>
      <p:sp>
        <p:nvSpPr>
          <p:cNvPr id="8"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21689" y="1881835"/>
            <a:ext cx="10241280" cy="3154680"/>
          </a:xfrm>
          <a:prstGeom prst="rect">
            <a:avLst/>
          </a:prstGeom>
          <a:noFill/>
          <a:ln/>
        </p:spPr>
        <p:txBody>
          <a:bodyPr wrap="square" lIns="0" tIns="0" rIns="0" bIns="0" rtlCol="0" anchor="t">
            <a:normAutofit/>
          </a:bodyPr>
          <a:lstStyle/>
          <a:p>
            <a:pPr defTabSz="1219170">
              <a:lnSpc>
                <a:spcPts val="4580"/>
              </a:lnSpc>
            </a:pPr>
            <a:r>
              <a:rPr lang="en-US" sz="3271" b="1" dirty="0">
                <a:solidFill>
                  <a:srgbClr val="FFFFFF"/>
                </a:solidFill>
                <a:latin typeface="Arial" pitchFamily="34" charset="0"/>
                <a:ea typeface="Arial" pitchFamily="34" charset="-122"/>
                <a:cs typeface="Arial" pitchFamily="34" charset="-120"/>
              </a:rPr>
              <a:t>Описывают отношения в формальном виде, то есть именно они говорят системам знаний, как именно связаны данные в Онтологиях, позволяют осуществлять логические манипуляции и процессы рассуждения.</a:t>
            </a:r>
            <a:endParaRPr lang="en-US" sz="3271"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8113776" y="1988820"/>
            <a:ext cx="3048000" cy="2880360"/>
          </a:xfrm>
          <a:prstGeom prst="rect">
            <a:avLst/>
          </a:prstGeom>
          <a:noFill/>
          <a:ln/>
        </p:spPr>
        <p:txBody>
          <a:bodyPr wrap="square" lIns="0" tIns="0" rIns="0" bIns="0" rtlCol="0" anchor="t">
            <a:normAutofit/>
          </a:bodyPr>
          <a:lstStyle/>
          <a:p>
            <a:pPr algn="ctr" defTabSz="1219170">
              <a:lnSpc>
                <a:spcPts val="4264"/>
              </a:lnSpc>
            </a:pPr>
            <a:r>
              <a:rPr lang="en-US" sz="3045" b="1" dirty="0">
                <a:solidFill>
                  <a:srgbClr val="FFFFFF"/>
                </a:solidFill>
                <a:latin typeface="Arial" pitchFamily="34" charset="0"/>
                <a:ea typeface="Arial" pitchFamily="34" charset="-122"/>
                <a:cs typeface="Arial" pitchFamily="34" charset="-120"/>
              </a:rPr>
              <a:t>Вместе символьные системы и системы правил обра...</a:t>
            </a:r>
            <a:endParaRPr lang="en-US" sz="3045" dirty="0">
              <a:solidFill>
                <a:prstClr val="black"/>
              </a:solidFill>
              <a:latin typeface="Calibri" panose="020F0502020204030204"/>
            </a:endParaRPr>
          </a:p>
        </p:txBody>
      </p:sp>
      <p:sp>
        <p:nvSpPr>
          <p:cNvPr id="3" name="Text 1"/>
          <p:cNvSpPr/>
          <p:nvPr/>
        </p:nvSpPr>
        <p:spPr>
          <a:xfrm>
            <a:off x="1059485" y="2059457"/>
            <a:ext cx="5974080" cy="822960"/>
          </a:xfrm>
          <a:prstGeom prst="rect">
            <a:avLst/>
          </a:prstGeom>
          <a:noFill/>
          <a:ln/>
        </p:spPr>
        <p:txBody>
          <a:bodyPr wrap="square" lIns="0" tIns="0" rIns="0" bIns="0" rtlCol="0" anchor="t">
            <a:normAutofit/>
          </a:bodyPr>
          <a:lstStyle/>
          <a:p>
            <a:pPr algn="r" defTabSz="1219170">
              <a:lnSpc>
                <a:spcPts val="5685"/>
              </a:lnSpc>
            </a:pPr>
            <a:r>
              <a:rPr lang="en-US" sz="4061" dirty="0">
                <a:solidFill>
                  <a:srgbClr val="FFFFFF"/>
                </a:solidFill>
                <a:latin typeface="Arial" pitchFamily="34" charset="0"/>
                <a:ea typeface="Arial" pitchFamily="34" charset="-122"/>
                <a:cs typeface="Arial" pitchFamily="34" charset="-120"/>
              </a:rPr>
              <a:t>Представление знаний</a:t>
            </a:r>
            <a:endParaRPr lang="en-US" sz="4061" dirty="0">
              <a:solidFill>
                <a:prstClr val="black"/>
              </a:solidFill>
              <a:latin typeface="Calibri" panose="020F0502020204030204"/>
            </a:endParaRPr>
          </a:p>
        </p:txBody>
      </p:sp>
      <p:sp>
        <p:nvSpPr>
          <p:cNvPr id="4" name="Text 2"/>
          <p:cNvSpPr/>
          <p:nvPr/>
        </p:nvSpPr>
        <p:spPr>
          <a:xfrm>
            <a:off x="1082649" y="4030447"/>
            <a:ext cx="5974080" cy="822960"/>
          </a:xfrm>
          <a:prstGeom prst="rect">
            <a:avLst/>
          </a:prstGeom>
          <a:noFill/>
          <a:ln/>
        </p:spPr>
        <p:txBody>
          <a:bodyPr wrap="square" lIns="0" tIns="0" rIns="0" bIns="0" rtlCol="0" anchor="t">
            <a:normAutofit/>
          </a:bodyPr>
          <a:lstStyle/>
          <a:p>
            <a:pPr algn="r" defTabSz="1219170">
              <a:lnSpc>
                <a:spcPts val="5685"/>
              </a:lnSpc>
            </a:pPr>
            <a:r>
              <a:rPr lang="en-US" sz="4061" dirty="0">
                <a:solidFill>
                  <a:srgbClr val="FFFFFF"/>
                </a:solidFill>
                <a:latin typeface="Arial" pitchFamily="34" charset="0"/>
                <a:ea typeface="Arial" pitchFamily="34" charset="-122"/>
                <a:cs typeface="Arial" pitchFamily="34" charset="-120"/>
              </a:rPr>
              <a:t>Вывод на основе пра...</a:t>
            </a:r>
            <a:endParaRPr lang="en-US" sz="4061"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50659" y="857251"/>
            <a:ext cx="1087527" cy="25909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50659" y="3429001"/>
            <a:ext cx="1087527" cy="2571751"/>
          </a:xfrm>
          <a:prstGeom prst="rect">
            <a:avLst/>
          </a:prstGeom>
        </p:spPr>
      </p:pic>
      <p:sp>
        <p:nvSpPr>
          <p:cNvPr id="7" name="Text 3"/>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64387" y="2021052"/>
            <a:ext cx="10363200" cy="2880360"/>
          </a:xfrm>
          <a:prstGeom prst="rect">
            <a:avLst/>
          </a:prstGeom>
          <a:noFill/>
          <a:ln/>
        </p:spPr>
        <p:txBody>
          <a:bodyPr wrap="square" lIns="0" tIns="0" rIns="0" bIns="0" rtlCol="0" anchor="t">
            <a:normAutofit/>
          </a:bodyPr>
          <a:lstStyle/>
          <a:p>
            <a:pPr defTabSz="1219170">
              <a:lnSpc>
                <a:spcPts val="5212"/>
              </a:lnSpc>
            </a:pPr>
            <a:r>
              <a:rPr lang="en-US" sz="3723" b="1" dirty="0">
                <a:solidFill>
                  <a:srgbClr val="FFFFFF"/>
                </a:solidFill>
                <a:latin typeface="Arial" pitchFamily="34" charset="0"/>
                <a:ea typeface="Arial" pitchFamily="34" charset="-122"/>
                <a:cs typeface="Arial" pitchFamily="34" charset="-120"/>
              </a:rPr>
              <a:t>Вместе символьные системы и системы правил образуют системы на знаниях, то есть совокупность символов + совокупность правил = знания.</a:t>
            </a:r>
            <a:endParaRPr lang="en-US" sz="3723"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68045" y="2963341"/>
            <a:ext cx="10363200" cy="960120"/>
          </a:xfrm>
          <a:prstGeom prst="rect">
            <a:avLst/>
          </a:prstGeom>
          <a:noFill/>
          <a:ln/>
        </p:spPr>
        <p:txBody>
          <a:bodyPr wrap="square" lIns="0" tIns="0" rIns="0" bIns="0" rtlCol="0" anchor="t">
            <a:normAutofit/>
          </a:bodyPr>
          <a:lstStyle/>
          <a:p>
            <a:pPr algn="ctr" defTabSz="1219170">
              <a:lnSpc>
                <a:spcPts val="6892"/>
              </a:lnSpc>
            </a:pPr>
            <a:r>
              <a:rPr lang="en-US" sz="5301" b="1" dirty="0">
                <a:solidFill>
                  <a:srgbClr val="FFFFFF"/>
                </a:solidFill>
                <a:latin typeface="Arial" pitchFamily="34" charset="0"/>
                <a:ea typeface="Arial" pitchFamily="34" charset="-122"/>
                <a:cs typeface="Arial" pitchFamily="34" charset="-120"/>
              </a:rPr>
              <a:t>Основные положения курса:</a:t>
            </a:r>
            <a:endParaRPr lang="en-US" sz="5301" dirty="0">
              <a:solidFill>
                <a:prstClr val="black"/>
              </a:solidFill>
              <a:latin typeface="Calibri" panose="020F0502020204030204"/>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363200" cy="960120"/>
          </a:xfrm>
          <a:prstGeom prst="rect">
            <a:avLst/>
          </a:prstGeom>
          <a:noFill/>
          <a:ln/>
        </p:spPr>
        <p:txBody>
          <a:bodyPr wrap="square" lIns="0" tIns="0" rIns="0" bIns="0" rtlCol="0" anchor="t">
            <a:normAutofit/>
          </a:bodyPr>
          <a:lstStyle/>
          <a:p>
            <a:pPr defTabSz="1219170">
              <a:lnSpc>
                <a:spcPts val="6892"/>
              </a:lnSpc>
            </a:pPr>
            <a:r>
              <a:rPr lang="en-US" sz="5301" b="1" dirty="0">
                <a:solidFill>
                  <a:srgbClr val="FFFFFF"/>
                </a:solidFill>
                <a:latin typeface="Arial" pitchFamily="34" charset="0"/>
                <a:ea typeface="Arial" pitchFamily="34" charset="-122"/>
                <a:cs typeface="Arial" pitchFamily="34" charset="-120"/>
              </a:rPr>
              <a:t>Основные положения курса:</a:t>
            </a:r>
            <a:endParaRPr lang="en-US" sz="5301" dirty="0">
              <a:solidFill>
                <a:prstClr val="black"/>
              </a:solidFill>
              <a:latin typeface="Calibri" panose="020F0502020204030204"/>
            </a:endParaRPr>
          </a:p>
        </p:txBody>
      </p:sp>
      <p:sp>
        <p:nvSpPr>
          <p:cNvPr id="3" name="Text 1"/>
          <p:cNvSpPr/>
          <p:nvPr/>
        </p:nvSpPr>
        <p:spPr>
          <a:xfrm>
            <a:off x="1188720" y="2337207"/>
            <a:ext cx="52425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Подготовка данных и модели</a:t>
            </a:r>
            <a:endParaRPr lang="en-US" sz="2820" dirty="0">
              <a:solidFill>
                <a:prstClr val="black"/>
              </a:solidFill>
              <a:latin typeface="Calibri" panose="020F0502020204030204"/>
            </a:endParaRPr>
          </a:p>
        </p:txBody>
      </p:sp>
      <p:sp>
        <p:nvSpPr>
          <p:cNvPr id="4" name="Text 2"/>
          <p:cNvSpPr/>
          <p:nvPr/>
        </p:nvSpPr>
        <p:spPr>
          <a:xfrm>
            <a:off x="1188720" y="3282239"/>
            <a:ext cx="90220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Дискриминативные ИА для генеративных моделей</a:t>
            </a:r>
            <a:endParaRPr lang="en-US" sz="2820" dirty="0">
              <a:solidFill>
                <a:prstClr val="black"/>
              </a:solidFill>
              <a:latin typeface="Calibri" panose="020F0502020204030204"/>
            </a:endParaRPr>
          </a:p>
        </p:txBody>
      </p:sp>
      <p:sp>
        <p:nvSpPr>
          <p:cNvPr id="5" name="Text 3"/>
          <p:cNvSpPr/>
          <p:nvPr/>
        </p:nvSpPr>
        <p:spPr>
          <a:xfrm>
            <a:off x="1188720" y="4226585"/>
            <a:ext cx="58521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Модели генерация изображений</a:t>
            </a:r>
            <a:endParaRPr lang="en-US" sz="2820" dirty="0">
              <a:solidFill>
                <a:prstClr val="black"/>
              </a:solidFill>
              <a:latin typeface="Calibri" panose="020F0502020204030204"/>
            </a:endParaRPr>
          </a:p>
        </p:txBody>
      </p:sp>
      <p:sp>
        <p:nvSpPr>
          <p:cNvPr id="6" name="Text 4"/>
          <p:cNvSpPr/>
          <p:nvPr/>
        </p:nvSpPr>
        <p:spPr>
          <a:xfrm>
            <a:off x="1188720" y="5171617"/>
            <a:ext cx="46329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Модели генерации текста</a:t>
            </a:r>
            <a:endParaRPr lang="en-US" sz="2820" dirty="0">
              <a:solidFill>
                <a:prstClr val="black"/>
              </a:solidFill>
              <a:latin typeface="Calibri" panose="020F0502020204030204"/>
            </a:endParaRPr>
          </a:p>
        </p:txBody>
      </p:sp>
      <p:sp>
        <p:nvSpPr>
          <p:cNvPr id="7" name="Text 5"/>
          <p:cNvSpPr/>
          <p:nvPr/>
        </p:nvSpPr>
        <p:spPr>
          <a:xfrm>
            <a:off x="1188720" y="6116651"/>
            <a:ext cx="30480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Генерация звука</a:t>
            </a:r>
            <a:endParaRPr lang="en-US" sz="2820" dirty="0">
              <a:solidFill>
                <a:prstClr val="black"/>
              </a:solidFill>
              <a:latin typeface="Calibri" panose="020F0502020204030204"/>
            </a:endParaRPr>
          </a:p>
        </p:txBody>
      </p:sp>
      <p:sp>
        <p:nvSpPr>
          <p:cNvPr id="8" name="Text 6"/>
          <p:cNvSpPr/>
          <p:nvPr/>
        </p:nvSpPr>
        <p:spPr>
          <a:xfrm>
            <a:off x="1188720" y="7061683"/>
            <a:ext cx="68275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Другие интеллектуальные алгоритмы.</a:t>
            </a:r>
            <a:endParaRPr lang="en-US" sz="2820" dirty="0">
              <a:solidFill>
                <a:prstClr val="black"/>
              </a:solidFill>
              <a:latin typeface="Calibri" panose="020F0502020204030204"/>
            </a:endParaRPr>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37207"/>
            <a:ext cx="114605" cy="533552"/>
          </a:xfrm>
          <a:prstGeom prst="rect">
            <a:avLst/>
          </a:prstGeom>
        </p:spPr>
      </p:pic>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282239"/>
            <a:ext cx="114605" cy="533552"/>
          </a:xfrm>
          <a:prstGeom prst="rect">
            <a:avLst/>
          </a:prstGeom>
        </p:spPr>
      </p:pic>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226585"/>
            <a:ext cx="114605" cy="533552"/>
          </a:xfrm>
          <a:prstGeom prst="rect">
            <a:avLst/>
          </a:prstGeom>
        </p:spPr>
      </p:pic>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6" y="5171617"/>
            <a:ext cx="114605" cy="533552"/>
          </a:xfrm>
          <a:prstGeom prst="rect">
            <a:avLst/>
          </a:prstGeom>
        </p:spPr>
      </p:pic>
      <p:pic>
        <p:nvPicPr>
          <p:cNvPr id="1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7566" y="6116651"/>
            <a:ext cx="114605" cy="533552"/>
          </a:xfrm>
          <a:prstGeom prst="rect">
            <a:avLst/>
          </a:prstGeom>
        </p:spPr>
      </p:pic>
      <p:pic>
        <p:nvPicPr>
          <p:cNvPr id="1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37566" y="7061683"/>
            <a:ext cx="114605" cy="533552"/>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241280" cy="960120"/>
          </a:xfrm>
          <a:prstGeom prst="rect">
            <a:avLst/>
          </a:prstGeom>
          <a:noFill/>
          <a:ln/>
        </p:spPr>
        <p:txBody>
          <a:bodyPr wrap="square" lIns="0" tIns="0" rIns="0" bIns="0" rtlCol="0" anchor="t">
            <a:normAutofit/>
          </a:bodyPr>
          <a:lstStyle/>
          <a:p>
            <a:pPr defTabSz="1219170">
              <a:lnSpc>
                <a:spcPts val="6672"/>
              </a:lnSpc>
            </a:pPr>
            <a:r>
              <a:rPr lang="en-US" sz="5132" b="1" dirty="0">
                <a:solidFill>
                  <a:srgbClr val="FFFFFF"/>
                </a:solidFill>
                <a:latin typeface="Arial" pitchFamily="34" charset="0"/>
                <a:ea typeface="Arial" pitchFamily="34" charset="-122"/>
                <a:cs typeface="Arial" pitchFamily="34" charset="-120"/>
              </a:rPr>
              <a:t>Подготовка данных и модели</a:t>
            </a:r>
            <a:endParaRPr lang="en-US" sz="5132" dirty="0">
              <a:solidFill>
                <a:prstClr val="black"/>
              </a:solidFill>
              <a:latin typeface="Calibri" panose="020F0502020204030204"/>
            </a:endParaRPr>
          </a:p>
        </p:txBody>
      </p:sp>
      <p:sp>
        <p:nvSpPr>
          <p:cNvPr id="3" name="Text 1"/>
          <p:cNvSpPr/>
          <p:nvPr/>
        </p:nvSpPr>
        <p:spPr>
          <a:xfrm>
            <a:off x="1166775" y="2307031"/>
            <a:ext cx="999744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Методы Data collection необходимы для поиска качественных данных, обеспечения качества при их извлечении из источника и при обработке моделями. </a:t>
            </a:r>
            <a:endParaRPr lang="en-US" sz="2256" dirty="0">
              <a:solidFill>
                <a:prstClr val="black"/>
              </a:solidFill>
              <a:latin typeface="Calibri" panose="020F0502020204030204"/>
            </a:endParaRPr>
          </a:p>
        </p:txBody>
      </p:sp>
      <p:sp>
        <p:nvSpPr>
          <p:cNvPr id="4" name="Text 2"/>
          <p:cNvSpPr/>
          <p:nvPr/>
        </p:nvSpPr>
        <p:spPr>
          <a:xfrm>
            <a:off x="1166775" y="4090111"/>
            <a:ext cx="999744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Обработка дублирующих данных, пустых и шумовых строк позволяет обрабатывать меньше бесполезной информации, а также не создавать лишних зависимостей.</a:t>
            </a:r>
            <a:endParaRPr lang="en-US" sz="2256" dirty="0">
              <a:solidFill>
                <a:prstClr val="black"/>
              </a:solidFill>
              <a:latin typeface="Calibri" panose="020F0502020204030204"/>
            </a:endParaRPr>
          </a:p>
        </p:txBody>
      </p:sp>
      <p:sp>
        <p:nvSpPr>
          <p:cNvPr id="5" name="Text 3"/>
          <p:cNvSpPr/>
          <p:nvPr/>
        </p:nvSpPr>
        <p:spPr>
          <a:xfrm>
            <a:off x="1166775" y="5873191"/>
            <a:ext cx="975360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Расчёт статистических свойств и визуализация данных позволяют оценить однородность и сложность разделения, аппроксимации или генерации данных.</a:t>
            </a:r>
            <a:endParaRPr lang="en-US" sz="2256"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07031"/>
            <a:ext cx="91440" cy="457428"/>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4090111"/>
            <a:ext cx="91440" cy="457428"/>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5" y="5873191"/>
            <a:ext cx="91440" cy="457428"/>
          </a:xfrm>
          <a:prstGeom prst="rect">
            <a:avLst/>
          </a:prstGeom>
        </p:spPr>
      </p:pic>
      <p:sp>
        <p:nvSpPr>
          <p:cNvPr id="9"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976579"/>
            <a:ext cx="1024128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Обработка дублирующих данн...</a:t>
            </a:r>
            <a:endParaRPr lang="en-US" sz="7106" dirty="0">
              <a:solidFill>
                <a:prstClr val="black"/>
              </a:solidFill>
              <a:latin typeface="Calibri" panose="020F0502020204030204"/>
            </a:endParaRPr>
          </a:p>
        </p:txBody>
      </p:sp>
      <p:sp>
        <p:nvSpPr>
          <p:cNvPr id="3" name="Text 1"/>
          <p:cNvSpPr/>
          <p:nvPr/>
        </p:nvSpPr>
        <p:spPr>
          <a:xfrm>
            <a:off x="937565" y="4052393"/>
            <a:ext cx="10363200" cy="185166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Обработка шумовых и пропущенных значений статистическими мерами (модами, медианами, средними, мат. ожиданием и т.п.) и методами машинного обучения (регрессия, кластеризация, IQR и т.п.), позволяет восстановить потенциально полезные частично испорченные данные.</a:t>
            </a:r>
            <a:endParaRPr lang="en-US" sz="2256"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3472891"/>
            <a:ext cx="10264445"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1193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Дискриминативные ИА д...</a:t>
            </a:r>
            <a:endParaRPr lang="en-US" sz="5584" dirty="0">
              <a:solidFill>
                <a:prstClr val="black"/>
              </a:solidFill>
              <a:latin typeface="Calibri" panose="020F0502020204030204"/>
            </a:endParaRPr>
          </a:p>
        </p:txBody>
      </p:sp>
      <p:sp>
        <p:nvSpPr>
          <p:cNvPr id="3" name="Text 1"/>
          <p:cNvSpPr/>
          <p:nvPr/>
        </p:nvSpPr>
        <p:spPr>
          <a:xfrm>
            <a:off x="1188720" y="2386584"/>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Дискриминативные модели выступают основными метриками качества обучения генеративных моделей ...</a:t>
            </a:r>
            <a:endParaRPr lang="en-US" sz="2820" dirty="0">
              <a:solidFill>
                <a:prstClr val="black"/>
              </a:solidFill>
              <a:latin typeface="Calibri" panose="020F0502020204030204"/>
            </a:endParaRPr>
          </a:p>
        </p:txBody>
      </p:sp>
      <p:sp>
        <p:nvSpPr>
          <p:cNvPr id="4" name="Text 2"/>
          <p:cNvSpPr/>
          <p:nvPr/>
        </p:nvSpPr>
        <p:spPr>
          <a:xfrm>
            <a:off x="1188720" y="3865169"/>
            <a:ext cx="975360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Чем сложнее разделение или аппроксимация данных, тем более сложные требуются модели:</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sp>
        <p:nvSpPr>
          <p:cNvPr id="7" name="Text 3"/>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36320" y="1733016"/>
            <a:ext cx="10119360" cy="3429000"/>
          </a:xfrm>
          <a:prstGeom prst="rect">
            <a:avLst/>
          </a:prstGeom>
          <a:noFill/>
          <a:ln/>
        </p:spPr>
        <p:txBody>
          <a:bodyPr wrap="square" lIns="0" tIns="0" rIns="0" bIns="0" rtlCol="0" anchor="t">
            <a:normAutofit/>
          </a:bodyPr>
          <a:lstStyle/>
          <a:p>
            <a:pPr defTabSz="1219170">
              <a:lnSpc>
                <a:spcPts val="4185"/>
              </a:lnSpc>
            </a:pPr>
            <a:r>
              <a:rPr lang="en-US" sz="2989" b="1" dirty="0">
                <a:solidFill>
                  <a:srgbClr val="FFFFFF"/>
                </a:solidFill>
                <a:latin typeface="Arial" pitchFamily="34" charset="0"/>
                <a:ea typeface="Arial" pitchFamily="34" charset="-122"/>
                <a:cs typeface="Arial" pitchFamily="34" charset="-120"/>
              </a:rPr>
              <a:t>Дискриминативные модели выступают основными метриками качества обучения генеративных моделей (особенно для TSTR). Выбор и обучение моделей зависит от сложности данных (локальной и глобальной плотности, энтропии, дисперсии, разреженности и т.п.).</a:t>
            </a:r>
            <a:endParaRPr lang="en-US" sz="2989"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36320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Чем сложнее разделение ...</a:t>
            </a:r>
            <a:endParaRPr lang="en-US" sz="5584" dirty="0">
              <a:solidFill>
                <a:prstClr val="black"/>
              </a:solidFill>
              <a:latin typeface="Calibri" panose="020F0502020204030204"/>
            </a:endParaRPr>
          </a:p>
        </p:txBody>
      </p:sp>
      <p:sp>
        <p:nvSpPr>
          <p:cNvPr id="3" name="Text 1"/>
          <p:cNvSpPr/>
          <p:nvPr/>
        </p:nvSpPr>
        <p:spPr>
          <a:xfrm>
            <a:off x="1166775" y="2386584"/>
            <a:ext cx="902208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Линейные модели - проще в построении и обучения, но хуже описывают или разделяют данные, обладают выразительными предсказательными свойствами.</a:t>
            </a:r>
            <a:endParaRPr lang="en-US" sz="2256" dirty="0">
              <a:solidFill>
                <a:prstClr val="black"/>
              </a:solidFill>
              <a:latin typeface="Calibri" panose="020F0502020204030204"/>
            </a:endParaRPr>
          </a:p>
        </p:txBody>
      </p:sp>
      <p:sp>
        <p:nvSpPr>
          <p:cNvPr id="4" name="Text 2"/>
          <p:cNvSpPr/>
          <p:nvPr/>
        </p:nvSpPr>
        <p:spPr>
          <a:xfrm>
            <a:off x="1166775" y="4169664"/>
            <a:ext cx="1011936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Нелинейные модели - имеют сложные разделяющие и аппроксимирующие поверхности, сложнее обучаются и склоны к пер...</a:t>
            </a:r>
            <a:endParaRPr lang="en-US" sz="2256"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86585"/>
            <a:ext cx="91440" cy="457428"/>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4169665"/>
            <a:ext cx="91440" cy="457428"/>
          </a:xfrm>
          <a:prstGeom prst="rect">
            <a:avLst/>
          </a:prstGeom>
        </p:spPr>
      </p:pic>
      <p:sp>
        <p:nvSpPr>
          <p:cNvPr id="7" name="Text 3"/>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52195" y="1829029"/>
            <a:ext cx="10363200" cy="3223260"/>
          </a:xfrm>
          <a:prstGeom prst="rect">
            <a:avLst/>
          </a:prstGeom>
          <a:noFill/>
          <a:ln/>
        </p:spPr>
        <p:txBody>
          <a:bodyPr wrap="square" lIns="0" tIns="0" rIns="0" bIns="0" rtlCol="0" anchor="t">
            <a:normAutofit/>
          </a:bodyPr>
          <a:lstStyle/>
          <a:p>
            <a:pPr defTabSz="1219170">
              <a:lnSpc>
                <a:spcPts val="4737"/>
              </a:lnSpc>
            </a:pPr>
            <a:r>
              <a:rPr lang="en-US" sz="3384" b="1" dirty="0">
                <a:solidFill>
                  <a:srgbClr val="FFFFFF"/>
                </a:solidFill>
                <a:latin typeface="Arial" pitchFamily="34" charset="0"/>
                <a:ea typeface="Arial" pitchFamily="34" charset="-122"/>
                <a:cs typeface="Arial" pitchFamily="34" charset="-120"/>
              </a:rPr>
              <a:t>Нелинейные модели - имеют сложные разделяющие и аппроксимирующие поверхности, сложнее обучаются и склоны к переобучению, но дают лучшее результаты на большем количестве сложных данных.</a:t>
            </a:r>
            <a:endParaRPr lang="en-US" sz="3384"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085622"/>
            <a:ext cx="890016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Модели генерация изображений</a:t>
            </a:r>
            <a:endParaRPr lang="en-US" sz="7106" dirty="0">
              <a:solidFill>
                <a:prstClr val="black"/>
              </a:solidFill>
              <a:latin typeface="Calibri" panose="020F0502020204030204"/>
            </a:endParaRPr>
          </a:p>
        </p:txBody>
      </p:sp>
      <p:sp>
        <p:nvSpPr>
          <p:cNvPr id="3" name="Text 1"/>
          <p:cNvSpPr/>
          <p:nvPr/>
        </p:nvSpPr>
        <p:spPr>
          <a:xfrm>
            <a:off x="937565" y="4160748"/>
            <a:ext cx="10363200" cy="1645920"/>
          </a:xfrm>
          <a:prstGeom prst="rect">
            <a:avLst/>
          </a:prstGeom>
          <a:noFill/>
          <a:ln/>
        </p:spPr>
        <p:txBody>
          <a:bodyPr wrap="square" lIns="0" tIns="0" rIns="0" bIns="0" rtlCol="0" anchor="t">
            <a:normAutofit/>
          </a:bodyPr>
          <a:lstStyle/>
          <a:p>
            <a:pPr defTabSz="1219170">
              <a:lnSpc>
                <a:spcPts val="3976"/>
              </a:lnSpc>
            </a:pPr>
            <a:r>
              <a:rPr lang="en-US" sz="2651" dirty="0">
                <a:solidFill>
                  <a:srgbClr val="FFFFFF"/>
                </a:solidFill>
                <a:latin typeface="Arial" pitchFamily="34" charset="0"/>
                <a:ea typeface="Arial" pitchFamily="34" charset="-122"/>
                <a:cs typeface="Arial" pitchFamily="34" charset="-120"/>
              </a:rPr>
              <a:t>В основе генерации фото, видео и звука лежат 3 основных семейства моделей - генеративно состязательных (GAN), вариационных автоэнкодеры (VAE) и диффузионные модели.  </a:t>
            </a:r>
            <a:endParaRPr lang="en-US" sz="2651"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3581934"/>
            <a:ext cx="10316871"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36320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В основе генерации фото...</a:t>
            </a:r>
            <a:endParaRPr lang="en-US" sz="5584" dirty="0">
              <a:solidFill>
                <a:prstClr val="black"/>
              </a:solidFill>
              <a:latin typeface="Calibri" panose="020F0502020204030204"/>
            </a:endParaRPr>
          </a:p>
        </p:txBody>
      </p:sp>
      <p:sp>
        <p:nvSpPr>
          <p:cNvPr id="3" name="Text 1"/>
          <p:cNvSpPr/>
          <p:nvPr/>
        </p:nvSpPr>
        <p:spPr>
          <a:xfrm>
            <a:off x="1166775" y="2386584"/>
            <a:ext cx="1011936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GAN создаёт данные из шума, обучая генератор на ошибках распознающего его искусственные данные дискриминатора, из-за не...</a:t>
            </a:r>
            <a:endParaRPr lang="en-US" sz="2256" dirty="0">
              <a:solidFill>
                <a:prstClr val="black"/>
              </a:solidFill>
              <a:latin typeface="Calibri" panose="020F0502020204030204"/>
            </a:endParaRPr>
          </a:p>
        </p:txBody>
      </p:sp>
      <p:sp>
        <p:nvSpPr>
          <p:cNvPr id="4" name="Text 2"/>
          <p:cNvSpPr/>
          <p:nvPr/>
        </p:nvSpPr>
        <p:spPr>
          <a:xfrm>
            <a:off x="1166775" y="3712236"/>
            <a:ext cx="999744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VAE за счёт энкодера, бутылочного горлышка латентного пространства и декодера создаёт из реальных данных их искажённ...</a:t>
            </a:r>
            <a:endParaRPr lang="en-US" sz="2256" dirty="0">
              <a:solidFill>
                <a:prstClr val="black"/>
              </a:solidFill>
              <a:latin typeface="Calibri" panose="020F0502020204030204"/>
            </a:endParaRPr>
          </a:p>
        </p:txBody>
      </p:sp>
      <p:sp>
        <p:nvSpPr>
          <p:cNvPr id="5" name="Text 3"/>
          <p:cNvSpPr/>
          <p:nvPr/>
        </p:nvSpPr>
        <p:spPr>
          <a:xfrm>
            <a:off x="1166775" y="5038572"/>
            <a:ext cx="1011936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Диффузионная модель на за счёт постепенного добавления и снятия шума создаёт реалистичные данные, похожие на исходные, однако т...</a:t>
            </a:r>
            <a:endParaRPr lang="en-US" sz="2256"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86585"/>
            <a:ext cx="91440" cy="457428"/>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3712237"/>
            <a:ext cx="91440" cy="457428"/>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5" y="5038573"/>
            <a:ext cx="91440" cy="457428"/>
          </a:xfrm>
          <a:prstGeom prst="rect">
            <a:avLst/>
          </a:prstGeom>
        </p:spPr>
      </p:pic>
      <p:sp>
        <p:nvSpPr>
          <p:cNvPr id="9"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77773" y="1733016"/>
            <a:ext cx="10119360" cy="3429000"/>
          </a:xfrm>
          <a:prstGeom prst="rect">
            <a:avLst/>
          </a:prstGeom>
          <a:noFill/>
          <a:ln/>
        </p:spPr>
        <p:txBody>
          <a:bodyPr wrap="square" lIns="0" tIns="0" rIns="0" bIns="0" rtlCol="0" anchor="t">
            <a:normAutofit/>
          </a:bodyPr>
          <a:lstStyle/>
          <a:p>
            <a:pPr defTabSz="1219170">
              <a:lnSpc>
                <a:spcPts val="4185"/>
              </a:lnSpc>
            </a:pPr>
            <a:r>
              <a:rPr lang="en-US" sz="2989" b="1" dirty="0">
                <a:solidFill>
                  <a:srgbClr val="FFFFFF"/>
                </a:solidFill>
                <a:latin typeface="Arial" pitchFamily="34" charset="0"/>
                <a:ea typeface="Arial" pitchFamily="34" charset="-122"/>
                <a:cs typeface="Arial" pitchFamily="34" charset="-120"/>
              </a:rPr>
              <a:t>GAN создаёт данные из шума, обучая генератор на ошибках распознающего его искусственные данные дискриминатора, из-за неправильного обучения или переобучения способен впадать в состояние коллапса режимов, создавая одни и те же низкокачественные данные.</a:t>
            </a:r>
            <a:endParaRPr lang="en-US" sz="2989"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21689" y="1881835"/>
            <a:ext cx="10241280" cy="3154680"/>
          </a:xfrm>
          <a:prstGeom prst="rect">
            <a:avLst/>
          </a:prstGeom>
          <a:noFill/>
          <a:ln/>
        </p:spPr>
        <p:txBody>
          <a:bodyPr wrap="square" lIns="0" tIns="0" rIns="0" bIns="0" rtlCol="0" anchor="t">
            <a:normAutofit/>
          </a:bodyPr>
          <a:lstStyle/>
          <a:p>
            <a:pPr defTabSz="1219170">
              <a:lnSpc>
                <a:spcPts val="4580"/>
              </a:lnSpc>
            </a:pPr>
            <a:r>
              <a:rPr lang="en-US" sz="3271" b="1" dirty="0">
                <a:solidFill>
                  <a:srgbClr val="FFFFFF"/>
                </a:solidFill>
                <a:latin typeface="Arial" pitchFamily="34" charset="0"/>
                <a:ea typeface="Arial" pitchFamily="34" charset="-122"/>
                <a:cs typeface="Arial" pitchFamily="34" charset="-120"/>
              </a:rPr>
              <a:t>VAE за счёт энкодера, бутылочного горлышка латентного пространства и декодера создаёт из реальных данных их искажённые данные копии на основе изученного генерализированного вектора признаков.</a:t>
            </a:r>
            <a:endParaRPr lang="en-US" sz="3271"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8525" y="1988820"/>
            <a:ext cx="10241280" cy="2880360"/>
          </a:xfrm>
          <a:prstGeom prst="rect">
            <a:avLst/>
          </a:prstGeom>
          <a:noFill/>
          <a:ln/>
        </p:spPr>
        <p:txBody>
          <a:bodyPr wrap="square" lIns="0" tIns="0" rIns="0" bIns="0" rtlCol="0" anchor="t">
            <a:normAutofit/>
          </a:bodyPr>
          <a:lstStyle/>
          <a:p>
            <a:pPr defTabSz="1219170">
              <a:lnSpc>
                <a:spcPts val="4264"/>
              </a:lnSpc>
            </a:pPr>
            <a:r>
              <a:rPr lang="en-US" sz="3045" b="1" dirty="0">
                <a:solidFill>
                  <a:srgbClr val="FFFFFF"/>
                </a:solidFill>
                <a:latin typeface="Arial" pitchFamily="34" charset="0"/>
                <a:ea typeface="Arial" pitchFamily="34" charset="-122"/>
                <a:cs typeface="Arial" pitchFamily="34" charset="-120"/>
              </a:rPr>
              <a:t>Диффузионная модель на за счёт постепенного добавления и снятия шума создаёт реалистичные данные, похожие на исходные, однако требуют больших вычислительных ресурсов (более плавный и мягкий вариант VAE).</a:t>
            </a:r>
            <a:endParaRPr lang="en-US" sz="3045"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96316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Модели генерации текста</a:t>
            </a:r>
            <a:endParaRPr lang="en-US" sz="5584" dirty="0">
              <a:solidFill>
                <a:prstClr val="black"/>
              </a:solidFill>
              <a:latin typeface="Calibri" panose="020F0502020204030204"/>
            </a:endParaRPr>
          </a:p>
        </p:txBody>
      </p:sp>
      <p:sp>
        <p:nvSpPr>
          <p:cNvPr id="3" name="Text 1"/>
          <p:cNvSpPr/>
          <p:nvPr/>
        </p:nvSpPr>
        <p:spPr>
          <a:xfrm>
            <a:off x="1166775" y="2386584"/>
            <a:ext cx="999744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Для простых задач на малых данных вроде поиска слов, классификации текста и коррекции слов применяются простые токе...</a:t>
            </a:r>
            <a:endParaRPr lang="en-US" sz="2256" dirty="0">
              <a:solidFill>
                <a:prstClr val="black"/>
              </a:solidFill>
              <a:latin typeface="Calibri" panose="020F0502020204030204"/>
            </a:endParaRPr>
          </a:p>
        </p:txBody>
      </p:sp>
      <p:sp>
        <p:nvSpPr>
          <p:cNvPr id="4" name="Text 2"/>
          <p:cNvSpPr/>
          <p:nvPr/>
        </p:nvSpPr>
        <p:spPr>
          <a:xfrm>
            <a:off x="1166775" y="3712236"/>
            <a:ext cx="963168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В задачах NLP при создании чат-ботов, генерации документов, суммаризации текста и т.п. применяются 3 основных типа моделей трансформеров:</a:t>
            </a:r>
            <a:endParaRPr lang="en-US" sz="2256"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86585"/>
            <a:ext cx="91440" cy="457428"/>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3712237"/>
            <a:ext cx="91440" cy="457428"/>
          </a:xfrm>
          <a:prstGeom prst="rect">
            <a:avLst/>
          </a:prstGeom>
        </p:spPr>
      </p:pic>
      <p:sp>
        <p:nvSpPr>
          <p:cNvPr id="7" name="Text 3"/>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733016"/>
            <a:ext cx="10363200" cy="3429000"/>
          </a:xfrm>
          <a:prstGeom prst="rect">
            <a:avLst/>
          </a:prstGeom>
          <a:noFill/>
          <a:ln/>
        </p:spPr>
        <p:txBody>
          <a:bodyPr wrap="square" lIns="0" tIns="0" rIns="0" bIns="0" rtlCol="0" anchor="t">
            <a:normAutofit/>
          </a:bodyPr>
          <a:lstStyle/>
          <a:p>
            <a:pPr defTabSz="1219170">
              <a:lnSpc>
                <a:spcPts val="4185"/>
              </a:lnSpc>
            </a:pPr>
            <a:r>
              <a:rPr lang="en-US" sz="2989" b="1" dirty="0">
                <a:solidFill>
                  <a:srgbClr val="FFFFFF"/>
                </a:solidFill>
                <a:latin typeface="Arial" pitchFamily="34" charset="0"/>
                <a:ea typeface="Arial" pitchFamily="34" charset="-122"/>
                <a:cs typeface="Arial" pitchFamily="34" charset="-120"/>
              </a:rPr>
              <a:t>Для простых задач на малых данных вроде поиска слов, классификации текста и коррекции слов применяются простые токенезаторы (one-hot encoder, Byte Pair Encoding, WordPiece) и классические архитектуры нейронных сетей вроде стандартных реккурентных сетей и seq2seq.</a:t>
            </a:r>
            <a:endParaRPr lang="en-US" sz="2989"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999744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В задачах NLP при созда...</a:t>
            </a:r>
            <a:endParaRPr lang="en-US" sz="5584" dirty="0">
              <a:solidFill>
                <a:prstClr val="black"/>
              </a:solidFill>
              <a:latin typeface="Calibri" panose="020F0502020204030204"/>
            </a:endParaRPr>
          </a:p>
        </p:txBody>
      </p:sp>
      <p:sp>
        <p:nvSpPr>
          <p:cNvPr id="3" name="Text 1"/>
          <p:cNvSpPr/>
          <p:nvPr/>
        </p:nvSpPr>
        <p:spPr>
          <a:xfrm>
            <a:off x="1188720" y="2386584"/>
            <a:ext cx="82905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Encoder-only (BERT) для обработки контекста.</a:t>
            </a:r>
            <a:endParaRPr lang="en-US" sz="2820" dirty="0">
              <a:solidFill>
                <a:prstClr val="black"/>
              </a:solidFill>
              <a:latin typeface="Calibri" panose="020F0502020204030204"/>
            </a:endParaRPr>
          </a:p>
        </p:txBody>
      </p:sp>
      <p:sp>
        <p:nvSpPr>
          <p:cNvPr id="4" name="Text 2"/>
          <p:cNvSpPr/>
          <p:nvPr/>
        </p:nvSpPr>
        <p:spPr>
          <a:xfrm>
            <a:off x="1188720" y="3331616"/>
            <a:ext cx="75590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Decoder-only (GPT) для генерации текста.</a:t>
            </a:r>
            <a:endParaRPr lang="en-US" sz="2820" dirty="0">
              <a:solidFill>
                <a:prstClr val="black"/>
              </a:solidFill>
              <a:latin typeface="Calibri" panose="020F0502020204030204"/>
            </a:endParaRPr>
          </a:p>
        </p:txBody>
      </p:sp>
      <p:sp>
        <p:nvSpPr>
          <p:cNvPr id="5" name="Text 3"/>
          <p:cNvSpPr/>
          <p:nvPr/>
        </p:nvSpPr>
        <p:spPr>
          <a:xfrm>
            <a:off x="1188720" y="4276649"/>
            <a:ext cx="87782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Encoder-decoder (T5) для машинного перевода и написания кода.</a:t>
            </a:r>
            <a:endParaRPr lang="en-US" sz="2820"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276649"/>
            <a:ext cx="114605" cy="533552"/>
          </a:xfrm>
          <a:prstGeom prst="rect">
            <a:avLst/>
          </a:prstGeom>
        </p:spPr>
      </p:pic>
      <p:sp>
        <p:nvSpPr>
          <p:cNvPr id="9"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62051"/>
            <a:ext cx="7924800" cy="130302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Генерация звука</a:t>
            </a:r>
            <a:endParaRPr lang="en-US" sz="7106" dirty="0">
              <a:solidFill>
                <a:prstClr val="black"/>
              </a:solidFill>
              <a:latin typeface="Calibri" panose="020F0502020204030204"/>
            </a:endParaRPr>
          </a:p>
        </p:txBody>
      </p:sp>
      <p:sp>
        <p:nvSpPr>
          <p:cNvPr id="3" name="Text 1"/>
          <p:cNvSpPr/>
          <p:nvPr/>
        </p:nvSpPr>
        <p:spPr>
          <a:xfrm>
            <a:off x="937565" y="2689022"/>
            <a:ext cx="9631680" cy="3360420"/>
          </a:xfrm>
          <a:prstGeom prst="rect">
            <a:avLst/>
          </a:prstGeom>
          <a:noFill/>
          <a:ln/>
        </p:spPr>
        <p:txBody>
          <a:bodyPr wrap="square" lIns="0" tIns="0" rIns="0" bIns="0" rtlCol="0" anchor="t">
            <a:normAutofit/>
          </a:bodyPr>
          <a:lstStyle/>
          <a:p>
            <a:pPr defTabSz="1219170">
              <a:lnSpc>
                <a:spcPts val="4896"/>
              </a:lnSpc>
            </a:pPr>
            <a:r>
              <a:rPr lang="en-US" sz="3497" dirty="0">
                <a:solidFill>
                  <a:srgbClr val="FFFFFF"/>
                </a:solidFill>
                <a:latin typeface="Arial" pitchFamily="34" charset="0"/>
                <a:ea typeface="Arial" pitchFamily="34" charset="-122"/>
                <a:cs typeface="Arial" pitchFamily="34" charset="-120"/>
              </a:rPr>
              <a:t>Основными моделями для обработки звука выступают Авторегрессионные модели, так как сам звуковой ряд обладает ярко выраженными авторегрессиоными свойствами.</a:t>
            </a:r>
            <a:endParaRPr lang="en-US" sz="34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110207"/>
            <a:ext cx="9586569"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2412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Другие интеллектуальны...</a:t>
            </a:r>
            <a:endParaRPr lang="en-US" sz="5584" dirty="0">
              <a:solidFill>
                <a:prstClr val="black"/>
              </a:solidFill>
              <a:latin typeface="Calibri" panose="020F0502020204030204"/>
            </a:endParaRPr>
          </a:p>
        </p:txBody>
      </p:sp>
      <p:sp>
        <p:nvSpPr>
          <p:cNvPr id="3" name="Text 1"/>
          <p:cNvSpPr/>
          <p:nvPr/>
        </p:nvSpPr>
        <p:spPr>
          <a:xfrm>
            <a:off x="1188720" y="2386584"/>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Интеллектуальные агенты позволяют автоматизировать деятельность по обучению и применению интеллектуа...</a:t>
            </a:r>
            <a:endParaRPr lang="en-US" sz="2820" dirty="0">
              <a:solidFill>
                <a:prstClr val="black"/>
              </a:solidFill>
              <a:latin typeface="Calibri" panose="020F0502020204030204"/>
            </a:endParaRPr>
          </a:p>
        </p:txBody>
      </p:sp>
      <p:sp>
        <p:nvSpPr>
          <p:cNvPr id="4" name="Text 2"/>
          <p:cNvSpPr/>
          <p:nvPr/>
        </p:nvSpPr>
        <p:spPr>
          <a:xfrm>
            <a:off x="1188720" y="3865169"/>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Одиночные агенты способны с высокой производительностью автоматизировать последовате...</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sp>
        <p:nvSpPr>
          <p:cNvPr id="7" name="Text 3"/>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25347" y="1733016"/>
            <a:ext cx="10241280" cy="3429000"/>
          </a:xfrm>
          <a:prstGeom prst="rect">
            <a:avLst/>
          </a:prstGeom>
          <a:noFill/>
          <a:ln/>
        </p:spPr>
        <p:txBody>
          <a:bodyPr wrap="square" lIns="0" tIns="0" rIns="0" bIns="0" rtlCol="0" anchor="t">
            <a:normAutofit/>
          </a:bodyPr>
          <a:lstStyle/>
          <a:p>
            <a:pPr defTabSz="1219170">
              <a:lnSpc>
                <a:spcPts val="4185"/>
              </a:lnSpc>
            </a:pPr>
            <a:r>
              <a:rPr lang="en-US" sz="2989" b="1" dirty="0">
                <a:solidFill>
                  <a:srgbClr val="FFFFFF"/>
                </a:solidFill>
                <a:latin typeface="Arial" pitchFamily="34" charset="0"/>
                <a:ea typeface="Arial" pitchFamily="34" charset="-122"/>
                <a:cs typeface="Arial" pitchFamily="34" charset="-120"/>
              </a:rPr>
              <a:t>Интеллектуальные агенты позволяют автоматизировать деятельность по обучению и применению интеллектуальных моделей, одновременно выполняя задачи разных модальностей и/или разные задачи относительно конкретной модальности.</a:t>
            </a:r>
            <a:endParaRPr lang="en-US" sz="2989"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4867" y="2194560"/>
            <a:ext cx="10241280" cy="2468880"/>
          </a:xfrm>
          <a:prstGeom prst="rect">
            <a:avLst/>
          </a:prstGeom>
          <a:noFill/>
          <a:ln/>
        </p:spPr>
        <p:txBody>
          <a:bodyPr wrap="square" lIns="0" tIns="0" rIns="0" bIns="0" rtlCol="0" anchor="t">
            <a:normAutofit/>
          </a:bodyPr>
          <a:lstStyle/>
          <a:p>
            <a:pPr defTabSz="1219170">
              <a:lnSpc>
                <a:spcPts val="3045"/>
              </a:lnSpc>
            </a:pPr>
            <a:r>
              <a:rPr lang="en-US" sz="2031" b="1" dirty="0">
                <a:solidFill>
                  <a:srgbClr val="FFFFFF"/>
                </a:solidFill>
                <a:latin typeface="Arial" pitchFamily="34" charset="0"/>
                <a:ea typeface="Arial" pitchFamily="34" charset="-122"/>
                <a:cs typeface="Arial" pitchFamily="34" charset="-120"/>
              </a:rPr>
              <a:t>Одиночные агенты способны с высокой производительностью автоматизировать последовательную деятельность пользователя при работе с моделями. Многоагентные системы позволяют одновременно выполнять задачи пользователя и декомпозировать их, а также использовать несколько агентов для конкретной задачи, чтобы повысить качество результата. </a:t>
            </a:r>
            <a:endParaRPr lang="en-US" sz="2031"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Основные положения курса:</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2968</Words>
  <Application>Microsoft Office PowerPoint</Application>
  <PresentationFormat>Широкоэкранный</PresentationFormat>
  <Paragraphs>432</Paragraphs>
  <Slides>108</Slides>
  <Notes>108</Notes>
  <HiddenSlides>0</HiddenSlides>
  <MMClips>0</MMClips>
  <ScaleCrop>false</ScaleCrop>
  <HeadingPairs>
    <vt:vector size="6" baseType="variant">
      <vt:variant>
        <vt:lpstr>Использованные шрифты</vt:lpstr>
      </vt:variant>
      <vt:variant>
        <vt:i4>3</vt:i4>
      </vt:variant>
      <vt:variant>
        <vt:lpstr>Тема</vt:lpstr>
      </vt:variant>
      <vt:variant>
        <vt:i4>2</vt:i4>
      </vt:variant>
      <vt:variant>
        <vt:lpstr>Заголовки слайдов</vt:lpstr>
      </vt:variant>
      <vt:variant>
        <vt:i4>108</vt:i4>
      </vt:variant>
    </vt:vector>
  </HeadingPairs>
  <TitlesOfParts>
    <vt:vector size="113" baseType="lpstr">
      <vt:lpstr>Arial</vt:lpstr>
      <vt:lpstr>Calibri</vt:lpstr>
      <vt:lpstr>Calibri Light</vt:lpstr>
      <vt:lpstr>Тема Office</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Владислав Холмогоров</dc:creator>
  <cp:lastModifiedBy>Владислав Холмогоров</cp:lastModifiedBy>
  <cp:revision>1</cp:revision>
  <dcterms:created xsi:type="dcterms:W3CDTF">2026-06-16T10:50:52Z</dcterms:created>
  <dcterms:modified xsi:type="dcterms:W3CDTF">2026-06-16T10:54:11Z</dcterms:modified>
</cp:coreProperties>
</file>
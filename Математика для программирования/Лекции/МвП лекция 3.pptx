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7"/>
  </p:notesMasterIdLst>
  <p:sldIdLst>
    <p:sldId id="371" r:id="rId3"/>
    <p:sldId id="372" r:id="rId4"/>
    <p:sldId id="373" r:id="rId5"/>
    <p:sldId id="374" r:id="rId6"/>
    <p:sldId id="375" r:id="rId7"/>
    <p:sldId id="376" r:id="rId8"/>
    <p:sldId id="377" r:id="rId9"/>
    <p:sldId id="378" r:id="rId10"/>
    <p:sldId id="379" r:id="rId11"/>
    <p:sldId id="380" r:id="rId12"/>
    <p:sldId id="381" r:id="rId13"/>
    <p:sldId id="382" r:id="rId14"/>
    <p:sldId id="383" r:id="rId15"/>
    <p:sldId id="384" r:id="rId16"/>
    <p:sldId id="385" r:id="rId17"/>
    <p:sldId id="386" r:id="rId18"/>
    <p:sldId id="387" r:id="rId19"/>
    <p:sldId id="388" r:id="rId20"/>
    <p:sldId id="389" r:id="rId21"/>
    <p:sldId id="390" r:id="rId22"/>
    <p:sldId id="391" r:id="rId23"/>
    <p:sldId id="392" r:id="rId24"/>
    <p:sldId id="393" r:id="rId25"/>
    <p:sldId id="394" r:id="rId26"/>
    <p:sldId id="395" r:id="rId27"/>
    <p:sldId id="396" r:id="rId28"/>
    <p:sldId id="397" r:id="rId29"/>
    <p:sldId id="398" r:id="rId30"/>
    <p:sldId id="399" r:id="rId31"/>
    <p:sldId id="400" r:id="rId32"/>
    <p:sldId id="401" r:id="rId33"/>
    <p:sldId id="402" r:id="rId34"/>
    <p:sldId id="403" r:id="rId35"/>
    <p:sldId id="404" r:id="rId36"/>
    <p:sldId id="405" r:id="rId37"/>
    <p:sldId id="406" r:id="rId38"/>
    <p:sldId id="407" r:id="rId39"/>
    <p:sldId id="408" r:id="rId40"/>
    <p:sldId id="409" r:id="rId41"/>
    <p:sldId id="410" r:id="rId42"/>
    <p:sldId id="411" r:id="rId43"/>
    <p:sldId id="412" r:id="rId44"/>
    <p:sldId id="413" r:id="rId45"/>
    <p:sldId id="414" r:id="rId46"/>
    <p:sldId id="415" r:id="rId47"/>
    <p:sldId id="416" r:id="rId48"/>
    <p:sldId id="417" r:id="rId49"/>
    <p:sldId id="418" r:id="rId50"/>
    <p:sldId id="419" r:id="rId51"/>
    <p:sldId id="420" r:id="rId52"/>
    <p:sldId id="421" r:id="rId53"/>
    <p:sldId id="422" r:id="rId54"/>
    <p:sldId id="423" r:id="rId55"/>
    <p:sldId id="424" r:id="rId56"/>
    <p:sldId id="425" r:id="rId57"/>
    <p:sldId id="426" r:id="rId58"/>
    <p:sldId id="427" r:id="rId59"/>
    <p:sldId id="428" r:id="rId60"/>
    <p:sldId id="429" r:id="rId61"/>
    <p:sldId id="430" r:id="rId62"/>
    <p:sldId id="431" r:id="rId63"/>
    <p:sldId id="432" r:id="rId64"/>
    <p:sldId id="433" r:id="rId65"/>
    <p:sldId id="434" r:id="rId66"/>
    <p:sldId id="435" r:id="rId67"/>
    <p:sldId id="436" r:id="rId68"/>
    <p:sldId id="437" r:id="rId69"/>
    <p:sldId id="438" r:id="rId70"/>
    <p:sldId id="439" r:id="rId71"/>
    <p:sldId id="440" r:id="rId72"/>
    <p:sldId id="441" r:id="rId73"/>
    <p:sldId id="442" r:id="rId74"/>
    <p:sldId id="443" r:id="rId75"/>
    <p:sldId id="444" r:id="rId76"/>
    <p:sldId id="445" r:id="rId77"/>
    <p:sldId id="446" r:id="rId78"/>
    <p:sldId id="447" r:id="rId79"/>
    <p:sldId id="448" r:id="rId80"/>
    <p:sldId id="449" r:id="rId81"/>
    <p:sldId id="450" r:id="rId82"/>
    <p:sldId id="451" r:id="rId83"/>
    <p:sldId id="452" r:id="rId84"/>
    <p:sldId id="453" r:id="rId85"/>
    <p:sldId id="454" r:id="rId86"/>
    <p:sldId id="455" r:id="rId87"/>
    <p:sldId id="456" r:id="rId88"/>
    <p:sldId id="457" r:id="rId89"/>
    <p:sldId id="458" r:id="rId90"/>
    <p:sldId id="459" r:id="rId91"/>
    <p:sldId id="460" r:id="rId92"/>
    <p:sldId id="461" r:id="rId93"/>
    <p:sldId id="462" r:id="rId94"/>
    <p:sldId id="463" r:id="rId95"/>
    <p:sldId id="464" r:id="rId96"/>
    <p:sldId id="465" r:id="rId97"/>
    <p:sldId id="466" r:id="rId98"/>
    <p:sldId id="467" r:id="rId99"/>
    <p:sldId id="468" r:id="rId100"/>
    <p:sldId id="469" r:id="rId101"/>
    <p:sldId id="470" r:id="rId102"/>
    <p:sldId id="471" r:id="rId103"/>
    <p:sldId id="472" r:id="rId104"/>
    <p:sldId id="473" r:id="rId105"/>
    <p:sldId id="474" r:id="rId10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5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presProps" Target="presProps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viewProps" Target="viewProps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theme" Target="theme/theme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78C41-61A4-4546-9851-3CA133BB244E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B54EC2-B147-4DEF-9ADF-CA8373793F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9128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37B951-4C4F-FFE6-8F43-7D2BCF396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445ED09-C6A7-6FB5-B59C-02FC41A7E4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E9CC69-D1BA-B30A-2497-EFB480252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ACDD-5431-405C-AD44-70926E0DFF48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129AE1-7448-6138-D127-952DFECB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ADF628-0FBA-0691-EA9D-0688EA864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FF6BC-F7CA-487C-A452-F2C14F2190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093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5A3BB6-EDCA-A88A-4722-0C027C4B3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07A5F1-FE96-2105-AC77-C0CF45472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63509B-C373-B8A4-B38A-2E4700A39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ACDD-5431-405C-AD44-70926E0DFF48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1E0B85-BB91-ED5E-8280-E40EF5F4C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842B53-6F36-A4B8-09C3-18750962E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FF6BC-F7CA-487C-A452-F2C14F2190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3490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02C7FA-5AE8-24C9-EBCC-E70E51C01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DE2A61-8E14-2826-179F-84218D05C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A044DA-2A62-47F8-93B7-F51E83F3E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ACDD-5431-405C-AD44-70926E0DFF48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2C6DE4-BB17-A61F-05D5-C1286C20F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02C844-0193-14E0-653B-06889B91F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FF6BC-F7CA-487C-A452-F2C14F2190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136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1FEC2F-D1F1-B3AF-66FC-8583C7C3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009702-9D3D-6B40-D951-3801582C00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2E01746-C2A4-E112-1061-ECFE07100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072FED3-7CB4-B9A6-7198-21B5A8D05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ACDD-5431-405C-AD44-70926E0DFF48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1FA490-B58C-8944-F39C-B89DF8076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13782D-C3C0-5D76-DA13-09F8A0024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FF6BC-F7CA-487C-A452-F2C14F2190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831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B001DE-4C5D-83A6-23E1-80A4A60A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B40D04-1BEE-355D-741B-0EBA62DAF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67F5B92-FD40-CA72-9898-C6D0544BB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E24E0EB-3BBF-82CE-015F-F2757D0EA1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9ECE216-A761-F248-A43F-ED041422A4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71D5913-A812-9113-596F-D0A9181BF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ACDD-5431-405C-AD44-70926E0DFF48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A76E524-9CB4-3AAD-747A-0DD866689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55653F1-54A2-ED5C-42AB-3C0761CF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FF6BC-F7CA-487C-A452-F2C14F2190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2051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E36511-C963-F414-9BA9-9F41E42E1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DA9429C-F522-D179-8097-9028704CD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ACDD-5431-405C-AD44-70926E0DFF48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6B421E0-6812-A06E-137B-36D7849B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32AF83-161A-9CC6-2B9E-45D958BF7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FF6BC-F7CA-487C-A452-F2C14F2190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85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0E91B3C-0C70-18D1-6AF5-F567030B3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ACDD-5431-405C-AD44-70926E0DFF48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BB141E9-A00A-CFDC-0990-0C81EFE58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C40807-2907-F7F9-37D5-9E03964FF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FF6BC-F7CA-487C-A452-F2C14F2190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0322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01B3B5-2841-C850-4D10-440919A5F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F1211C-3D40-F861-89A7-1329259AA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4B0FEA9-2E05-FC94-C7B7-FE0A867B4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2892059-C6D1-BEDC-11DC-4B747E77B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ACDD-5431-405C-AD44-70926E0DFF48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FF98B25-9860-17E1-0554-A86359D0C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C99244-405B-F861-5B76-7251F9D28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FF6BC-F7CA-487C-A452-F2C14F2190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0931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4FF27B-1B50-81F5-DEE2-F8B11E2AD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78F96E7-BDCE-3AA1-B2B4-F95C90E5AF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2D5EAC-1D1A-0774-689D-FD03DD441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BAD052-B3A8-6FC4-2B96-30AF6AC4F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ACDD-5431-405C-AD44-70926E0DFF48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41D2637-8B86-111E-1984-6247063A6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0707398-43C1-D9BD-2062-F6AEB72CB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FF6BC-F7CA-487C-A452-F2C14F2190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76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5D96A3-66AA-35F3-47C9-A003D0A55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FAE6350-7361-7FB5-C493-11C485979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4904B3-3C71-0811-7A3E-0BD9BA17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ACDD-5431-405C-AD44-70926E0DFF48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F96E1C-C565-610C-DBE9-35AE03774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BAF180-3662-B266-F65D-33132C01C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FF6BC-F7CA-487C-A452-F2C14F2190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821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89F1AB9-9746-C331-42CC-276C5BEE38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919E092-BE93-3082-334F-09F2E91E5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2C091D-7A0A-1BCD-F6E3-284B1FC70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2ACDD-5431-405C-AD44-70926E0DFF48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24B592-AC26-8C7C-6A38-07849FD78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8543FE-4C09-4B8C-9B0F-6D82B6D82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FF6BC-F7CA-487C-A452-F2C14F2190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463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8663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F548C3-A59A-B92D-211A-307C34D0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6F435A-04A5-42C5-F119-FD01584C8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2BDA16-80E2-7F93-1139-E0A874C9EC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2ACDD-5431-405C-AD44-70926E0DFF48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E8BC56-3D86-9EC3-A101-C606C4C99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C05024-C571-DB2B-070F-12A8CF2A98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FF6BC-F7CA-487C-A452-F2C14F2190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4122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491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svg"/><Relationship Id="rId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sv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svg"/><Relationship Id="rId4" Type="http://schemas.openxmlformats.org/officeDocument/2006/relationships/image" Target="../media/image2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31.svg"/><Relationship Id="rId4" Type="http://schemas.openxmlformats.org/officeDocument/2006/relationships/image" Target="../media/image20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24.svg"/><Relationship Id="rId4" Type="http://schemas.openxmlformats.org/officeDocument/2006/relationships/image" Target="../media/image20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svg"/><Relationship Id="rId4" Type="http://schemas.openxmlformats.org/officeDocument/2006/relationships/image" Target="../media/image12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31.svg"/><Relationship Id="rId4" Type="http://schemas.openxmlformats.org/officeDocument/2006/relationships/image" Target="../media/image20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svg"/><Relationship Id="rId4" Type="http://schemas.openxmlformats.org/officeDocument/2006/relationships/image" Target="../media/image40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11.svg"/><Relationship Id="rId4" Type="http://schemas.openxmlformats.org/officeDocument/2006/relationships/image" Target="../media/image45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svg"/><Relationship Id="rId4" Type="http://schemas.openxmlformats.org/officeDocument/2006/relationships/image" Target="../media/image20.sv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svg"/><Relationship Id="rId5" Type="http://schemas.openxmlformats.org/officeDocument/2006/relationships/image" Target="../media/image52.svg"/><Relationship Id="rId4" Type="http://schemas.openxmlformats.org/officeDocument/2006/relationships/image" Target="../media/image45.sv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svg"/><Relationship Id="rId4" Type="http://schemas.openxmlformats.org/officeDocument/2006/relationships/image" Target="../media/image20.sv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svg"/><Relationship Id="rId4" Type="http://schemas.openxmlformats.org/officeDocument/2006/relationships/image" Target="../media/image12.sv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svg"/><Relationship Id="rId4" Type="http://schemas.openxmlformats.org/officeDocument/2006/relationships/image" Target="../media/image40.sv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svg"/><Relationship Id="rId4" Type="http://schemas.openxmlformats.org/officeDocument/2006/relationships/image" Target="../media/image20.sv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31.svg"/><Relationship Id="rId4" Type="http://schemas.openxmlformats.org/officeDocument/2006/relationships/image" Target="../media/image12.sv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svg"/><Relationship Id="rId4" Type="http://schemas.openxmlformats.org/officeDocument/2006/relationships/image" Target="../media/image20.sv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20.svg"/><Relationship Id="rId4" Type="http://schemas.openxmlformats.org/officeDocument/2006/relationships/image" Target="../media/image11.sv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20.svg"/><Relationship Id="rId4" Type="http://schemas.openxmlformats.org/officeDocument/2006/relationships/image" Target="../media/image11.sv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svg"/><Relationship Id="rId4" Type="http://schemas.openxmlformats.org/officeDocument/2006/relationships/image" Target="../media/image20.sv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sv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svg"/><Relationship Id="rId4" Type="http://schemas.openxmlformats.org/officeDocument/2006/relationships/image" Target="../media/image12.sv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76.svg"/><Relationship Id="rId4" Type="http://schemas.openxmlformats.org/officeDocument/2006/relationships/image" Target="../media/image40.sv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svg"/><Relationship Id="rId4" Type="http://schemas.openxmlformats.org/officeDocument/2006/relationships/image" Target="../media/image12.sv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svg"/><Relationship Id="rId4" Type="http://schemas.openxmlformats.org/officeDocument/2006/relationships/image" Target="../media/image12.sv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sv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195" y="2639644"/>
            <a:ext cx="1036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843"/>
              </a:lnSpc>
            </a:pPr>
            <a:r>
              <a:rPr lang="ru-RU" sz="41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Лекция 3: в</a:t>
            </a:r>
            <a:r>
              <a:rPr lang="en-US" sz="4173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торое</a:t>
            </a:r>
            <a:r>
              <a:rPr lang="en-US" sz="41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173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поколение</a:t>
            </a:r>
            <a:r>
              <a:rPr lang="ru-RU" sz="41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</a:t>
            </a:r>
            <a:endParaRPr lang="en-US" sz="417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ts val="5843"/>
              </a:lnSpc>
            </a:pPr>
            <a:r>
              <a:rPr lang="en-US" sz="41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Классические генеративные модели</a:t>
            </a:r>
            <a:endParaRPr lang="en-US" sz="417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1133629"/>
            <a:ext cx="70713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defTabSz="1219170">
              <a:lnSpc>
                <a:spcPts val="6599"/>
              </a:lnSpc>
            </a:pPr>
            <a:r>
              <a:rPr lang="en-US" sz="507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507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721645" y="13965631"/>
            <a:ext cx="69494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defTabSz="1219170">
              <a:lnSpc>
                <a:spcPts val="6599"/>
              </a:lnSpc>
            </a:pPr>
            <a:r>
              <a:rPr lang="en-US" sz="507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507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24437645" y="1133629"/>
            <a:ext cx="97536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defTabSz="1219170">
              <a:lnSpc>
                <a:spcPts val="6599"/>
              </a:lnSpc>
            </a:pPr>
            <a:r>
              <a:rPr lang="en-US" sz="507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Другие разделы искусстве...</a:t>
            </a:r>
            <a:endParaRPr lang="en-US" sz="507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3495" y="7918932"/>
            <a:ext cx="152400" cy="15224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76355" y="7918932"/>
            <a:ext cx="152400" cy="15224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092355" y="7918932"/>
            <a:ext cx="152400" cy="152248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" y="7972425"/>
            <a:ext cx="34153449" cy="45948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54455" y="2512771"/>
            <a:ext cx="30480" cy="5486400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76349" y="2985288"/>
            <a:ext cx="377952" cy="533552"/>
          </a:xfrm>
          <a:prstGeom prst="rect">
            <a:avLst/>
          </a:prstGeom>
        </p:spPr>
      </p:pic>
      <p:pic>
        <p:nvPicPr>
          <p:cNvPr id="1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76349" y="4067480"/>
            <a:ext cx="377952" cy="533552"/>
          </a:xfrm>
          <a:prstGeom prst="rect">
            <a:avLst/>
          </a:prstGeom>
        </p:spPr>
      </p:pic>
      <p:pic>
        <p:nvPicPr>
          <p:cNvPr id="1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76349" y="5148987"/>
            <a:ext cx="377952" cy="533552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2477415" y="2985288"/>
            <a:ext cx="743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работы - моделирование P(X, Y)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4"/>
          <p:cNvSpPr/>
          <p:nvPr/>
        </p:nvSpPr>
        <p:spPr>
          <a:xfrm>
            <a:off x="2477415" y="4067480"/>
            <a:ext cx="207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Алгоритмы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5"/>
          <p:cNvSpPr/>
          <p:nvPr/>
        </p:nvSpPr>
        <p:spPr>
          <a:xfrm>
            <a:off x="2477415" y="5148987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качества: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1043102"/>
            <a:ext cx="1036320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работы - моделирование P(X...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4118915"/>
            <a:ext cx="103632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185"/>
              </a:lnSpc>
            </a:pPr>
            <a:r>
              <a:rPr lang="en-US" sz="298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Общая концепция: позволяет найти модель генерации точек -  определяет способ создания набора данных, пытаясь понять распределение точек данных.</a:t>
            </a:r>
            <a:endParaRPr lang="en-US" sz="2989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3539414"/>
            <a:ext cx="10287609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43891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Алгоритмы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451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Продукционные правила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331616"/>
            <a:ext cx="377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Машинное обучение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4276649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Нейронные сети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522099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Эволюционные алгоритмы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31616"/>
            <a:ext cx="114605" cy="533552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276649"/>
            <a:ext cx="114605" cy="53355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6" y="5220996"/>
            <a:ext cx="114605" cy="5335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95097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Продукционные правила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7501" y="2386585"/>
            <a:ext cx="93878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145"/>
              </a:lnSpc>
            </a:pPr>
            <a:r>
              <a:rPr lang="en-US" sz="276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Децентрализованная генерация табличных значений:</a:t>
            </a:r>
            <a:endParaRPr lang="en-US" sz="27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7501" y="3358363"/>
            <a:ext cx="99974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145"/>
              </a:lnSpc>
            </a:pPr>
            <a:r>
              <a:rPr lang="en-US" sz="276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Преобразование "продукция-онтология" для создания централизованной модели представления знаний (МПЗ):</a:t>
            </a:r>
            <a:endParaRPr lang="en-US" sz="2764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2167" cy="560299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58363"/>
            <a:ext cx="112167" cy="5602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816" y="881939"/>
            <a:ext cx="9802368" cy="42862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68045" y="5442509"/>
            <a:ext cx="1036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Децентрализованная генерация табличных значений: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931317"/>
            <a:ext cx="1024128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Децентрализованная генерация табличн...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4006445"/>
            <a:ext cx="1036320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553"/>
              </a:lnSpc>
            </a:pPr>
            <a:r>
              <a:rPr lang="en-US" sz="236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основе условий правил уточняются значения определённых параметров, в результате чего создаётся новое значение, например:</a:t>
            </a:r>
            <a:endParaRPr lang="en-US" sz="2369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ts val="3553"/>
              </a:lnSpc>
            </a:pPr>
            <a:r>
              <a:rPr lang="en-US" sz="236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character_lvl &gt; 10 AND character_class == "warrior" THEN spawn(skeletons, min=5, max = 10, sweapon = "bow").</a:t>
            </a:r>
            <a:endParaRPr lang="en-US" sz="2369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3427629"/>
            <a:ext cx="1027907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014" y="857251"/>
            <a:ext cx="7129881" cy="42862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74013" y="5417820"/>
            <a:ext cx="9265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264"/>
              </a:lnSpc>
            </a:pPr>
            <a:r>
              <a:rPr lang="en-US" sz="30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Преобразование "продукция-онтология" для создания централизованной модели представления знаний (МПЗ):</a:t>
            </a:r>
            <a:endParaRPr lang="en-US" sz="304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1193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Преобразование "продук...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Представление знаний - проблема на стыке когнитологии, информатики и искусственного интелле...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1011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Преобразования Базы данных и Базы правил определённый предметной области в Базу знаний с по...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6333" y="1733016"/>
            <a:ext cx="102412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185"/>
              </a:lnSpc>
            </a:pPr>
            <a:r>
              <a:rPr lang="en-US" sz="298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Представление знаний - проблема на стыке когнитологии, информатики и искусственного интеллекта, решением которой являются модели, позволяющие описывать базу знаний предметной области как совокупность данных о предметной области и правил взаимодействия с ними.</a:t>
            </a:r>
            <a:endParaRPr lang="en-US" sz="298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1445667"/>
            <a:ext cx="999744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Представление знаний - проблема ...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4520794"/>
            <a:ext cx="69494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599"/>
              </a:lnSpc>
            </a:pPr>
            <a:r>
              <a:rPr lang="en-US" sz="507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 МПЗ:</a:t>
            </a:r>
            <a:endParaRPr lang="en-US" sz="507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3941979"/>
            <a:ext cx="994379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81686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 МПЗ: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66775" y="2386584"/>
            <a:ext cx="963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Формальные - подчинены законам логики, отношения между сущностями в них выражаются при помощи синтаксических знаний формальной теории.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6775" y="4169664"/>
            <a:ext cx="1011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Неформальные – МПЗ, в которых нет строгих постулатов формальной теории, поэтому каждая такая модель используется для конкретной предметной области, то есть не является универсальной.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386585"/>
            <a:ext cx="91440" cy="45742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5" y="4169665"/>
            <a:ext cx="91440" cy="4574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9997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Формальные - подчинен...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1011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Формальная система - система строгой абстракции от смысловой нагрузки используемого языка, причём все...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Упорядоченная четвёрка ⟨L, F, A,R⟩, где L – некоторый язык, F⊂L –множество формул,  A⊂F – множество акс...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5343068"/>
            <a:ext cx="963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Логические: строгие правила математической логики.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6288100"/>
            <a:ext cx="938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Логико-математические: функциональные, нечёткая логика.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5343068"/>
            <a:ext cx="114605" cy="53355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6" y="6288100"/>
            <a:ext cx="114605" cy="5335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1223" y="1733016"/>
            <a:ext cx="10363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185"/>
              </a:lnSpc>
            </a:pPr>
            <a:r>
              <a:rPr lang="en-US" sz="298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Формальная система - система строгой абстракции от смысловой нагрузки используемого языка, причём все условия, регулирующие употребление этих слов в теории, явно высказаны посредством аксиом и правил, позволяющих вывести одну фразу из других.</a:t>
            </a:r>
            <a:endParaRPr lang="en-US" sz="298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1417" y="1722044"/>
            <a:ext cx="99974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053"/>
              </a:lnSpc>
            </a:pPr>
            <a:r>
              <a:rPr lang="en-US" sz="360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Упорядоченная четвёрка ⟨L, F, A,R⟩, где L – некоторый язык, F⊂L –множество формул,  A⊂F – множество аксиом, а R⊂("L"^2∪"L"^3 ∪...) – множество правил вывода.</a:t>
            </a:r>
            <a:endParaRPr lang="en-US" sz="360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241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Неформальные – МПЗ, в 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75309" y="2386584"/>
            <a:ext cx="999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723"/>
              </a:lnSpc>
            </a:pPr>
            <a:r>
              <a:rPr lang="en-US" sz="248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Объектные модели объекты реального мира в виде абстракций</a:t>
            </a:r>
            <a:endParaRPr lang="en-US" sz="248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75309" y="3300757"/>
            <a:ext cx="9144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723"/>
              </a:lnSpc>
            </a:pPr>
            <a:r>
              <a:rPr lang="en-US" sz="248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Семантические сети: ориентированный граф понятий и их отношений</a:t>
            </a:r>
            <a:endParaRPr lang="en-US" sz="248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75309" y="4718305"/>
            <a:ext cx="93878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723"/>
              </a:lnSpc>
            </a:pPr>
            <a:r>
              <a:rPr lang="en-US" sz="248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Продукционная модель: модель правил «Если (условие), то (действие)».</a:t>
            </a:r>
            <a:endParaRPr lang="en-US" sz="248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5"/>
            <a:ext cx="101193" cy="50269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00757"/>
            <a:ext cx="101193" cy="502692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718305"/>
            <a:ext cx="101193" cy="50269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4867" y="2336520"/>
            <a:ext cx="10241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043"/>
              </a:lnSpc>
            </a:pPr>
            <a:r>
              <a:rPr lang="en-US" sz="28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Преобразования Базы данных и Базы правил определённый предметной области в Базу знаний с последующим её отображением в виде Семантической сети.</a:t>
            </a:r>
            <a:endParaRPr lang="en-US" sz="2888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1445667"/>
            <a:ext cx="1011936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Преобразования Базы данных и Баз...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4520794"/>
            <a:ext cx="68275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599"/>
              </a:lnSpc>
            </a:pPr>
            <a:r>
              <a:rPr lang="en-US" sz="507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Семантическая сеть:</a:t>
            </a:r>
            <a:endParaRPr lang="en-US" sz="507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3941979"/>
            <a:ext cx="1009619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107" y="857251"/>
            <a:ext cx="9408567" cy="42862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00297" y="5417820"/>
            <a:ext cx="499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Семантическая сеть: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792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Семантическая сеть: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информационная модель предметной области, имеющая вид помеченного (вершины и дуги графа им...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&lt;V, A, L&gt;, где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480951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809516"/>
            <a:ext cx="114605" cy="5335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1885" y="1733016"/>
            <a:ext cx="98755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185"/>
              </a:lnSpc>
            </a:pPr>
            <a:r>
              <a:rPr lang="en-US" sz="298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информационная модель предметной области, имеющая вид помеченного (вершины и дуги графа имеют определённые метки) ориентированного графа, вершины которого соответствуют объектам предметной области, а дуги (рёбра) задают отношения между ними.</a:t>
            </a:r>
            <a:endParaRPr lang="en-US" sz="298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6217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&lt;V, A, L&gt;, где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902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– вершины графа, являющееся определёнными понятиями ПрО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890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– дуги графа, являющееся отношениями между понятиями ПрО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53430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– метки вершин и дуг графа.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5343068"/>
            <a:ext cx="114605" cy="5335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6217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Классификация: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207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Сценарные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331616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4276649"/>
            <a:ext cx="207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Логические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522099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Атрибутивные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31616"/>
            <a:ext cx="114605" cy="533552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276649"/>
            <a:ext cx="114605" cy="53355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6" y="5220996"/>
            <a:ext cx="114605" cy="5335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1997" y="2959913"/>
            <a:ext cx="3901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948"/>
              </a:lnSpc>
            </a:pPr>
            <a:r>
              <a:rPr lang="en-US" sz="49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Сценарные</a:t>
            </a:r>
            <a:endParaRPr lang="en-US" sz="4963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" y="1845488"/>
            <a:ext cx="5690007" cy="31670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1529335"/>
            <a:ext cx="548640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Сценарные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3356991"/>
            <a:ext cx="926592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864"/>
              </a:lnSpc>
            </a:pPr>
            <a:r>
              <a:rPr lang="en-US" sz="34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количественные: больше, меньше, равно; пространственные: далеко, близко; временные раньше, позже и т.п.</a:t>
            </a:r>
            <a:endParaRPr lang="en-US" sz="3475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777491"/>
            <a:ext cx="918179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1178205"/>
            <a:ext cx="853440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3005177"/>
            <a:ext cx="9509760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599"/>
              </a:lnSpc>
            </a:pPr>
            <a:r>
              <a:rPr lang="en-US" sz="507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отношения «вход – выход», определяются производящим глаголом</a:t>
            </a:r>
            <a:endParaRPr lang="en-US" sz="507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426361"/>
            <a:ext cx="948659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7847" y="2964713"/>
            <a:ext cx="377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869"/>
              </a:lnSpc>
            </a:pPr>
            <a:r>
              <a:rPr lang="en-US" sz="49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Логические</a:t>
            </a:r>
            <a:endParaRPr lang="en-US" sz="490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1717930"/>
            <a:ext cx="5690007" cy="34221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1178205"/>
            <a:ext cx="548640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Логические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3005177"/>
            <a:ext cx="9144000" cy="267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599"/>
              </a:lnSpc>
            </a:pPr>
            <a:r>
              <a:rPr lang="en-US" sz="507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подчиняющееся логическим законом, в том числе и предикатные</a:t>
            </a:r>
            <a:endParaRPr lang="en-US" sz="507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426361"/>
            <a:ext cx="902939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8327" y="2660905"/>
            <a:ext cx="377952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Атрибутивные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114" y="1300963"/>
            <a:ext cx="5690007" cy="42560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1623975"/>
            <a:ext cx="707136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Атрибутивные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3450945"/>
            <a:ext cx="7802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599"/>
              </a:lnSpc>
            </a:pPr>
            <a:r>
              <a:rPr lang="en-US" sz="507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свойства, описывающие понятия, и их значения.</a:t>
            </a:r>
            <a:endParaRPr lang="en-US" sz="507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872131"/>
            <a:ext cx="779556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78028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Машинное обучение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341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331616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Актуальные: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31616"/>
            <a:ext cx="114605" cy="533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719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609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гауссовых смесей (GMM):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33161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Networks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4276649"/>
            <a:ext cx="121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Copula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31616"/>
            <a:ext cx="114605" cy="533552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276649"/>
            <a:ext cx="114605" cy="5335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2855" y="1892809"/>
            <a:ext cx="292608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гауссовых смесей (GMM):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862" y="1904467"/>
            <a:ext cx="5690007" cy="3049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241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 гауссовых смесе...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1011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вероятностная модель, предполагающая, что точки данных генерируются из смеси нескольких гауссовых (...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487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Формальное определение: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4809516"/>
            <a:ext cx="207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809516"/>
            <a:ext cx="114605" cy="5335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4867" y="1722044"/>
            <a:ext cx="102412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053"/>
              </a:lnSpc>
            </a:pPr>
            <a:r>
              <a:rPr lang="en-US" sz="360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вероятностная модель, предполагающая, что точки данных генерируются из смеси нескольких гауссовых (нормальных) распределений признаков с неизвестными параметрами. </a:t>
            </a:r>
            <a:endParaRPr lang="en-US" sz="360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241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вероятностная модель, п...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66775" y="2386584"/>
            <a:ext cx="999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Обучается на реальных данных, используя алгоритм Expectation-Maximization (EM), чтобы найти оптимальные параметры: средние з...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6775" y="3712236"/>
            <a:ext cx="999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Области применения: для оценки плотности, мягкой кластеризации и генерации синтетических данных путем выборки из обученных кластеров.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386585"/>
            <a:ext cx="91440" cy="45742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5" y="3712237"/>
            <a:ext cx="91440" cy="4574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195" y="1733016"/>
            <a:ext cx="10363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185"/>
              </a:lnSpc>
            </a:pPr>
            <a:r>
              <a:rPr lang="en-US" sz="298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Обучается на реальных данных, используя алгоритм Expectation-Maximization (EM), чтобы найти оптимальные параметры: средние значения (mean), ковариационные матрицы (covariance) для каждого кластера и веса (вероятности) этих компонентов.</a:t>
            </a:r>
            <a:endParaRPr lang="en-US" sz="298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1445667"/>
            <a:ext cx="1011936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Обучается на реальных данных, ...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4520794"/>
            <a:ext cx="97536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599"/>
              </a:lnSpc>
            </a:pPr>
            <a:r>
              <a:rPr lang="en-US" sz="507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Expectation-Maximization (EM):</a:t>
            </a:r>
            <a:endParaRPr lang="en-US" sz="507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3941979"/>
            <a:ext cx="1005108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1219" y="2276856"/>
            <a:ext cx="35356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Expectation-Maximization (EM):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26" y="1475842"/>
            <a:ext cx="5690007" cy="39063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62737"/>
            <a:ext cx="877824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Expectation-Maximization (EM):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3937864"/>
            <a:ext cx="10241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045"/>
              </a:lnSpc>
            </a:pPr>
            <a:r>
              <a:rPr lang="en-US" sz="20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итеративный метод поиска оценок максимального правдоподобия параметров вероятностных моделей, содержащих скрытые (ненаблюдаемые) переменные, чередует E-шаг (оценка скрытых переменных) и M-шаг (оптимизация параметров) до сходимости, что позволяет находить оптимальные кластеры или параметры распределений.</a:t>
            </a:r>
            <a:endParaRPr lang="en-US" sz="203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3359049"/>
            <a:ext cx="1015715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1193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итеративный метод поис...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638605" y="2386584"/>
            <a:ext cx="1011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E-шаг (Expectation, ожидание): на основе текущих параметров вычисляются вероятности того, что данны...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file:///C:/Users/Hvv13/AppData/Local/Programs/Xmind/resources/app.asar/static/snowbird/resource/markers/priorityMarkers/priority-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8721" y="2462709"/>
            <a:ext cx="381609" cy="3813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38605" y="3865169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M-шаг (Maximization, максимизация): параметры модели пересчитываются (максимизируются) так, что...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file:///C:/Users/Hvv13/AppData/Local/Programs/Xmind/resources/app.asar/static/snowbird/resource/markers/priorityMarkers/priority-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8721" y="3941293"/>
            <a:ext cx="381609" cy="38130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22653" y="1722044"/>
            <a:ext cx="9509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053"/>
              </a:lnSpc>
            </a:pPr>
            <a:r>
              <a:rPr lang="en-US" sz="360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E-шаг (Expectation, ожидание): на основе текущих параметров вычисляются вероятности того, что данные принадлежат к определенным скрытым состояниям или кластерам.</a:t>
            </a:r>
            <a:endParaRPr lang="en-US" sz="3609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file:///C:/Users/Hvv13/AppData/Local/Programs/Xmind/resources/app.asar/static/snowbird/resource/markers/priorityMarkers/priority-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8423" y="1819429"/>
            <a:ext cx="487680" cy="4876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47165" y="1802283"/>
            <a:ext cx="10363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816"/>
              </a:lnSpc>
            </a:pPr>
            <a:r>
              <a:rPr lang="en-US" sz="3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M-шаг (Maximization, максимизация): параметры модели пересчитываются (максимизируются) так, чтобы максимально правдоподобно объяснить данные, полученные с учетом весов из E-шага.</a:t>
            </a:r>
            <a:endParaRPr lang="en-US" sz="344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file:///C:/Users/Hvv13/AppData/Local/Programs/Xmind/resources/app.asar/static/snowbird/resource/markers/priorityMarkers/priority-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880" y="1894866"/>
            <a:ext cx="464515" cy="4649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282447"/>
            <a:ext cx="10316871" cy="33460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4903471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Формальное определение: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010869"/>
            <a:ext cx="10316871" cy="38905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5175047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802969"/>
            <a:ext cx="10316871" cy="19113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3988613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 плотности многомерного нормального распределения: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826286"/>
            <a:ext cx="10316871" cy="22590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4359631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485444"/>
            <a:ext cx="10316871" cy="30147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4775226"/>
            <a:ext cx="103632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421"/>
              </a:lnSpc>
            </a:pPr>
            <a:r>
              <a:rPr lang="en-US" sz="315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Ковариационная матрица (матрица ковариаций)</a:t>
            </a:r>
            <a:endParaRPr lang="en-US" sz="315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813" y="1748791"/>
            <a:ext cx="10241280" cy="3360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145"/>
              </a:lnSpc>
            </a:pPr>
            <a:r>
              <a:rPr lang="en-US" sz="27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квадратная симметричная матрица, используемая в теории вероятностей и статистике для описания взаимосвязей между элементами случайного вектора. Она показывает дисперсию каждой переменной на диагонали, а внедиагональные элементы отражают ковариацию между парами переменных. </a:t>
            </a:r>
            <a:endParaRPr lang="en-US" sz="276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458011"/>
            <a:ext cx="10316871" cy="29948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4727905"/>
            <a:ext cx="304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Ковариация: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4876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Ковариация: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865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 x, y ожидаемые величины, x', y' - их средние значения, N - количество таких значений.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926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Ковариация показывает направление связи (растет/падает), но зависит от масштаба данных....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1703" y="1962074"/>
            <a:ext cx="10363200" cy="2948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343"/>
              </a:lnSpc>
            </a:pPr>
            <a:r>
              <a:rPr lang="en-US" sz="310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Ковариация показывает направление связи (растет/падает), но зависит от масштаба данных.</a:t>
            </a:r>
            <a:endParaRPr lang="en-US" sz="3101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>
              <a:lnSpc>
                <a:spcPts val="4343"/>
              </a:lnSpc>
            </a:pPr>
            <a:r>
              <a:rPr lang="en-US" sz="310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Корреляция - нормированная ковариация (от -1 до 1), показывающая как направление, так и силу связи, не зависящая от единиц измерения.</a:t>
            </a:r>
            <a:endParaRPr lang="en-US" sz="31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42672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599591" y="2386584"/>
            <a:ext cx="938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92"/>
              </a:lnSpc>
            </a:pPr>
            <a:r>
              <a:rPr lang="en-US" sz="259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Случайным образом выбирается один из компонентов (гауссовых распределений) на основе их весов.</a:t>
            </a:r>
            <a:endParaRPr lang="en-US" sz="2595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file:///C:/Users/Hvv13/AppData/Local/Programs/Xmind/resources/app.asar/static/snowbird/resource/markers/priorityMarkers/priority-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0186" y="2474367"/>
            <a:ext cx="351129" cy="3504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99591" y="3849396"/>
            <a:ext cx="1011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92"/>
              </a:lnSpc>
            </a:pPr>
            <a:r>
              <a:rPr lang="en-US" sz="259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выбранного нормального распределения выбирается случайная точка (в многомерном случае выбирается вектор). </a:t>
            </a:r>
            <a:endParaRPr lang="en-US" sz="2595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file:///C:/Users/Hvv13/AppData/Local/Programs/Xmind/resources/app.asar/static/snowbird/resource/markers/priorityMarkers/priority-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0186" y="3937178"/>
            <a:ext cx="351129" cy="350444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5" y="2386584"/>
            <a:ext cx="104851" cy="526008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5" y="3849396"/>
            <a:ext cx="104851" cy="52600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928" y="857251"/>
            <a:ext cx="9532925" cy="42862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4125" y="5417820"/>
            <a:ext cx="451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Networks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6949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 Networks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вероятностная графическая модель, которая представляет набор переменных и их условные завис...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Совместное распределение вероятностей: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4867" y="1628775"/>
            <a:ext cx="10241280" cy="3634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07"/>
              </a:lnSpc>
            </a:pPr>
            <a:r>
              <a:rPr lang="en-US" sz="253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вероятностная графическая модель, которая представляет набор переменных и их условные зависимости с помощью ориентированного ациклического графа (directed acyclic graph, DAG - отсутствуют циклы), узлы графа - признаки (например, возраст, зарплата), а направленные ребра показывают, что один признак (родитель) влияет на распределение другого (потомка).</a:t>
            </a:r>
            <a:endParaRPr lang="en-US" sz="253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858519"/>
            <a:ext cx="10316871" cy="21952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4327399"/>
            <a:ext cx="1036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Совместное распределение вероятностей: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1445667"/>
            <a:ext cx="1011936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Совместное распределение вер...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4520794"/>
            <a:ext cx="13411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599"/>
              </a:lnSpc>
            </a:pPr>
            <a:r>
              <a:rPr lang="en-US" sz="507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</a:t>
            </a:r>
            <a:endParaRPr lang="en-US" sz="507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3941979"/>
            <a:ext cx="10104729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095223"/>
            <a:ext cx="10316871" cy="37218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5090693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72338"/>
            <a:ext cx="207264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2699995"/>
            <a:ext cx="938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080"/>
              </a:lnSpc>
            </a:pPr>
            <a:r>
              <a:rPr lang="en-US" sz="434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дискретных переменных это Conditional Probability Table (CPT), для непрерывных - условное гауссовское распределение.</a:t>
            </a:r>
            <a:endParaRPr lang="en-US" sz="4343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120494"/>
            <a:ext cx="928908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0131" y="1722044"/>
            <a:ext cx="69494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053"/>
              </a:lnSpc>
            </a:pPr>
            <a:r>
              <a:rPr lang="en-US" sz="360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дискретных переменных это Conditional Probability Table (CPT), для непрерывных - условное гауссовское распределение.</a:t>
            </a:r>
            <a:endParaRPr lang="en-US" sz="3609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744" y="3146451"/>
            <a:ext cx="2438400" cy="5644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592" y="857251"/>
            <a:ext cx="8813597" cy="42862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80355" y="5417820"/>
            <a:ext cx="1706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Copula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1075335"/>
            <a:ext cx="329184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Copula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2902305"/>
            <a:ext cx="102412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553"/>
              </a:lnSpc>
            </a:pPr>
            <a:r>
              <a:rPr lang="en-US" sz="236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отделяет описание зависимости между переменными от описания их индивидуальных (маргинальных) распределений, что позволяет моделировать взаимосвязи в данных, не делая предположений о форме самих распределений признаков, сама функция вида Copula описывает, как связаны между собой переменные, в то время как "поля" задают распределение каждой переменной по отдельности.</a:t>
            </a:r>
            <a:endParaRPr lang="en-US" sz="2369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323491"/>
            <a:ext cx="10180320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241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отделяет описание завис...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719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 генерации включает два этапа: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331616"/>
            <a:ext cx="390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 вида Copula: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31616"/>
            <a:ext cx="114605" cy="533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1193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 генерации вклю...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66775" y="2386584"/>
            <a:ext cx="963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Генерируются значения из copula (получая значения в стандартном равномерном масштабе).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6775" y="3712236"/>
            <a:ext cx="926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Значения преобразуются в исходные распределения с помощью обратных функций распределения (инверсии CDF) каждой переменной.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386585"/>
            <a:ext cx="91440" cy="45742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5" y="3712237"/>
            <a:ext cx="91440" cy="4574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424" y="2660905"/>
            <a:ext cx="353568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 вида Copula: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211" y="1532763"/>
            <a:ext cx="5690007" cy="3793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8412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 вида Copula: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1011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многомерная функция распределения, определенная на единичном гиперкубе [0, 1]^n, маргинальные (маржин...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487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Формальное определение: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4595" y="1628775"/>
            <a:ext cx="9997440" cy="3634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07"/>
              </a:lnSpc>
            </a:pPr>
            <a:r>
              <a:rPr lang="en-US" sz="253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многомерная функция распределения, определенная на единичном гиперкубе [0, 1]^n, маргинальные (маржинальные) распределения которой равномерны на интервале [0, 1], позволяет описывать совместное распределение нескольких случайных величин, разделяя структуру зависимости между ними и маргинальные (частные) распределения каждой величины.</a:t>
            </a:r>
            <a:endParaRPr lang="en-US" sz="253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999897"/>
            <a:ext cx="975360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многомерная функция распреде...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4075024"/>
            <a:ext cx="8046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599"/>
              </a:lnSpc>
            </a:pPr>
            <a:r>
              <a:rPr lang="en-US" sz="507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Маргинальные (частные) распределения:</a:t>
            </a:r>
            <a:endParaRPr lang="en-US" sz="507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3496209"/>
            <a:ext cx="973043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9312" y="1892809"/>
            <a:ext cx="390144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Маргинальные (частные) распределения: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9" y="1177519"/>
            <a:ext cx="5690007" cy="45022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62737"/>
            <a:ext cx="1024128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Маргинальные (частные) распреде...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3937864"/>
            <a:ext cx="1036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045"/>
              </a:lnSpc>
            </a:pPr>
            <a:r>
              <a:rPr lang="en-US" sz="20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вероятностные распределения подмножества случайных величин, входящих в состав многомерного (совместного) распределения. Они позволяют определить вероятность значений отдельных переменных, игнорируя остальные, путем суммирования (для дискретных) или интегрирования (для непрерывных) совместной плотности.</a:t>
            </a:r>
            <a:endParaRPr lang="en-US" sz="203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3359049"/>
            <a:ext cx="10257129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2118437"/>
            <a:ext cx="10316871" cy="16754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40674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Формальное определение: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4876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Актуальные: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597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Байесовская модель GMM (BGM) 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331616"/>
            <a:ext cx="926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 и его модификации (Synthetic Minority Over-sampling Technique)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480951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Distribution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31616"/>
            <a:ext cx="114605" cy="533552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809516"/>
            <a:ext cx="114605" cy="5335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243356"/>
            <a:ext cx="10316871" cy="34248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4942560"/>
            <a:ext cx="792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Байесовская модель GMM (BGM) 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3632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475"/>
              </a:lnSpc>
            </a:pPr>
            <a:r>
              <a:rPr lang="en-US" sz="4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Байесовская модель GMM (BGM) </a:t>
            </a:r>
            <a:endParaRPr lang="en-US" sz="462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280971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Байесовская версия классической модели гауссовых смесей (GMM), в отличие от GMM, где параметры мод...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758869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280971"/>
            <a:ext cx="114605" cy="5335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758869"/>
            <a:ext cx="114605" cy="533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1829029"/>
            <a:ext cx="10241280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Байесовская версия классической модели гауссовых смесей (GMM), в отличие от GMM, где параметры модели (веса, средние, ковариации) являются фиксированными числами, в BGM они сами считаются случайными величинами, для которых задаются априорные распределения (priors).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241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Байесовская версия клас...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638605" y="2386584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Способность автоматически определять оптимальное количество кластеров, обнуляя веса изб...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file:///C:/Users/Hvv13/AppData/Local/Programs/Xmind/resources/app.asar/static/snowbird/resource/markers/symbolMarkers/symbol-idea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8721" y="2462709"/>
            <a:ext cx="381609" cy="3813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38605" y="3865169"/>
            <a:ext cx="1011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Благодаря использованию априорных распределений BGM менее подвержена переобучению (overfitting) на 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file:///C:/Users/Hvv13/AppData/Local/Programs/Xmind/resources/app.asar/static/snowbird/resource/markers/symbolMarkers/symbol-idea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8721" y="3941293"/>
            <a:ext cx="381609" cy="38130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70329" y="1775537"/>
            <a:ext cx="10363200" cy="3360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896"/>
              </a:lnSpc>
            </a:pPr>
            <a:r>
              <a:rPr lang="en-US" sz="349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Способность автоматически определять оптимальное количество кластеров, обнуляя веса избыточных компонент, что избавляет от необходимости вручную задавать их число.</a:t>
            </a:r>
            <a:endParaRPr lang="en-US" sz="34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file:///C:/Users/Hvv13/AppData/Local/Programs/Xmind/resources/app.asar/static/snowbird/resource/markers/symbolMarkers/symbol-idea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9512" y="1870177"/>
            <a:ext cx="473049" cy="4725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80057" y="1722044"/>
            <a:ext cx="10119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053"/>
              </a:lnSpc>
            </a:pPr>
            <a:r>
              <a:rPr lang="en-US" sz="360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Благодаря использованию априорных распределений BGM менее подвержена переобучению (overfitting) на малых данных по сравнению с классическим EM-алгоритмом для GMM.</a:t>
            </a:r>
            <a:endParaRPr lang="en-US" sz="3609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file:///C:/Users/Hvv13/AppData/Local/Programs/Xmind/resources/app.asar/static/snowbird/resource/markers/symbolMarkers/symbol-idea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5827" y="1819429"/>
            <a:ext cx="487680" cy="4876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953948"/>
            <a:ext cx="10316871" cy="40043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5231968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5849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638605" y="2386584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Априорные распределения (Priors): перед обучением модели задаются априорные вероятности для параме...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file:///C:/Users/Hvv13/AppData/Local/Programs/Xmind/resources/app.asar/static/snowbird/resource/markers/symbolMarkers/symbol-lightnin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8721" y="2462709"/>
            <a:ext cx="381609" cy="3813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38605" y="3865169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Апостериорная оценка (Posterior): в процессе работы модель обновляет свои "знания" о параметрах, объед...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file:///C:/Users/Hvv13/AppData/Local/Programs/Xmind/resources/app.asar/static/snowbird/resource/markers/symbolMarkers/symbol-lightnin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8721" y="3941293"/>
            <a:ext cx="381609" cy="38130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58137" y="1829029"/>
            <a:ext cx="10363200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737"/>
              </a:lnSpc>
            </a:pPr>
            <a:r>
              <a:rPr lang="en-US" sz="33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Априорные распределения (Priors): перед обучением модели задаются априорные вероятности для параметров гауссовых компонент (например, распределение Дирихле для весов кластеров).</a:t>
            </a:r>
            <a:endParaRPr lang="en-US" sz="3384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file:///C:/Users/Hvv13/AppData/Local/Programs/Xmind/resources/app.asar/static/snowbird/resource/markers/symbolMarkers/symbol-lightnin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387" y="1920241"/>
            <a:ext cx="457200" cy="4574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88617" y="1908582"/>
            <a:ext cx="1024128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501"/>
              </a:lnSpc>
            </a:pPr>
            <a:r>
              <a:rPr lang="en-US" sz="321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Апостериорная оценка (Posterior): в процессе работы модель обновляет свои "знания" о параметрах, объединяя априорные данные с новыми наблюдаемыми точками, получая апостериорное распределение.</a:t>
            </a:r>
            <a:endParaRPr lang="en-US" sz="3215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file:///C:/Users/Hvv13/AppData/Local/Programs/Xmind/resources/app.asar/static/snowbird/resource/markers/symbolMarkers/symbol-lightnin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813" y="1995679"/>
            <a:ext cx="434035" cy="4341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623289"/>
            <a:ext cx="10316871" cy="22706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4168292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 и его модификации (Synthetic Minority Over-sampling Technique)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9997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 и его модификац...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Вместо простого копирования примеров из меньшинства, создает новые синтетические примеры,...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829029"/>
            <a:ext cx="10241280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737"/>
              </a:lnSpc>
            </a:pPr>
            <a:r>
              <a:rPr lang="en-US" sz="33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Вместо простого копирования примеров из меньшинства, создает новые синтетические примеры, интерполируя между существующими точками (генеративный алгоритм только в широком смысле).</a:t>
            </a:r>
            <a:endParaRPr lang="en-US" sz="33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482013"/>
            <a:ext cx="10316871" cy="29475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4703903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Где: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219352"/>
            <a:ext cx="10316871" cy="34728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4966564"/>
            <a:ext cx="646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Distribution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62737"/>
            <a:ext cx="707136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Distribution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3937864"/>
            <a:ext cx="1036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045"/>
              </a:lnSpc>
            </a:pPr>
            <a:r>
              <a:rPr lang="en-US" sz="20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ансамбль деревьев решений для оценки плотности распределения данных. Модель Adversarial Random Forest (ARF) работает итеративно, чередуя построение случайного леса для различения реальных и сгенерированных данных с последующим разбиением пространства признаков на области (листья), где признаки становятся почти независимыми.</a:t>
            </a:r>
            <a:endParaRPr lang="en-US" sz="203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3359049"/>
            <a:ext cx="1026444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9997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Использует ансамбль де...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597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Random Forest (ARF):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331616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новых данных: после обучения ARF получается модель FORDE (Forest Density Estimation),...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31616"/>
            <a:ext cx="114605" cy="533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857251"/>
            <a:ext cx="10316871" cy="4247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5378729"/>
            <a:ext cx="792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Random Forest (ARF):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62737"/>
            <a:ext cx="938784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Random Forest (ARF):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3937864"/>
            <a:ext cx="10241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045"/>
              </a:lnSpc>
            </a:pPr>
            <a:r>
              <a:rPr lang="en-US" sz="203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 машинного обучения без учителя, который используется для генерации синтетических данных и оценки плотности распределения, работающий по принципу независимого сэмплирования (выборки) каждого признака, (похож на Генеративно-состязательные сети - GAN, но использует леса решений вместо нейронных сетей).</a:t>
            </a:r>
            <a:endParaRPr lang="en-US" sz="203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3359049"/>
            <a:ext cx="1015715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6333" y="1802283"/>
            <a:ext cx="10241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816"/>
              </a:lnSpc>
            </a:pPr>
            <a:r>
              <a:rPr lang="en-US" sz="34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новых данных: после обучения ARF получается модель FORDE (Forest Density Estimation), где каждый лист дерева представляет собой "ячейку" данных, новая строка генерируется в два этапа:</a:t>
            </a:r>
            <a:endParaRPr lang="en-US" sz="344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3632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новых данных...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66775" y="2386584"/>
            <a:ext cx="999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FORDE (Forests for Density Estimation) - метод машинного обучения, предназначенный для оценки плотности вероятности дан...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6775" y="3712236"/>
            <a:ext cx="902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Выбрать лист в соответствии с его вероятностью (количеством попавших в него реальных данных).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66775" y="5038572"/>
            <a:ext cx="1011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Внутри выбранного листа сгенерировать значения признаков независимо друг от друга. Для непрерывных признаков часто исполь...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386585"/>
            <a:ext cx="91440" cy="45742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5" y="3712237"/>
            <a:ext cx="91440" cy="457428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5" y="5038573"/>
            <a:ext cx="91440" cy="45742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0173" y="1628775"/>
            <a:ext cx="9753600" cy="3634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07"/>
              </a:lnSpc>
            </a:pPr>
            <a:r>
              <a:rPr lang="en-US" sz="253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FORDE (Forests for Density Estimation) - метод машинного обучения, предназначенный для оценки плотности вероятности данных с использованием ансамблей деревьев решений (лесов), преобразует структуру обученного случайного леса в вероятностную схему, где каждый лист дерева хранит параметры распределения данных, попавших в него.</a:t>
            </a:r>
            <a:endParaRPr lang="en-US" sz="253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143" y="2459965"/>
            <a:ext cx="101193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587"/>
              </a:lnSpc>
            </a:pPr>
            <a:r>
              <a:rPr lang="en-US" sz="23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Внутри выбранного листа сгенерировать значения признаков независимо друг от друга. Для непрерывных признаков часто используется оценка плотности ядра (KDE), а для категориальных - их эмпирическое распределение в листе.</a:t>
            </a:r>
            <a:endParaRPr lang="en-US" sz="239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6217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Нейронные сети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341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331616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Актуальные: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31616"/>
            <a:ext cx="114605" cy="533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719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для таблиц: 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331616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 для таблиц: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31616"/>
            <a:ext cx="114605" cy="533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71129" y="2660905"/>
            <a:ext cx="24384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для таблиц: 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281" y="857251"/>
            <a:ext cx="5299863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9017" y="1748791"/>
            <a:ext cx="10241280" cy="3360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работы начала 2010-х годов преобразовывали табличные данные в изображения (например, через преобразование Грама) или использовали одномерные свёртки вдоль строк.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1984" y="1892809"/>
            <a:ext cx="377952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 ортогонализации Грама-Шмидта: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771" y="1982648"/>
            <a:ext cx="5690007" cy="28920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" y="1733016"/>
            <a:ext cx="10119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185"/>
              </a:lnSpc>
            </a:pPr>
            <a:r>
              <a:rPr lang="en-US" sz="298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Математический алгоритм, который преобразует набор линейно независимых векторов в ортогональный (или ортонормированный) базис, сохраняя исходное линейное пространство. Он поочередно корректирует каждый вектор, делая его перпендикулярным предыдущим</a:t>
            </a:r>
            <a:endParaRPr lang="en-US" sz="298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186" y="857251"/>
            <a:ext cx="9830409" cy="42862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77005" y="5417820"/>
            <a:ext cx="414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 для таблиц: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914858"/>
            <a:ext cx="816864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 для таблиц: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2742515"/>
            <a:ext cx="10241280" cy="322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737"/>
              </a:lnSpc>
            </a:pPr>
            <a:r>
              <a:rPr lang="en-US" sz="338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LSTM-сети использовались для моделирования строк как последовательностей, особенно в медицинских и финансовых данных, где столбцы имели естественный порядок (например, временные срезы).</a:t>
            </a:r>
            <a:endParaRPr lang="en-US" sz="3384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163014"/>
            <a:ext cx="1023396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1706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2662</Words>
  <Application>Microsoft Office PowerPoint</Application>
  <PresentationFormat>Широкоэкранный</PresentationFormat>
  <Paragraphs>407</Paragraphs>
  <Slides>104</Slides>
  <Notes>104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104</vt:i4>
      </vt:variant>
    </vt:vector>
  </HeadingPairs>
  <TitlesOfParts>
    <vt:vector size="109" baseType="lpstr">
      <vt:lpstr>Arial</vt:lpstr>
      <vt:lpstr>Calibri</vt:lpstr>
      <vt:lpstr>Calibri Light</vt:lpstr>
      <vt:lpstr>Тема Office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Владислав Холмогоров</dc:creator>
  <cp:lastModifiedBy>Владислав Холмогоров</cp:lastModifiedBy>
  <cp:revision>1</cp:revision>
  <dcterms:created xsi:type="dcterms:W3CDTF">2026-06-16T10:34:02Z</dcterms:created>
  <dcterms:modified xsi:type="dcterms:W3CDTF">2026-06-16T10:35:59Z</dcterms:modified>
</cp:coreProperties>
</file>
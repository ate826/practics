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5"/>
  </p:notesMasterIdLst>
  <p:sldIdLst>
    <p:sldId id="545" r:id="rId3"/>
    <p:sldId id="546" r:id="rId4"/>
    <p:sldId id="475" r:id="rId5"/>
    <p:sldId id="476" r:id="rId6"/>
    <p:sldId id="477" r:id="rId7"/>
    <p:sldId id="478" r:id="rId8"/>
    <p:sldId id="479" r:id="rId9"/>
    <p:sldId id="480" r:id="rId10"/>
    <p:sldId id="481" r:id="rId11"/>
    <p:sldId id="482" r:id="rId12"/>
    <p:sldId id="483" r:id="rId13"/>
    <p:sldId id="484" r:id="rId14"/>
    <p:sldId id="485" r:id="rId15"/>
    <p:sldId id="486" r:id="rId16"/>
    <p:sldId id="487" r:id="rId17"/>
    <p:sldId id="488" r:id="rId18"/>
    <p:sldId id="489" r:id="rId19"/>
    <p:sldId id="490" r:id="rId20"/>
    <p:sldId id="491" r:id="rId21"/>
    <p:sldId id="492" r:id="rId22"/>
    <p:sldId id="493" r:id="rId23"/>
    <p:sldId id="494" r:id="rId24"/>
    <p:sldId id="495" r:id="rId25"/>
    <p:sldId id="496" r:id="rId26"/>
    <p:sldId id="497" r:id="rId27"/>
    <p:sldId id="498" r:id="rId28"/>
    <p:sldId id="499" r:id="rId29"/>
    <p:sldId id="500" r:id="rId30"/>
    <p:sldId id="501" r:id="rId31"/>
    <p:sldId id="502" r:id="rId32"/>
    <p:sldId id="503" r:id="rId33"/>
    <p:sldId id="504" r:id="rId34"/>
    <p:sldId id="505" r:id="rId35"/>
    <p:sldId id="506" r:id="rId36"/>
    <p:sldId id="507" r:id="rId37"/>
    <p:sldId id="508" r:id="rId38"/>
    <p:sldId id="509" r:id="rId39"/>
    <p:sldId id="510" r:id="rId40"/>
    <p:sldId id="511" r:id="rId41"/>
    <p:sldId id="512" r:id="rId42"/>
    <p:sldId id="513" r:id="rId43"/>
    <p:sldId id="514" r:id="rId44"/>
    <p:sldId id="515" r:id="rId45"/>
    <p:sldId id="516" r:id="rId46"/>
    <p:sldId id="517" r:id="rId47"/>
    <p:sldId id="518" r:id="rId48"/>
    <p:sldId id="519" r:id="rId49"/>
    <p:sldId id="520" r:id="rId50"/>
    <p:sldId id="521" r:id="rId51"/>
    <p:sldId id="522" r:id="rId52"/>
    <p:sldId id="523" r:id="rId53"/>
    <p:sldId id="524" r:id="rId54"/>
    <p:sldId id="525" r:id="rId55"/>
    <p:sldId id="526" r:id="rId56"/>
    <p:sldId id="527" r:id="rId57"/>
    <p:sldId id="528" r:id="rId58"/>
    <p:sldId id="529" r:id="rId59"/>
    <p:sldId id="530" r:id="rId60"/>
    <p:sldId id="531" r:id="rId61"/>
    <p:sldId id="532" r:id="rId62"/>
    <p:sldId id="533" r:id="rId63"/>
    <p:sldId id="534" r:id="rId64"/>
    <p:sldId id="535" r:id="rId65"/>
    <p:sldId id="536" r:id="rId66"/>
    <p:sldId id="537" r:id="rId67"/>
    <p:sldId id="538" r:id="rId68"/>
    <p:sldId id="539" r:id="rId69"/>
    <p:sldId id="540" r:id="rId70"/>
    <p:sldId id="541" r:id="rId71"/>
    <p:sldId id="542" r:id="rId72"/>
    <p:sldId id="543" r:id="rId73"/>
    <p:sldId id="544" r:id="rId7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A8748-5D29-45BA-BFB7-2B415036F559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39711-BFD0-4B32-875B-CF43C28353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45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82FED-9D94-2941-4035-820FF4DC5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8BCD5C-FDF6-E0C0-8FB3-11E9E8B26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5C1B32-0C58-D0E9-16B0-C508D372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5B466E-5863-EFA1-F8F2-17C33466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2F44E7-AE59-5D85-721E-D4363ED2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74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D1AC47-5076-A10C-CF14-11E41923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68D80-91D5-3A37-9D1E-CAEC2A7C8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4FB04-11E0-CF86-1C19-BA41C5C6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64E762-E207-CCEC-D2AB-11777236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324EEF-145B-35B6-F044-5C2ECA74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77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4AA2E-BB4F-35C9-CC08-CEB5112F9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FE7607-63BC-1250-4053-BF8B9A0FD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3A3489-B7BB-2369-DF8A-960085B5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AA79E2-58C8-1EDB-80CB-63A4726A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017AC5-B174-D35B-01D6-004D26CD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00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08EAA-D7A2-695C-8FC2-538D3B5C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F511E-60E7-FF44-0A2B-CD1AD22EE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9D9D1A-C46E-1930-8204-2D0D02A3D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5F788C-3BFB-C017-0E21-05CBDC3C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A8199A-7F18-52E7-44ED-90C42DA9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0E312D-EF71-F392-15D8-78764A36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4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3FC96-4BCB-4B3C-0487-88C0A32E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802DF1-C74A-365A-089C-7C0DCCC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2DE826-87E1-C8A2-2AB9-1B7AEA03E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BA1C81-56C8-8252-4325-54D3E1CBE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05391A-44FE-83E0-0665-3FB56F973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423664-ADAF-04B6-7D4F-FFA8525C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07FC535-0E2B-233A-79E8-D8CD609B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ECAAC8D-62D9-E99E-9C84-5CEA1C86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56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694CC-FEF0-A121-E886-21890B14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016A23-BACD-B6A6-D7D0-06D148F6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75ABF1-E8CD-605D-DC39-8F2058ED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8EF6B1-B4C0-BD7C-33EB-58494D9A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77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D59BF7-6171-2FBF-CD39-431B49B8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E79C9E-102F-16F5-89D4-79298D65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9B4BEF-21CB-450E-A142-A9C3A4F6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19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23FB6-7B8B-EC23-1884-2597D675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A2BB9-24E2-B614-93D8-4F1C99D6A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68AE71-D842-9CFC-4396-3B6E5D0F6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2BDA41-C05A-4F04-F2F2-915704EE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BBA97D-B05A-E858-132D-3860EF9F8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A376D4-74DE-57FA-0D1E-BC114AF0C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83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E547E-1465-1E5E-80A9-81B05B31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09277A-FD7C-FD77-3538-70D7BBDB9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427CC2-F560-311C-75D8-FE0C822FD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E3AE09-3305-E2BB-2774-E644E50D2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BBA37E-B4EE-77B9-5C3D-4B37B483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1CBE8C-6EF4-9096-017B-54D91E54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80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855BF-5483-919E-644A-1D0D8B05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227D07-D096-B8BC-68FF-BE92E27DA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7F7ED6-9EDC-1626-F8E4-CD0AD6B9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97AB9-0410-86C2-56DB-CA066DAC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B317CA-FBBC-2342-2A18-5158B472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05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0C06A9-424A-0153-D2B2-FC384F0D6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9DE75D-317D-A7B7-60BE-2D0ED18D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6648C3-F769-7714-D20A-CF9FA124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FAA142-56D3-B3F5-6186-25B1B0C6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08B934-73C6-115C-DDE8-2D16F08D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079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76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3EC8B-530C-3AB1-8945-9DCF3534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458C3F-9B0F-68B9-D870-238FE3F7D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247D9-A3FC-53CA-3787-D9E0CB317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B09E2-F9F3-43E7-B8A8-6A402130735C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843CF6-BE36-D4E6-CEC6-A53E5FEF0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96DEE5-D75C-72BF-8240-14397A8CD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B4D24-BBE3-4BB9-9FB4-DFAD7D511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97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39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1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7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10" Type="http://schemas.openxmlformats.org/officeDocument/2006/relationships/image" Target="../media/image4.svg"/><Relationship Id="rId4" Type="http://schemas.openxmlformats.org/officeDocument/2006/relationships/image" Target="../media/image1.svg"/><Relationship Id="rId9" Type="http://schemas.openxmlformats.org/officeDocument/2006/relationships/image" Target="../media/image3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3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9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42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7.sv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Relationship Id="rId9" Type="http://schemas.openxmlformats.org/officeDocument/2006/relationships/image" Target="../media/image4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2276856"/>
            <a:ext cx="8290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ru-RU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4</a:t>
            </a: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ru-RU" sz="406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4061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искусственные</a:t>
            </a: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61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нейронные</a:t>
            </a: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61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сети</a:t>
            </a:r>
            <a:r>
              <a:rPr lang="ru-RU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генерации табличных данных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3112" y="1982110"/>
            <a:ext cx="9425776" cy="2893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ru-RU" sz="406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ДИСКЛЕЙМЕР: перед началом изучения данной лекции рекомендуется изучать основы </a:t>
            </a:r>
            <a:r>
              <a:rPr lang="en-US" sz="406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GAN, VAE </a:t>
            </a:r>
            <a:r>
              <a:rPr lang="ru-RU" sz="406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</a:t>
            </a:r>
            <a:r>
              <a:rPr lang="en-US" sz="406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DDPM </a:t>
            </a:r>
            <a:r>
              <a:rPr lang="ru-RU" sz="406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лекции 5!</a:t>
            </a:r>
            <a:endParaRPr lang="en-US" sz="4061" dirty="0">
              <a:solidFill>
                <a:srgbClr val="C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876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(Generative Adversarial Network)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682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TVAE (Tabular Variational Autoencoder)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1011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TabDDPM (Tabular Denoising Diffusion Probabilistic Model)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4579" y="1892809"/>
            <a:ext cx="30480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(Generative Adversarial Network)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586" y="1829029"/>
            <a:ext cx="5690007" cy="3200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(Generative Adversar...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TableGAN: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CTGAN (Conditional Tabular GAN):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CopulaGAN 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8055" y="2983231"/>
            <a:ext cx="35356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TableGAN: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62" y="1606145"/>
            <a:ext cx="5690007" cy="3645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3901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TableGAN: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99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базируется на глубоких сверточных сетях (CNN), адаптированных для работы с табличными данными.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Генератор (деконволюционная сеть) принимает на вход вектор случайного шума и генерирует синтетическую двумерную матрицу, и...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038572"/>
            <a:ext cx="938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Дискриминатор (свёрточная сеть) отличает реальные табличные строки (или матрицы данных) от синтетических, сгенерированных генератором.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6821652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Классификатор (свёрточная сеть) - вспомогательный компонент TableGAN, который обучается в процессе для сохранения семантиче...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038573"/>
            <a:ext cx="91440" cy="4574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6821653"/>
            <a:ext cx="91440" cy="4574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802283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16"/>
              </a:lnSpc>
            </a:pPr>
            <a:r>
              <a:rPr lang="en-US" sz="3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Генератор (деконволюционная сеть) принимает на вход вектор случайного шума и генерирует синтетическую двумерную матрицу, имитирующую строки и столбцы исходного табличного набора данных.</a:t>
            </a:r>
            <a:endParaRPr lang="en-US" sz="34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045" y="1829029"/>
            <a:ext cx="103632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Классификатор (свёрточная сеть) - вспомогательный компонент TableGAN, который обучается в процессе для сохранения семантической целостности данных, максимизируя точность классификации или прогноза по определенным целевым столбцам, предотвращая появление логически некорректных записей.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6851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Классификатор (свёрточная сеть) - 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42664"/>
            <a:ext cx="1036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Помимо потери генератора и дискриминатора TGAN рассчитывает ошибку классификации (Classification Loss).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63163"/>
            <a:ext cx="1029492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615" y="2276856"/>
            <a:ext cx="377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CTGAN (Conditional Tabular GAN):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22" y="1223467"/>
            <a:ext cx="5690007" cy="4410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396"/>
              </a:lnSpc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CTGAN (Conditional Tabular GAN):</a:t>
            </a:r>
            <a:endParaRPr lang="en-US" sz="45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269999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фундаментальные проблемы TGAN - мультимодальные распределения (когда у чисел неск...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748583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Отказывается от свёрток в пользу полносвязных слоев (MLP) с блоками остаточных связей (ResNet-like), мод...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226481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вариационную оценку Гауссовской смеси (VGM — Variational Gaussian Mixture):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269999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748583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226481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017" y="1722044"/>
            <a:ext cx="10241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фундаментальные проблемы TGAN - мультимодальные распределения (когда у чисел несколько пиков на графике) и сильный дисбаланс классов в таблицах.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14858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фундаментальные 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90671"/>
            <a:ext cx="1024128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16"/>
              </a:lnSpc>
            </a:pPr>
            <a:r>
              <a:rPr lang="en-US" sz="3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условные генераторы для лучшего отражения взаимосвязей и распределений в наборах данных смешанного типа:</a:t>
            </a:r>
            <a:endParaRPr lang="en-US" sz="344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411170"/>
            <a:ext cx="1017300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875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условные ге...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38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Представление информации об условиях, а также подготовка к подаче данных 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902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Сохранение заданного условия сгенерированных строковых данных.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038572"/>
            <a:ext cx="999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Необходимость для генератора условных распределений заключается в изучении условного распределения реальных данных 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038573"/>
            <a:ext cx="91440" cy="4574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675" y="1935328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421"/>
              </a:lnSpc>
            </a:pPr>
            <a:r>
              <a:rPr lang="en-US" sz="315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Отказывается от свёрток в пользу полносвязных слоев (MLP) с блоками остаточных связей (ResNet-like), модели не важен порядок столбцов, так как она работает с данными как с чистыми векторами признаков.</a:t>
            </a:r>
            <a:endParaRPr lang="en-US" sz="315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213868"/>
            <a:ext cx="10316871" cy="3089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577715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вариационную оценку Гауссовской смеси (VGM — Variational Gaussian Mixture):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999744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вариационную оце...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5608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𝜂 - мода;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μₖ - вес;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ɸₖ - стандартное отклонение моды.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59049"/>
            <a:ext cx="988283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359256"/>
            <a:ext cx="10316871" cy="3193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826660"/>
            <a:ext cx="280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CopulaGAN 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267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CopulaGAN 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0185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Упрощает задачу для нейросети с помощью математической статистики, а затем передает данные в GAN.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0185" y="38493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Разделяет процесс обучения на два шага: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99591" y="47868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распределение данных в столбце абсолютно хаотично или имеет аномальные разрывы, копула может с...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186" y="4874667"/>
            <a:ext cx="351129" cy="3504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2386584"/>
            <a:ext cx="104851" cy="52600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3849396"/>
            <a:ext cx="104851" cy="52600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4786884"/>
            <a:ext cx="104851" cy="5260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Разделяет процесс обуче...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статистики (Copula): Модель изучает распределение каждого столбца в отдельности (марги...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нейросети (GAN): На сглаженных и упрощенных данных обучается модель типа CTGAN, которой боль...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" y="1733016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статистики (Copula): Модель изучает распределение каждого столбца в отдельности (маргинальные распределения) и преобразует их через функцию распределения (CDF - Cumulative Distribution Function) в стандартную нормальную форму (колоколообразную кривую).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статистики (Copula): 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Distribution Function - это математическая функция, которая описывает вероятность того, что слу...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копул (Теорема Склара):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7943" y="1628775"/>
            <a:ext cx="950976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Distribution Function - это математическая функция, которая описывает вероятность того, что случайная величина X примет значение, меньшее или равное заданному числу x (PDF - Probability Density Function, она же "функция плотности вероятности" показывает вероятность того, что случайная величина примет конкретное, точное значение).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2153413"/>
            <a:ext cx="10316871" cy="16054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032504"/>
            <a:ext cx="780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копул (Теорема Склара):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9485" y="1733016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нейросети (GAN): На сглаженных и упрощенных данных обучается модель типа CTGAN, которой больше не нужно тратить ресурсы на понимание числовых пиков - она фокусируется только на скрытых взаимосвязях и корреляциях между столбцами.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4736" y="1988820"/>
            <a:ext cx="3169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генерации процесс разворачивается в обратную сторону.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8512" y="2059457"/>
            <a:ext cx="609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статистики (Copu...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41223" y="4030447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нейросети (GAN):...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7703" y="857251"/>
            <a:ext cx="1087527" cy="25909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7703" y="3429001"/>
            <a:ext cx="1087527" cy="25717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657" y="1855775"/>
            <a:ext cx="10363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659"/>
              </a:lnSpc>
            </a:pPr>
            <a:r>
              <a:rPr lang="en-US" sz="33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распределение данных в столбце абсолютно хаотично или имеет аномальные разрывы, копула может слишком сильно сгладить эти данные, потеряв уникальные нерегулярности, которые CTGAN бы заметил.</a:t>
            </a:r>
            <a:endParaRPr lang="en-US" sz="3328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223" y="1945615"/>
            <a:ext cx="449885" cy="449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81" y="857251"/>
            <a:ext cx="9820656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7645" y="54178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TVAE (Tabular Variational Autoencoder)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TVAE (Tabular Variational 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 специально для неоднородных (смешанных) табличных данных, так как классический VAE изначал...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Декодер TVAE имеет разные головы (output heads) для разных типов данных: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подачей в энкодер к непрерывным данным применяется логарифмическое преобразование (напр...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821652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исключительно Многослойные Перцептроны (MLP / Fully Connected networks): таблич...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8299552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взвешенную сумму ошибок, соответствующих типам данных, что позволяет модел...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38605" y="97781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Существуют модификации вроде CTVAE и TTVAE: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9854260"/>
            <a:ext cx="381609" cy="38130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821652"/>
            <a:ext cx="114605" cy="53355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66" y="8299552"/>
            <a:ext cx="114605" cy="533552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7566" y="9778136"/>
            <a:ext cx="114605" cy="53355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733016"/>
            <a:ext cx="9631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 специально для неоднородных (смешанных) табличных данных, так как классический VAE изначально разрабатывался для однородных данных высокой размерности (например, изображений, где все пиксели -  непрерывные значения от 0 до 1, или аудио).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Декодер TVAE имеет разн...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9213" y="2386584"/>
            <a:ext cx="816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непрерывных признаков предсказывает параметры распределения: среднее (μ) и дисперсию (σ^2).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9213" y="3735552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категориальных признаков предсказывает логиты (вероятности) для каждого возможного класса через функцию Softmax.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93879" cy="46840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735553"/>
            <a:ext cx="93879" cy="4684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95335" y="1988820"/>
            <a:ext cx="3048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P.S.: Классический VAE ожидает, что все входные дан...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1560" y="2071116"/>
            <a:ext cx="412089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5049" y="2059457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непрерывных пр...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937565" y="4030447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категориальных п...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2579" y="857251"/>
            <a:ext cx="1087527" cy="25909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2579" y="3429001"/>
            <a:ext cx="1087527" cy="25717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6711" y="2459965"/>
            <a:ext cx="103632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87"/>
              </a:lnSpc>
            </a:pPr>
            <a:r>
              <a:rPr lang="en-US" sz="23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P.S.: Классический VAE ожидает, что все входные данные одного типа. Например, если это изображения, декодер выдает один набор значений (вероятности пикселей через сигмоиду или непрерывные значения через линейный слой).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853" y="2540203"/>
            <a:ext cx="323088" cy="323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37" y="1371600"/>
            <a:ext cx="10363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подачей в энкодер к непрерывным данным применяется логарифмическое преобразование (например, x′ = log(x−min(x)+1)), что сжимает длинные хвосты значений столбцов и делает распределение более похожим на гауссово, что идеально ложится на априорное предположения VAE о латентном пространстве; при генерации применяется обратное экспоненциальное преобразование.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497" y="1628775"/>
            <a:ext cx="1024128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исключительно Многослойные Перцептроны (MLP / Fully Connected networks): табличные данные не имеют пространственной локальности (как пиксели) или временной зависимости (как слова), поэтому свертки исходного VAE неэффективны - полносвязные слои лучше всего подходят для изучения корреляций между независимыми столбцами таблицы.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826971"/>
            <a:ext cx="10316871" cy="8257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2927681"/>
            <a:ext cx="1036320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взвешенную сумму ошибок, соответствующих типам данных, что позволяет модели одновременно учиться восстанавливать и точные числа, и правильные категории, не смешивая их метрики.: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68477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взвешенную сумму...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4143604"/>
            <a:ext cx="1036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Обычный VAE использует либо Mean Squared Error (MSE) для непрерывных данных, либо Binary Cross-Entropy (BCE) для бинаризованных изображений + KL-дивергенция.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flagMarkers/flag-re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4235502"/>
            <a:ext cx="365760" cy="36553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564789"/>
            <a:ext cx="10257129" cy="5788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052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Существуют модифика...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970407"/>
            <a:ext cx="754685" cy="75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9849" y="2386584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CTVAE использует контрастные потери, чтобы принудительно развести представления разных классов в латентном пространстве, 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775" y="2462709"/>
            <a:ext cx="304800" cy="3044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9849" y="3712236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внимания трансформера позволяет модели динамически взвешивать важность каждого признака относительно других при кодировании строки.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2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775" y="3788359"/>
            <a:ext cx="304800" cy="30449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7929" y="1628775"/>
            <a:ext cx="1036320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CTVAE использует контрастные потери, чтобы принудительно развести представления разных классов в латентном пространстве, что заставляет модель учить уникальные паттерны для каждого класса, что позволяет генерировать высококачественные синтетические выборки как для мажоритарных, так и для миноритарных групп (нужно в условиях сильного дисбаланса классов).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1714501"/>
            <a:ext cx="342595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134" y="857251"/>
            <a:ext cx="9610953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1133" y="541782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TabDDPM (Tabular Denoising Diffusion Probabilistic Model)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TabDDPM (Tabular Denoisi...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непрерывную релаксацию: категориальные признаки кодируются и трактуются как непрерывные в...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качестве предсказателя шума (noise predictor) используются Многослойные Перцептроны (MLP) или 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TabDDPM применяет Квантильный трансформер (Quantile Transformer) к непрерывным признакам пере...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821652"/>
            <a:ext cx="890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Поскольку данные смешанные, функция потерь L является взвешенной суммой: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821652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9965" y="1371600"/>
            <a:ext cx="1011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непрерывную релаксацию: категориальные признаки кодируются и трактуются как непрерывные векторы в процессе диффузии, но на этапе генерации и вычисления функции потерь к ним применяются специфические преобразования (например, предсказание вероятностей классов через softmax или использование кросс-энтропии), чтобы на выходе получить корректные дискретные значения.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непрерывную рела...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49655" y="3937864"/>
            <a:ext cx="9875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DDPM добавляет гауссовский шум ко всем данным - если применить это к one-hot вектору категории, он потеряет свой дискретный смысл и превратится в бессмысленный непрерывный вектор.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4023589"/>
            <a:ext cx="342595" cy="3429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59049"/>
            <a:ext cx="10081565" cy="5788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9511" y="1935328"/>
            <a:ext cx="1036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421"/>
              </a:lnSpc>
            </a:pPr>
            <a:r>
              <a:rPr lang="en-US" sz="315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качестве предсказателя шума (noise predictor) используются Многослойные Перцептроны (MLP) или Трансформеры, которые оценивают глобальные взаимодействия между всеми признаками одновременно.</a:t>
            </a:r>
            <a:endParaRPr lang="en-US" sz="315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68477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качестве предсказателя шум...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4143604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DDPM использует сверточные сети (U-Net), которые ищут локальные пространственные паттерны (соседние пиксели), в таблицах же нет "соседнего столбца".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symbolMarkers/symbol-excla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4235502"/>
            <a:ext cx="365760" cy="36553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564789"/>
            <a:ext cx="10241280" cy="5788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4387" y="1733016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TabDDPM применяет Квантильный трансформер (Quantile Transformer) к непрерывным признакам перед обучением, что принудительно выпрямляет любое распределение в стандартное нормальное, что совпадает с априорным предположением диффузионной модели о гауссовском шуме. 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691869"/>
            <a:ext cx="10316871" cy="2132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099027"/>
            <a:ext cx="963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Поскольку данные смешанные, функция потерь L является взвешенной суммой: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Поскольку данные смеш...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75309" y="2386585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непрерывных признаков - L_cont (классическая MSE между истинным шумом и предсказанным шумом для признаков).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5309" y="3804133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категориальных признаков - L_cat (модель предсказывает "шум" для них, но при вычислении потерь или на финальном ...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101193" cy="5026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04133"/>
            <a:ext cx="101193" cy="502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169" y="1628775"/>
            <a:ext cx="1011936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категориальных признаков - L_cat (модель предсказывает "шум" для них, но при вычислении потерь или на финальном этапе декодирования применяется функция, близкая к Cross-Entropy, чтобы штрафовать модель за неправильное предсказание вероятности правильного класса, а не просто за евклидово расстояние между векторами).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Эволюционные алгоритмы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743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Основанные на генетических алгоритмах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разновидности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752" y="1892809"/>
            <a:ext cx="36576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Основанные на генетических алгоритмах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9" y="1754963"/>
            <a:ext cx="5690007" cy="3347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53949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Основанные на генетических алгор...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29761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абстракция теории эволюции, использует алгоритмы мутации и скрещивания для получения нового поколения, а также фитнес-функцию и методы отбора для определения выживаемости популяции и пригодности к решению задачи.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450261"/>
            <a:ext cx="10226649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50" y="857251"/>
            <a:ext cx="9963303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45613" y="54178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разновидности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76579"/>
            <a:ext cx="73152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разновидности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52393"/>
            <a:ext cx="1024128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Включают эволюционное программирование и стратегии, генетическое программирование, дифференциальную эволюцию, меметические и другие алгоритмы, в основе которых лежит видоизменённый генетический алгоритм с определёнными конкретизациями.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72891"/>
            <a:ext cx="1015715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201" y="1988820"/>
            <a:ext cx="3169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задачах генерации данных эволюционные алгоритмы ...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2441" y="3044952"/>
            <a:ext cx="524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defTabSz="1219170">
              <a:lnSpc>
                <a:spcPts val="5685"/>
              </a:lnSpc>
            </a:pPr>
            <a:r>
              <a:rPr lang="en-US" sz="406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Эволюционные ал...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6727" y="857251"/>
            <a:ext cx="2037283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703" y="1988820"/>
            <a:ext cx="10363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задачах генерации данных эволюционные алгоритмы генерируют векторы действительных чисел, являющиеся закодированными векторами исходных столбцов, пикселей изображений, слов и предложений и т.п.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7645" y="1722044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есть на начальном этапе необходимо преобразовать исходные данные в векторное представление (чаще бинарное, что наиболее релевантно для классических генетических алгоритмов).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priorityMarkers/priority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95" y="1819429"/>
            <a:ext cx="487680" cy="487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0" y="2276856"/>
            <a:ext cx="9631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с помощью операторов скрещивания и мутации создавать новые векторы.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priorityMarkers/priority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6489" y="238658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8617" y="1722044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декодировать полученные векторы, проверять с помощью фитнес-функции, а потом оператором отбора оставлять наиболее релеватные решения до достижения условия сходимости.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priorityMarkers/priority-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87" y="1819429"/>
            <a:ext cx="487680" cy="487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243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Объективные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Субъективные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52425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Объективные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682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TSTR (Train on Synthetic, Test on Real)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524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Обязательные/Запрещённые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6851"/>
            <a:ext cx="999744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TSTR (Train on Synthetic, Test on R...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42664"/>
            <a:ext cx="9387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валидационной выборке исходного естественного или эталонного набора данных.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63163"/>
            <a:ext cx="995964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99085"/>
            <a:ext cx="73152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Обязательные/Запрещённые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74898"/>
            <a:ext cx="103632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условия, явно указывающие, какие значения обязательно должны или НЕ должны быть сгенерированы моделью.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95397"/>
            <a:ext cx="10257129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5608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Субъективные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9213" y="2386585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9213" y="3266466"/>
            <a:ext cx="4267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DCR (DCRBaselineProtection)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9213" y="4147033"/>
            <a:ext cx="1706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TabSynDex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9213" y="5026915"/>
            <a:ext cx="938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статистические метрики: корреляционный анализ, анализ мод, медиан, средних, анализ дисперсии.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93879" cy="46840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266466"/>
            <a:ext cx="93879" cy="4684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147033"/>
            <a:ext cx="93879" cy="46840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026916"/>
            <a:ext cx="93879" cy="4684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706271"/>
            <a:ext cx="10316871" cy="24990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479645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6851"/>
            <a:ext cx="103632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42664"/>
            <a:ext cx="1036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Проверяет, одинаково ли модель рассуждает при работе с реальными и синтетическими данными.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63163"/>
            <a:ext cx="1030224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843432"/>
            <a:ext cx="10316871" cy="22240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342485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DCR (DCRBaselineProtection)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62863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DCR (DCRBaselineProtec...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38676"/>
            <a:ext cx="1036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580"/>
              </a:lnSpc>
            </a:pPr>
            <a:r>
              <a:rPr lang="en-US" sz="32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Измеряет, насколько синтетические данные "близки" к реальным - высокая близость означает высокий риск переобучения и утечки данных.</a:t>
            </a:r>
            <a:endParaRPr lang="en-US" sz="327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59175"/>
            <a:ext cx="102485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2097176"/>
            <a:ext cx="10316871" cy="17172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088740"/>
            <a:ext cx="268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TabSynDex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145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TabSynDex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Стремится дать единую, всеобъемлющую оценку качества синтетических данных, объединяя несколько аспектов в один итоговый балл.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902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S_basic - базовое статистическое сходство (среднее, медиана, стандартное отклонение).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495317"/>
            <a:ext cx="8778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S_corrl - сходство корреляционных матриц между столбцами.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6775" y="6364225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S_pMSE - сходство совместных распределений признаков.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66775" y="7233132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S_cr - метрика, оценивающая, насколько хорошо синтетические данные подходят для задач классификации и регрессии.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6775" y="8558784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S_ml - оценка полезности для задач машинного обучения.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495317"/>
            <a:ext cx="91440" cy="45742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6364225"/>
            <a:ext cx="91440" cy="457428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5" y="7233132"/>
            <a:ext cx="91440" cy="45742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65" y="8558784"/>
            <a:ext cx="91440" cy="4574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05" y="857251"/>
            <a:ext cx="8572195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805" y="5417820"/>
            <a:ext cx="9631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статистические метрики: корреляционный анализ, анализ мод, медиан, средних, анализ дисперсии.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2245</Words>
  <Application>Microsoft Office PowerPoint</Application>
  <PresentationFormat>Широкоэкранный</PresentationFormat>
  <Paragraphs>289</Paragraphs>
  <Slides>72</Slides>
  <Notes>72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72</vt:i4>
      </vt:variant>
    </vt:vector>
  </HeadingPairs>
  <TitlesOfParts>
    <vt:vector size="77" baseType="lpstr">
      <vt:lpstr>Arial</vt:lpstr>
      <vt:lpstr>Calibri</vt:lpstr>
      <vt:lpstr>Calibri Light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Холмогоров</dc:creator>
  <cp:lastModifiedBy>Владислав Холмогоров</cp:lastModifiedBy>
  <cp:revision>3</cp:revision>
  <dcterms:created xsi:type="dcterms:W3CDTF">2026-06-16T10:36:35Z</dcterms:created>
  <dcterms:modified xsi:type="dcterms:W3CDTF">2026-06-16T10:40:18Z</dcterms:modified>
</cp:coreProperties>
</file>
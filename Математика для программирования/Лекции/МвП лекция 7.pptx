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81"/>
  </p:notesMasterIdLst>
  <p:sldIdLst>
    <p:sldId id="864" r:id="rId3"/>
    <p:sldId id="787" r:id="rId4"/>
    <p:sldId id="788" r:id="rId5"/>
    <p:sldId id="789" r:id="rId6"/>
    <p:sldId id="790" r:id="rId7"/>
    <p:sldId id="791" r:id="rId8"/>
    <p:sldId id="792" r:id="rId9"/>
    <p:sldId id="793" r:id="rId10"/>
    <p:sldId id="794" r:id="rId11"/>
    <p:sldId id="795" r:id="rId12"/>
    <p:sldId id="796" r:id="rId13"/>
    <p:sldId id="797" r:id="rId14"/>
    <p:sldId id="798" r:id="rId15"/>
    <p:sldId id="799" r:id="rId16"/>
    <p:sldId id="800" r:id="rId17"/>
    <p:sldId id="801" r:id="rId18"/>
    <p:sldId id="802" r:id="rId19"/>
    <p:sldId id="803" r:id="rId20"/>
    <p:sldId id="804" r:id="rId21"/>
    <p:sldId id="805" r:id="rId22"/>
    <p:sldId id="806" r:id="rId23"/>
    <p:sldId id="807" r:id="rId24"/>
    <p:sldId id="808" r:id="rId25"/>
    <p:sldId id="809" r:id="rId26"/>
    <p:sldId id="810" r:id="rId27"/>
    <p:sldId id="811" r:id="rId28"/>
    <p:sldId id="812" r:id="rId29"/>
    <p:sldId id="813" r:id="rId30"/>
    <p:sldId id="814" r:id="rId31"/>
    <p:sldId id="815" r:id="rId32"/>
    <p:sldId id="816" r:id="rId33"/>
    <p:sldId id="817" r:id="rId34"/>
    <p:sldId id="818" r:id="rId35"/>
    <p:sldId id="819" r:id="rId36"/>
    <p:sldId id="820" r:id="rId37"/>
    <p:sldId id="821" r:id="rId38"/>
    <p:sldId id="822" r:id="rId39"/>
    <p:sldId id="823" r:id="rId40"/>
    <p:sldId id="824" r:id="rId41"/>
    <p:sldId id="825" r:id="rId42"/>
    <p:sldId id="826" r:id="rId43"/>
    <p:sldId id="827" r:id="rId44"/>
    <p:sldId id="828" r:id="rId45"/>
    <p:sldId id="829" r:id="rId46"/>
    <p:sldId id="830" r:id="rId47"/>
    <p:sldId id="831" r:id="rId48"/>
    <p:sldId id="832" r:id="rId49"/>
    <p:sldId id="833" r:id="rId50"/>
    <p:sldId id="834" r:id="rId51"/>
    <p:sldId id="835" r:id="rId52"/>
    <p:sldId id="836" r:id="rId53"/>
    <p:sldId id="837" r:id="rId54"/>
    <p:sldId id="838" r:id="rId55"/>
    <p:sldId id="839" r:id="rId56"/>
    <p:sldId id="840" r:id="rId57"/>
    <p:sldId id="841" r:id="rId58"/>
    <p:sldId id="842" r:id="rId59"/>
    <p:sldId id="843" r:id="rId60"/>
    <p:sldId id="844" r:id="rId61"/>
    <p:sldId id="845" r:id="rId62"/>
    <p:sldId id="846" r:id="rId63"/>
    <p:sldId id="847" r:id="rId64"/>
    <p:sldId id="848" r:id="rId65"/>
    <p:sldId id="849" r:id="rId66"/>
    <p:sldId id="850" r:id="rId67"/>
    <p:sldId id="851" r:id="rId68"/>
    <p:sldId id="852" r:id="rId69"/>
    <p:sldId id="853" r:id="rId70"/>
    <p:sldId id="854" r:id="rId71"/>
    <p:sldId id="855" r:id="rId72"/>
    <p:sldId id="856" r:id="rId73"/>
    <p:sldId id="857" r:id="rId74"/>
    <p:sldId id="858" r:id="rId75"/>
    <p:sldId id="859" r:id="rId76"/>
    <p:sldId id="860" r:id="rId77"/>
    <p:sldId id="861" r:id="rId78"/>
    <p:sldId id="862" r:id="rId79"/>
    <p:sldId id="863" r:id="rId8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55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988B63-7437-4D56-84E3-6581BEC3DE74}" type="datetimeFigureOut">
              <a:rPr lang="ru-RU" smtClean="0"/>
              <a:t>16.06.2026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02A73-5384-403D-A2EF-6004CD621FDC}" type="slidenum">
              <a:rPr lang="ru-RU" smtClean="0"/>
              <a:t>‹#›</a:t>
            </a:fld>
            <a:endParaRPr lang="ru-RU"/>
          </a:p>
        </p:txBody>
      </p:sp>
    </p:spTree>
    <p:extLst>
      <p:ext uri="{BB962C8B-B14F-4D97-AF65-F5344CB8AC3E}">
        <p14:creationId xmlns:p14="http://schemas.microsoft.com/office/powerpoint/2010/main" val="418227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28F91-6E10-D26A-6A14-3979C20F2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1F4E94-A379-E207-70F0-B6D2EC789F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E4DACE-D628-4DDC-D88B-234B9D7178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66FDDF-4778-F9B6-FF7E-329C3910437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4530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E634E6-1265-9EB8-C6CE-C6862A25DA53}"/>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71985BE4-EC25-D97A-0667-0B64FD7E31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C3F6A7B4-9059-A414-2C5C-48ACDAE248CE}"/>
              </a:ext>
            </a:extLst>
          </p:cNvPr>
          <p:cNvSpPr>
            <a:spLocks noGrp="1"/>
          </p:cNvSpPr>
          <p:nvPr>
            <p:ph type="dt" sz="half" idx="10"/>
          </p:nvPr>
        </p:nvSpPr>
        <p:spPr/>
        <p:txBody>
          <a:bodyPr/>
          <a:lstStyle/>
          <a:p>
            <a:fld id="{4ECB3BB0-D62F-481B-80EC-E7886DDE3962}"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0D7FD076-672C-886E-488F-579AEE3B47C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F27BCB9-7717-93C6-2527-4DA156D1F921}"/>
              </a:ext>
            </a:extLst>
          </p:cNvPr>
          <p:cNvSpPr>
            <a:spLocks noGrp="1"/>
          </p:cNvSpPr>
          <p:nvPr>
            <p:ph type="sldNum" sz="quarter" idx="12"/>
          </p:nvPr>
        </p:nvSpPr>
        <p:spPr/>
        <p:txBody>
          <a:bodyPr/>
          <a:lstStyle/>
          <a:p>
            <a:fld id="{D7C49AD2-90CD-4323-9D19-D0CFDF4A41A2}" type="slidenum">
              <a:rPr lang="ru-RU" smtClean="0"/>
              <a:t>‹#›</a:t>
            </a:fld>
            <a:endParaRPr lang="ru-RU"/>
          </a:p>
        </p:txBody>
      </p:sp>
    </p:spTree>
    <p:extLst>
      <p:ext uri="{BB962C8B-B14F-4D97-AF65-F5344CB8AC3E}">
        <p14:creationId xmlns:p14="http://schemas.microsoft.com/office/powerpoint/2010/main" val="1389040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CA566B-B4B1-5D68-91A2-3A34A66DBD64}"/>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BEC55C2A-8DAA-29E1-DD2A-9504AED23CBC}"/>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057824C-4E09-646B-6F27-AD020BA17B5B}"/>
              </a:ext>
            </a:extLst>
          </p:cNvPr>
          <p:cNvSpPr>
            <a:spLocks noGrp="1"/>
          </p:cNvSpPr>
          <p:nvPr>
            <p:ph type="dt" sz="half" idx="10"/>
          </p:nvPr>
        </p:nvSpPr>
        <p:spPr/>
        <p:txBody>
          <a:bodyPr/>
          <a:lstStyle/>
          <a:p>
            <a:fld id="{4ECB3BB0-D62F-481B-80EC-E7886DDE3962}"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81CA0839-38F9-804A-7B50-E56D1F3035D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190C952-4FE4-7039-7EDF-A47604DFE3E3}"/>
              </a:ext>
            </a:extLst>
          </p:cNvPr>
          <p:cNvSpPr>
            <a:spLocks noGrp="1"/>
          </p:cNvSpPr>
          <p:nvPr>
            <p:ph type="sldNum" sz="quarter" idx="12"/>
          </p:nvPr>
        </p:nvSpPr>
        <p:spPr/>
        <p:txBody>
          <a:bodyPr/>
          <a:lstStyle/>
          <a:p>
            <a:fld id="{D7C49AD2-90CD-4323-9D19-D0CFDF4A41A2}" type="slidenum">
              <a:rPr lang="ru-RU" smtClean="0"/>
              <a:t>‹#›</a:t>
            </a:fld>
            <a:endParaRPr lang="ru-RU"/>
          </a:p>
        </p:txBody>
      </p:sp>
    </p:spTree>
    <p:extLst>
      <p:ext uri="{BB962C8B-B14F-4D97-AF65-F5344CB8AC3E}">
        <p14:creationId xmlns:p14="http://schemas.microsoft.com/office/powerpoint/2010/main" val="253094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1EC1CA-64B7-A37C-BCB8-A77328AE75DF}"/>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C03BF216-7B12-344C-AE46-17F88EC66E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85DC9EFC-0278-29B9-03DB-0009ECE97E07}"/>
              </a:ext>
            </a:extLst>
          </p:cNvPr>
          <p:cNvSpPr>
            <a:spLocks noGrp="1"/>
          </p:cNvSpPr>
          <p:nvPr>
            <p:ph type="dt" sz="half" idx="10"/>
          </p:nvPr>
        </p:nvSpPr>
        <p:spPr/>
        <p:txBody>
          <a:bodyPr/>
          <a:lstStyle/>
          <a:p>
            <a:fld id="{4ECB3BB0-D62F-481B-80EC-E7886DDE3962}"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2DCB3627-AA43-9E79-8EBD-B6341129ABD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19D5516-60C4-4F99-E1A9-5624AE446E74}"/>
              </a:ext>
            </a:extLst>
          </p:cNvPr>
          <p:cNvSpPr>
            <a:spLocks noGrp="1"/>
          </p:cNvSpPr>
          <p:nvPr>
            <p:ph type="sldNum" sz="quarter" idx="12"/>
          </p:nvPr>
        </p:nvSpPr>
        <p:spPr/>
        <p:txBody>
          <a:bodyPr/>
          <a:lstStyle/>
          <a:p>
            <a:fld id="{D7C49AD2-90CD-4323-9D19-D0CFDF4A41A2}" type="slidenum">
              <a:rPr lang="ru-RU" smtClean="0"/>
              <a:t>‹#›</a:t>
            </a:fld>
            <a:endParaRPr lang="ru-RU"/>
          </a:p>
        </p:txBody>
      </p:sp>
    </p:spTree>
    <p:extLst>
      <p:ext uri="{BB962C8B-B14F-4D97-AF65-F5344CB8AC3E}">
        <p14:creationId xmlns:p14="http://schemas.microsoft.com/office/powerpoint/2010/main" val="3425071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47DE63-E06D-C47E-0F53-7FD67F267DE8}"/>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1AAD1E2E-E6E5-418A-FAE3-BDC764864E6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D39D1B1E-7758-F333-F1F2-55360892E870}"/>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8936382F-0F8D-EA87-CDA7-DD580A582E60}"/>
              </a:ext>
            </a:extLst>
          </p:cNvPr>
          <p:cNvSpPr>
            <a:spLocks noGrp="1"/>
          </p:cNvSpPr>
          <p:nvPr>
            <p:ph type="dt" sz="half" idx="10"/>
          </p:nvPr>
        </p:nvSpPr>
        <p:spPr/>
        <p:txBody>
          <a:bodyPr/>
          <a:lstStyle/>
          <a:p>
            <a:fld id="{4ECB3BB0-D62F-481B-80EC-E7886DDE3962}" type="datetimeFigureOut">
              <a:rPr lang="ru-RU" smtClean="0"/>
              <a:t>16.06.2026</a:t>
            </a:fld>
            <a:endParaRPr lang="ru-RU"/>
          </a:p>
        </p:txBody>
      </p:sp>
      <p:sp>
        <p:nvSpPr>
          <p:cNvPr id="6" name="Нижний колонтитул 5">
            <a:extLst>
              <a:ext uri="{FF2B5EF4-FFF2-40B4-BE49-F238E27FC236}">
                <a16:creationId xmlns:a16="http://schemas.microsoft.com/office/drawing/2014/main" id="{14093CF2-CBF7-B17A-F835-EDF46B927130}"/>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33E33A5-C972-3C2D-C8F4-89B36541452C}"/>
              </a:ext>
            </a:extLst>
          </p:cNvPr>
          <p:cNvSpPr>
            <a:spLocks noGrp="1"/>
          </p:cNvSpPr>
          <p:nvPr>
            <p:ph type="sldNum" sz="quarter" idx="12"/>
          </p:nvPr>
        </p:nvSpPr>
        <p:spPr/>
        <p:txBody>
          <a:bodyPr/>
          <a:lstStyle/>
          <a:p>
            <a:fld id="{D7C49AD2-90CD-4323-9D19-D0CFDF4A41A2}" type="slidenum">
              <a:rPr lang="ru-RU" smtClean="0"/>
              <a:t>‹#›</a:t>
            </a:fld>
            <a:endParaRPr lang="ru-RU"/>
          </a:p>
        </p:txBody>
      </p:sp>
    </p:spTree>
    <p:extLst>
      <p:ext uri="{BB962C8B-B14F-4D97-AF65-F5344CB8AC3E}">
        <p14:creationId xmlns:p14="http://schemas.microsoft.com/office/powerpoint/2010/main" val="3078353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6FC28B-7EE3-D3EA-FBC4-A5D13075D5E7}"/>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D37ECC19-455D-68C6-DF9D-CCC9E3FA5D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04493CF5-9850-E524-C1D9-81FFE1A66908}"/>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195FD93F-67EC-B502-0FC2-613E738812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DD594B49-580D-E5E6-F8D9-63E15EFBF201}"/>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AE0ADDEF-E1D8-5303-11C0-DA792817A859}"/>
              </a:ext>
            </a:extLst>
          </p:cNvPr>
          <p:cNvSpPr>
            <a:spLocks noGrp="1"/>
          </p:cNvSpPr>
          <p:nvPr>
            <p:ph type="dt" sz="half" idx="10"/>
          </p:nvPr>
        </p:nvSpPr>
        <p:spPr/>
        <p:txBody>
          <a:bodyPr/>
          <a:lstStyle/>
          <a:p>
            <a:fld id="{4ECB3BB0-D62F-481B-80EC-E7886DDE3962}" type="datetimeFigureOut">
              <a:rPr lang="ru-RU" smtClean="0"/>
              <a:t>16.06.2026</a:t>
            </a:fld>
            <a:endParaRPr lang="ru-RU"/>
          </a:p>
        </p:txBody>
      </p:sp>
      <p:sp>
        <p:nvSpPr>
          <p:cNvPr id="8" name="Нижний колонтитул 7">
            <a:extLst>
              <a:ext uri="{FF2B5EF4-FFF2-40B4-BE49-F238E27FC236}">
                <a16:creationId xmlns:a16="http://schemas.microsoft.com/office/drawing/2014/main" id="{B877665E-B5EC-FF97-0C0D-8AD1090C2BC5}"/>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C236E51F-A04E-0ED7-9757-B817495F712D}"/>
              </a:ext>
            </a:extLst>
          </p:cNvPr>
          <p:cNvSpPr>
            <a:spLocks noGrp="1"/>
          </p:cNvSpPr>
          <p:nvPr>
            <p:ph type="sldNum" sz="quarter" idx="12"/>
          </p:nvPr>
        </p:nvSpPr>
        <p:spPr/>
        <p:txBody>
          <a:bodyPr/>
          <a:lstStyle/>
          <a:p>
            <a:fld id="{D7C49AD2-90CD-4323-9D19-D0CFDF4A41A2}" type="slidenum">
              <a:rPr lang="ru-RU" smtClean="0"/>
              <a:t>‹#›</a:t>
            </a:fld>
            <a:endParaRPr lang="ru-RU"/>
          </a:p>
        </p:txBody>
      </p:sp>
    </p:spTree>
    <p:extLst>
      <p:ext uri="{BB962C8B-B14F-4D97-AF65-F5344CB8AC3E}">
        <p14:creationId xmlns:p14="http://schemas.microsoft.com/office/powerpoint/2010/main" val="3304861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1AC33B-9E57-DCA6-8DF8-D52036BF034E}"/>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65927377-804A-6822-451B-4E39EB991E18}"/>
              </a:ext>
            </a:extLst>
          </p:cNvPr>
          <p:cNvSpPr>
            <a:spLocks noGrp="1"/>
          </p:cNvSpPr>
          <p:nvPr>
            <p:ph type="dt" sz="half" idx="10"/>
          </p:nvPr>
        </p:nvSpPr>
        <p:spPr/>
        <p:txBody>
          <a:bodyPr/>
          <a:lstStyle/>
          <a:p>
            <a:fld id="{4ECB3BB0-D62F-481B-80EC-E7886DDE3962}" type="datetimeFigureOut">
              <a:rPr lang="ru-RU" smtClean="0"/>
              <a:t>16.06.2026</a:t>
            </a:fld>
            <a:endParaRPr lang="ru-RU"/>
          </a:p>
        </p:txBody>
      </p:sp>
      <p:sp>
        <p:nvSpPr>
          <p:cNvPr id="4" name="Нижний колонтитул 3">
            <a:extLst>
              <a:ext uri="{FF2B5EF4-FFF2-40B4-BE49-F238E27FC236}">
                <a16:creationId xmlns:a16="http://schemas.microsoft.com/office/drawing/2014/main" id="{A37C098E-8F15-D2A3-5F10-581AA0FE1F26}"/>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A6370C8-A284-168E-E644-EF73D9EE7C9F}"/>
              </a:ext>
            </a:extLst>
          </p:cNvPr>
          <p:cNvSpPr>
            <a:spLocks noGrp="1"/>
          </p:cNvSpPr>
          <p:nvPr>
            <p:ph type="sldNum" sz="quarter" idx="12"/>
          </p:nvPr>
        </p:nvSpPr>
        <p:spPr/>
        <p:txBody>
          <a:bodyPr/>
          <a:lstStyle/>
          <a:p>
            <a:fld id="{D7C49AD2-90CD-4323-9D19-D0CFDF4A41A2}" type="slidenum">
              <a:rPr lang="ru-RU" smtClean="0"/>
              <a:t>‹#›</a:t>
            </a:fld>
            <a:endParaRPr lang="ru-RU"/>
          </a:p>
        </p:txBody>
      </p:sp>
    </p:spTree>
    <p:extLst>
      <p:ext uri="{BB962C8B-B14F-4D97-AF65-F5344CB8AC3E}">
        <p14:creationId xmlns:p14="http://schemas.microsoft.com/office/powerpoint/2010/main" val="2588984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FABD385A-2D5D-47F0-DFBB-48D9828A4BAF}"/>
              </a:ext>
            </a:extLst>
          </p:cNvPr>
          <p:cNvSpPr>
            <a:spLocks noGrp="1"/>
          </p:cNvSpPr>
          <p:nvPr>
            <p:ph type="dt" sz="half" idx="10"/>
          </p:nvPr>
        </p:nvSpPr>
        <p:spPr/>
        <p:txBody>
          <a:bodyPr/>
          <a:lstStyle/>
          <a:p>
            <a:fld id="{4ECB3BB0-D62F-481B-80EC-E7886DDE3962}" type="datetimeFigureOut">
              <a:rPr lang="ru-RU" smtClean="0"/>
              <a:t>16.06.2026</a:t>
            </a:fld>
            <a:endParaRPr lang="ru-RU"/>
          </a:p>
        </p:txBody>
      </p:sp>
      <p:sp>
        <p:nvSpPr>
          <p:cNvPr id="3" name="Нижний колонтитул 2">
            <a:extLst>
              <a:ext uri="{FF2B5EF4-FFF2-40B4-BE49-F238E27FC236}">
                <a16:creationId xmlns:a16="http://schemas.microsoft.com/office/drawing/2014/main" id="{13A3C9CC-8306-6C73-38E8-6573F8C7A00A}"/>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E3B8656E-F590-B1C1-5DA9-580C8101A0E3}"/>
              </a:ext>
            </a:extLst>
          </p:cNvPr>
          <p:cNvSpPr>
            <a:spLocks noGrp="1"/>
          </p:cNvSpPr>
          <p:nvPr>
            <p:ph type="sldNum" sz="quarter" idx="12"/>
          </p:nvPr>
        </p:nvSpPr>
        <p:spPr/>
        <p:txBody>
          <a:bodyPr/>
          <a:lstStyle/>
          <a:p>
            <a:fld id="{D7C49AD2-90CD-4323-9D19-D0CFDF4A41A2}" type="slidenum">
              <a:rPr lang="ru-RU" smtClean="0"/>
              <a:t>‹#›</a:t>
            </a:fld>
            <a:endParaRPr lang="ru-RU"/>
          </a:p>
        </p:txBody>
      </p:sp>
    </p:spTree>
    <p:extLst>
      <p:ext uri="{BB962C8B-B14F-4D97-AF65-F5344CB8AC3E}">
        <p14:creationId xmlns:p14="http://schemas.microsoft.com/office/powerpoint/2010/main" val="1841662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7D6A86-294F-108B-C060-EF34D911916F}"/>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87C180E8-B170-8BDE-264B-C72E28DB1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553E1313-6883-ADAC-7F77-50813ED44E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466D5F8F-11E4-F9BA-833E-76DEC838E87F}"/>
              </a:ext>
            </a:extLst>
          </p:cNvPr>
          <p:cNvSpPr>
            <a:spLocks noGrp="1"/>
          </p:cNvSpPr>
          <p:nvPr>
            <p:ph type="dt" sz="half" idx="10"/>
          </p:nvPr>
        </p:nvSpPr>
        <p:spPr/>
        <p:txBody>
          <a:bodyPr/>
          <a:lstStyle/>
          <a:p>
            <a:fld id="{4ECB3BB0-D62F-481B-80EC-E7886DDE3962}" type="datetimeFigureOut">
              <a:rPr lang="ru-RU" smtClean="0"/>
              <a:t>16.06.2026</a:t>
            </a:fld>
            <a:endParaRPr lang="ru-RU"/>
          </a:p>
        </p:txBody>
      </p:sp>
      <p:sp>
        <p:nvSpPr>
          <p:cNvPr id="6" name="Нижний колонтитул 5">
            <a:extLst>
              <a:ext uri="{FF2B5EF4-FFF2-40B4-BE49-F238E27FC236}">
                <a16:creationId xmlns:a16="http://schemas.microsoft.com/office/drawing/2014/main" id="{0B561479-270E-BF51-D718-48671F6313A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A898456-802A-791F-7192-5C9C00CE6DBE}"/>
              </a:ext>
            </a:extLst>
          </p:cNvPr>
          <p:cNvSpPr>
            <a:spLocks noGrp="1"/>
          </p:cNvSpPr>
          <p:nvPr>
            <p:ph type="sldNum" sz="quarter" idx="12"/>
          </p:nvPr>
        </p:nvSpPr>
        <p:spPr/>
        <p:txBody>
          <a:bodyPr/>
          <a:lstStyle/>
          <a:p>
            <a:fld id="{D7C49AD2-90CD-4323-9D19-D0CFDF4A41A2}" type="slidenum">
              <a:rPr lang="ru-RU" smtClean="0"/>
              <a:t>‹#›</a:t>
            </a:fld>
            <a:endParaRPr lang="ru-RU"/>
          </a:p>
        </p:txBody>
      </p:sp>
    </p:spTree>
    <p:extLst>
      <p:ext uri="{BB962C8B-B14F-4D97-AF65-F5344CB8AC3E}">
        <p14:creationId xmlns:p14="http://schemas.microsoft.com/office/powerpoint/2010/main" val="3819965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0A6D39-3B2E-A6E9-AF1D-C3174DBA4A8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2DDC46BA-DAEB-04CF-BF51-93BCB4C20D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9D0B85C8-9522-C945-8347-554734ACA0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797C35E8-5AE1-D861-5795-8E0D016F4E8F}"/>
              </a:ext>
            </a:extLst>
          </p:cNvPr>
          <p:cNvSpPr>
            <a:spLocks noGrp="1"/>
          </p:cNvSpPr>
          <p:nvPr>
            <p:ph type="dt" sz="half" idx="10"/>
          </p:nvPr>
        </p:nvSpPr>
        <p:spPr/>
        <p:txBody>
          <a:bodyPr/>
          <a:lstStyle/>
          <a:p>
            <a:fld id="{4ECB3BB0-D62F-481B-80EC-E7886DDE3962}" type="datetimeFigureOut">
              <a:rPr lang="ru-RU" smtClean="0"/>
              <a:t>16.06.2026</a:t>
            </a:fld>
            <a:endParaRPr lang="ru-RU"/>
          </a:p>
        </p:txBody>
      </p:sp>
      <p:sp>
        <p:nvSpPr>
          <p:cNvPr id="6" name="Нижний колонтитул 5">
            <a:extLst>
              <a:ext uri="{FF2B5EF4-FFF2-40B4-BE49-F238E27FC236}">
                <a16:creationId xmlns:a16="http://schemas.microsoft.com/office/drawing/2014/main" id="{B99F2F0F-F899-38F8-5753-FD8ADD8B4486}"/>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8613751-F37A-0718-D837-D73F456612F7}"/>
              </a:ext>
            </a:extLst>
          </p:cNvPr>
          <p:cNvSpPr>
            <a:spLocks noGrp="1"/>
          </p:cNvSpPr>
          <p:nvPr>
            <p:ph type="sldNum" sz="quarter" idx="12"/>
          </p:nvPr>
        </p:nvSpPr>
        <p:spPr/>
        <p:txBody>
          <a:bodyPr/>
          <a:lstStyle/>
          <a:p>
            <a:fld id="{D7C49AD2-90CD-4323-9D19-D0CFDF4A41A2}" type="slidenum">
              <a:rPr lang="ru-RU" smtClean="0"/>
              <a:t>‹#›</a:t>
            </a:fld>
            <a:endParaRPr lang="ru-RU"/>
          </a:p>
        </p:txBody>
      </p:sp>
    </p:spTree>
    <p:extLst>
      <p:ext uri="{BB962C8B-B14F-4D97-AF65-F5344CB8AC3E}">
        <p14:creationId xmlns:p14="http://schemas.microsoft.com/office/powerpoint/2010/main" val="3343757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2723EF-6C96-4D94-E8A2-76700F9D6DED}"/>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C1221393-9414-6A7D-A3E2-6ECBF74B9EE3}"/>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D3DD64A-12EA-AD70-0618-75A00F4EABCA}"/>
              </a:ext>
            </a:extLst>
          </p:cNvPr>
          <p:cNvSpPr>
            <a:spLocks noGrp="1"/>
          </p:cNvSpPr>
          <p:nvPr>
            <p:ph type="dt" sz="half" idx="10"/>
          </p:nvPr>
        </p:nvSpPr>
        <p:spPr/>
        <p:txBody>
          <a:bodyPr/>
          <a:lstStyle/>
          <a:p>
            <a:fld id="{4ECB3BB0-D62F-481B-80EC-E7886DDE3962}"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DECC38CA-0BC1-CA19-6266-DB542B77794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0CC79F1-659D-E871-9196-FFFDBADDE31F}"/>
              </a:ext>
            </a:extLst>
          </p:cNvPr>
          <p:cNvSpPr>
            <a:spLocks noGrp="1"/>
          </p:cNvSpPr>
          <p:nvPr>
            <p:ph type="sldNum" sz="quarter" idx="12"/>
          </p:nvPr>
        </p:nvSpPr>
        <p:spPr/>
        <p:txBody>
          <a:bodyPr/>
          <a:lstStyle/>
          <a:p>
            <a:fld id="{D7C49AD2-90CD-4323-9D19-D0CFDF4A41A2}" type="slidenum">
              <a:rPr lang="ru-RU" smtClean="0"/>
              <a:t>‹#›</a:t>
            </a:fld>
            <a:endParaRPr lang="ru-RU"/>
          </a:p>
        </p:txBody>
      </p:sp>
    </p:spTree>
    <p:extLst>
      <p:ext uri="{BB962C8B-B14F-4D97-AF65-F5344CB8AC3E}">
        <p14:creationId xmlns:p14="http://schemas.microsoft.com/office/powerpoint/2010/main" val="1029861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4A7CCB15-82BD-7F1C-B7A1-9654B8E02310}"/>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D8720E3B-7997-D4A4-E43C-B0A4D8481E9C}"/>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93E64C3-A259-558E-563C-FBAA4092C3F9}"/>
              </a:ext>
            </a:extLst>
          </p:cNvPr>
          <p:cNvSpPr>
            <a:spLocks noGrp="1"/>
          </p:cNvSpPr>
          <p:nvPr>
            <p:ph type="dt" sz="half" idx="10"/>
          </p:nvPr>
        </p:nvSpPr>
        <p:spPr/>
        <p:txBody>
          <a:bodyPr/>
          <a:lstStyle/>
          <a:p>
            <a:fld id="{4ECB3BB0-D62F-481B-80EC-E7886DDE3962}"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DD59C9AF-B557-BBAC-149B-D0CE51F9C86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BE611FA-C5C3-E1AD-57E8-C63F9B1E2EDE}"/>
              </a:ext>
            </a:extLst>
          </p:cNvPr>
          <p:cNvSpPr>
            <a:spLocks noGrp="1"/>
          </p:cNvSpPr>
          <p:nvPr>
            <p:ph type="sldNum" sz="quarter" idx="12"/>
          </p:nvPr>
        </p:nvSpPr>
        <p:spPr/>
        <p:txBody>
          <a:bodyPr/>
          <a:lstStyle/>
          <a:p>
            <a:fld id="{D7C49AD2-90CD-4323-9D19-D0CFDF4A41A2}" type="slidenum">
              <a:rPr lang="ru-RU" smtClean="0"/>
              <a:t>‹#›</a:t>
            </a:fld>
            <a:endParaRPr lang="ru-RU"/>
          </a:p>
        </p:txBody>
      </p:sp>
    </p:spTree>
    <p:extLst>
      <p:ext uri="{BB962C8B-B14F-4D97-AF65-F5344CB8AC3E}">
        <p14:creationId xmlns:p14="http://schemas.microsoft.com/office/powerpoint/2010/main" val="15019581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9506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B7F3FC3-B542-689E-9A2C-A98012BAF1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0058D44B-0ACC-4E6B-F946-2F23A1FF78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DD951EF-DC06-26F0-8F0F-B48F0CD995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CB3BB0-D62F-481B-80EC-E7886DDE3962}" type="datetimeFigureOut">
              <a:rPr lang="ru-RU" smtClean="0"/>
              <a:t>16.06.2026</a:t>
            </a:fld>
            <a:endParaRPr lang="ru-RU"/>
          </a:p>
        </p:txBody>
      </p:sp>
      <p:sp>
        <p:nvSpPr>
          <p:cNvPr id="5" name="Нижний колонтитул 4">
            <a:extLst>
              <a:ext uri="{FF2B5EF4-FFF2-40B4-BE49-F238E27FC236}">
                <a16:creationId xmlns:a16="http://schemas.microsoft.com/office/drawing/2014/main" id="{0A29923A-D801-7EA1-7FA6-91516C3F2E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1ABDDD7F-A354-4AA1-65AD-3BE132D4E0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C49AD2-90CD-4323-9D19-D0CFDF4A41A2}" type="slidenum">
              <a:rPr lang="ru-RU" smtClean="0"/>
              <a:t>‹#›</a:t>
            </a:fld>
            <a:endParaRPr lang="ru-RU"/>
          </a:p>
        </p:txBody>
      </p:sp>
    </p:spTree>
    <p:extLst>
      <p:ext uri="{BB962C8B-B14F-4D97-AF65-F5344CB8AC3E}">
        <p14:creationId xmlns:p14="http://schemas.microsoft.com/office/powerpoint/2010/main" val="1486349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919753"/>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8.sv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6.svg"/><Relationship Id="rId7" Type="http://schemas.openxmlformats.org/officeDocument/2006/relationships/image" Target="../media/image12.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7.svg"/><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8.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7.svg"/><Relationship Id="rId11" Type="http://schemas.openxmlformats.org/officeDocument/2006/relationships/image" Target="../media/image22.svg"/><Relationship Id="rId5" Type="http://schemas.openxmlformats.org/officeDocument/2006/relationships/image" Target="../media/image16.sv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svg"/></Relationships>
</file>

<file path=ppt/slides/_rels/slide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8.svg"/><Relationship Id="rId4" Type="http://schemas.openxmlformats.org/officeDocument/2006/relationships/image" Target="../media/image29.svg"/></Relationships>
</file>

<file path=ppt/slides/_rels/slide1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1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1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20.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21.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8.sv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s>
</file>

<file path=ppt/slides/_rels/slide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40.svg"/><Relationship Id="rId4" Type="http://schemas.openxmlformats.org/officeDocument/2006/relationships/image" Target="../media/image39.svg"/></Relationships>
</file>

<file path=ppt/slides/_rels/slide2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40.svg"/><Relationship Id="rId4" Type="http://schemas.openxmlformats.org/officeDocument/2006/relationships/image" Target="../media/image39.svg"/></Relationships>
</file>

<file path=ppt/slides/_rels/slide3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3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37.svg"/><Relationship Id="rId4" Type="http://schemas.openxmlformats.org/officeDocument/2006/relationships/image" Target="../media/image36.svg"/></Relationships>
</file>

<file path=ppt/slides/_rels/slide3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6.svg"/><Relationship Id="rId7" Type="http://schemas.openxmlformats.org/officeDocument/2006/relationships/image" Target="../media/image44.sv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43.svg"/><Relationship Id="rId5" Type="http://schemas.openxmlformats.org/officeDocument/2006/relationships/image" Target="../media/image40.svg"/><Relationship Id="rId4" Type="http://schemas.openxmlformats.org/officeDocument/2006/relationships/image" Target="../media/image39.svg"/></Relationships>
</file>

<file path=ppt/slides/_rels/slide34.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3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6.svg"/><Relationship Id="rId7" Type="http://schemas.openxmlformats.org/officeDocument/2006/relationships/image" Target="../media/image12.sv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1.svg"/><Relationship Id="rId11" Type="http://schemas.openxmlformats.org/officeDocument/2006/relationships/image" Target="../media/image8.svg"/><Relationship Id="rId5" Type="http://schemas.openxmlformats.org/officeDocument/2006/relationships/image" Target="../media/image10.svg"/><Relationship Id="rId10" Type="http://schemas.openxmlformats.org/officeDocument/2006/relationships/image" Target="../media/image47.svg"/><Relationship Id="rId4" Type="http://schemas.openxmlformats.org/officeDocument/2006/relationships/image" Target="../media/image7.svg"/><Relationship Id="rId9" Type="http://schemas.openxmlformats.org/officeDocument/2006/relationships/image" Target="../media/image46.svg"/></Relationships>
</file>

<file path=ppt/slides/_rels/slide36.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38.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14.svg"/><Relationship Id="rId7" Type="http://schemas.openxmlformats.org/officeDocument/2006/relationships/image" Target="../media/image52.sv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51.svg"/><Relationship Id="rId10" Type="http://schemas.openxmlformats.org/officeDocument/2006/relationships/image" Target="../media/image8.svg"/><Relationship Id="rId4" Type="http://schemas.openxmlformats.org/officeDocument/2006/relationships/image" Target="../media/image50.svg"/><Relationship Id="rId9" Type="http://schemas.openxmlformats.org/officeDocument/2006/relationships/image" Target="../media/image54.svg"/></Relationships>
</file>

<file path=ppt/slides/_rels/slide3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51.svg"/><Relationship Id="rId4" Type="http://schemas.openxmlformats.org/officeDocument/2006/relationships/image" Target="../media/image15.svg"/></Relationships>
</file>

<file path=ppt/slides/_rels/slide42.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43.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notesSlide" Target="../notesSlides/notesSlide43.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4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4.svg"/><Relationship Id="rId7" Type="http://schemas.openxmlformats.org/officeDocument/2006/relationships/image" Target="../media/image59.sv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58.svg"/><Relationship Id="rId5" Type="http://schemas.openxmlformats.org/officeDocument/2006/relationships/image" Target="../media/image57.svg"/><Relationship Id="rId4" Type="http://schemas.openxmlformats.org/officeDocument/2006/relationships/image" Target="../media/image15.svg"/></Relationships>
</file>

<file path=ppt/slides/_rels/slide4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62.svg"/><Relationship Id="rId4" Type="http://schemas.openxmlformats.org/officeDocument/2006/relationships/image" Target="../media/image61.svg"/></Relationships>
</file>

<file path=ppt/slides/_rels/slide48.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4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10.svg"/><Relationship Id="rId4" Type="http://schemas.openxmlformats.org/officeDocument/2006/relationships/image" Target="../media/image7.svg"/></Relationships>
</file>

<file path=ppt/slides/_rels/slide50.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notesSlide" Target="../notesSlides/notesSlide50.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5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51.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57.svg"/><Relationship Id="rId4" Type="http://schemas.openxmlformats.org/officeDocument/2006/relationships/image" Target="../media/image36.svg"/></Relationships>
</file>

<file path=ppt/slides/_rels/slide5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53.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10.svg"/><Relationship Id="rId4" Type="http://schemas.openxmlformats.org/officeDocument/2006/relationships/image" Target="../media/image7.svg"/></Relationships>
</file>

<file path=ppt/slides/_rels/slide5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4.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55.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notesSlide" Target="../notesSlides/notesSlide55.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5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6.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57.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notesSlide" Target="../notesSlides/notesSlide57.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5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8.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59.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notesSlide" Target="../notesSlides/notesSlide59.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60.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notesSlide" Target="../notesSlides/notesSlide60.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6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61.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40.svg"/><Relationship Id="rId4" Type="http://schemas.openxmlformats.org/officeDocument/2006/relationships/image" Target="../media/image39.svg"/></Relationships>
</file>

<file path=ppt/slides/_rels/slide6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4.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65.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notesSlide" Target="../notesSlides/notesSlide65.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66.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notesSlide" Target="../notesSlides/notesSlide66.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6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67.xml"/><Relationship Id="rId1" Type="http://schemas.openxmlformats.org/officeDocument/2006/relationships/slideLayout" Target="../slideLayouts/slideLayout12.xml"/><Relationship Id="rId5" Type="http://schemas.openxmlformats.org/officeDocument/2006/relationships/image" Target="../media/image8.svg"/><Relationship Id="rId4" Type="http://schemas.openxmlformats.org/officeDocument/2006/relationships/image" Target="../media/image39.svg"/></Relationships>
</file>

<file path=ppt/slides/_rels/slide6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notesSlide" Target="../notesSlides/notesSlide69.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7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0.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7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71.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40.svg"/><Relationship Id="rId4" Type="http://schemas.openxmlformats.org/officeDocument/2006/relationships/image" Target="../media/image39.svg"/></Relationships>
</file>

<file path=ppt/slides/_rels/slide7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75.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16.svg"/><Relationship Id="rId4" Type="http://schemas.openxmlformats.org/officeDocument/2006/relationships/image" Target="../media/image15.svg"/></Relationships>
</file>

<file path=ppt/slides/_rels/slide7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6.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7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7.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7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8.xml"/><Relationship Id="rId1" Type="http://schemas.openxmlformats.org/officeDocument/2006/relationships/slideLayout" Target="../slideLayouts/slideLayout12.xml"/><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11542DC-FB21-C6F4-4451-2665BBFB6AF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C7967FC-C4FD-7296-7704-78600E142CCE}"/>
              </a:ext>
            </a:extLst>
          </p:cNvPr>
          <p:cNvSpPr/>
          <p:nvPr/>
        </p:nvSpPr>
        <p:spPr>
          <a:xfrm>
            <a:off x="979017" y="2457907"/>
            <a:ext cx="10241280" cy="1988820"/>
          </a:xfrm>
          <a:prstGeom prst="rect">
            <a:avLst/>
          </a:prstGeom>
          <a:noFill/>
          <a:ln/>
        </p:spPr>
        <p:txBody>
          <a:bodyPr wrap="square" lIns="0" tIns="0" rIns="0" bIns="0" rtlCol="0" anchor="t">
            <a:normAutofit/>
          </a:bodyPr>
          <a:lstStyle/>
          <a:p>
            <a:pPr marL="0" marR="0" lvl="0" indent="0" algn="l" defTabSz="1219170" rtl="0" eaLnBrk="1" fontAlgn="auto" latinLnBrk="0" hangingPunct="1">
              <a:lnSpc>
                <a:spcPts val="7185"/>
              </a:lnSpc>
              <a:spcBef>
                <a:spcPts val="0"/>
              </a:spcBef>
              <a:spcAft>
                <a:spcPts val="0"/>
              </a:spcAft>
              <a:buClrTx/>
              <a:buSzTx/>
              <a:buFontTx/>
              <a:buNone/>
              <a:tabLst/>
              <a:defRPr/>
            </a:pPr>
            <a:r>
              <a:rPr kumimoji="0" lang="ru-RU" sz="5527"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Лекция 7: интеллектуальные агенты</a:t>
            </a:r>
            <a:endParaRPr kumimoji="0" lang="en-US" sz="552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2391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79017" y="2457907"/>
            <a:ext cx="10241280" cy="1988820"/>
          </a:xfrm>
          <a:prstGeom prst="rect">
            <a:avLst/>
          </a:prstGeom>
          <a:noFill/>
          <a:ln/>
        </p:spPr>
        <p:txBody>
          <a:bodyPr wrap="square" lIns="0" tIns="0" rIns="0" bIns="0" rtlCol="0" anchor="t">
            <a:normAutofit/>
          </a:bodyPr>
          <a:lstStyle/>
          <a:p>
            <a:pPr defTabSz="1219170">
              <a:lnSpc>
                <a:spcPts val="7185"/>
              </a:lnSpc>
            </a:pPr>
            <a:r>
              <a:rPr lang="en-US" sz="5527" b="1" dirty="0">
                <a:solidFill>
                  <a:srgbClr val="FFFFFF"/>
                </a:solidFill>
                <a:latin typeface="Arial" pitchFamily="34" charset="0"/>
                <a:ea typeface="Arial" pitchFamily="34" charset="-122"/>
                <a:cs typeface="Arial" pitchFamily="34" charset="-120"/>
              </a:rPr>
              <a:t>Другие разделы искусственного интеллекта</a:t>
            </a:r>
            <a:endParaRPr lang="en-US" sz="5527" dirty="0">
              <a:solidFill>
                <a:prstClr val="black"/>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674725"/>
            <a:ext cx="9753600" cy="891540"/>
          </a:xfrm>
          <a:prstGeom prst="rect">
            <a:avLst/>
          </a:prstGeom>
          <a:noFill/>
          <a:ln/>
        </p:spPr>
        <p:txBody>
          <a:bodyPr wrap="square" lIns="0" tIns="0" rIns="0" bIns="0" rtlCol="0" anchor="t">
            <a:normAutofit/>
          </a:bodyPr>
          <a:lstStyle/>
          <a:p>
            <a:pPr algn="ctr" defTabSz="1219170">
              <a:lnSpc>
                <a:spcPts val="6599"/>
              </a:lnSpc>
            </a:pPr>
            <a:r>
              <a:rPr lang="en-US" sz="5076" b="1" dirty="0">
                <a:solidFill>
                  <a:srgbClr val="FFFFFF"/>
                </a:solidFill>
                <a:latin typeface="Arial" pitchFamily="34" charset="0"/>
                <a:ea typeface="Arial" pitchFamily="34" charset="-122"/>
                <a:cs typeface="Arial" pitchFamily="34" charset="-120"/>
              </a:rPr>
              <a:t>Другие разделы искусстве...</a:t>
            </a:r>
            <a:endParaRPr lang="en-US" sz="5076" dirty="0">
              <a:solidFill>
                <a:prstClr val="black"/>
              </a:solidFill>
              <a:latin typeface="Calibri" panose="020F0502020204030204"/>
            </a:endParaRPr>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93495" y="8460029"/>
            <a:ext cx="152400" cy="152248"/>
          </a:xfrm>
          <a:prstGeom prst="rect">
            <a:avLst/>
          </a:prstGeom>
        </p:spPr>
      </p:pic>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 y="8513521"/>
            <a:ext cx="10653369" cy="45948"/>
          </a:xfrm>
          <a:prstGeom prst="rect">
            <a:avLst/>
          </a:prstGeom>
        </p:spPr>
      </p:pic>
      <p:pic>
        <p:nvPicPr>
          <p:cNvPr id="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54455" y="3053868"/>
            <a:ext cx="30480" cy="5486400"/>
          </a:xfrm>
          <a:prstGeom prst="rect">
            <a:avLst/>
          </a:prstGeom>
        </p:spPr>
      </p:pic>
      <p:pic>
        <p:nvPicPr>
          <p:cNvPr id="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876349" y="3526384"/>
            <a:ext cx="377952" cy="533552"/>
          </a:xfrm>
          <a:prstGeom prst="rect">
            <a:avLst/>
          </a:prstGeom>
        </p:spPr>
      </p:pic>
      <p:pic>
        <p:nvPicPr>
          <p:cNvPr id="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876349" y="4607891"/>
            <a:ext cx="377952" cy="533552"/>
          </a:xfrm>
          <a:prstGeom prst="rect">
            <a:avLst/>
          </a:prstGeom>
        </p:spPr>
      </p:pic>
      <p:sp>
        <p:nvSpPr>
          <p:cNvPr id="8" name="Text 1"/>
          <p:cNvSpPr/>
          <p:nvPr/>
        </p:nvSpPr>
        <p:spPr>
          <a:xfrm>
            <a:off x="2477415" y="3526384"/>
            <a:ext cx="51206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Эволюционные вычисления:</a:t>
            </a:r>
            <a:endParaRPr lang="en-US" sz="2820" dirty="0">
              <a:solidFill>
                <a:prstClr val="black"/>
              </a:solidFill>
              <a:latin typeface="Calibri" panose="020F0502020204030204"/>
            </a:endParaRPr>
          </a:p>
        </p:txBody>
      </p:sp>
      <p:sp>
        <p:nvSpPr>
          <p:cNvPr id="9" name="Text 2"/>
          <p:cNvSpPr/>
          <p:nvPr/>
        </p:nvSpPr>
        <p:spPr>
          <a:xfrm>
            <a:off x="2477415" y="4607891"/>
            <a:ext cx="35356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Символический ИИ</a:t>
            </a:r>
            <a:endParaRPr lang="en-US" sz="2820" dirty="0">
              <a:solidFill>
                <a:prstClr val="black"/>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363200" cy="960120"/>
          </a:xfrm>
          <a:prstGeom prst="rect">
            <a:avLst/>
          </a:prstGeom>
          <a:noFill/>
          <a:ln/>
        </p:spPr>
        <p:txBody>
          <a:bodyPr wrap="square" lIns="0" tIns="0" rIns="0" bIns="0" rtlCol="0" anchor="t">
            <a:normAutofit/>
          </a:bodyPr>
          <a:lstStyle/>
          <a:p>
            <a:pPr defTabSz="1219170">
              <a:lnSpc>
                <a:spcPts val="6745"/>
              </a:lnSpc>
            </a:pPr>
            <a:r>
              <a:rPr lang="en-US" sz="5189" b="1" dirty="0">
                <a:solidFill>
                  <a:srgbClr val="FFFFFF"/>
                </a:solidFill>
                <a:latin typeface="Arial" pitchFamily="34" charset="0"/>
                <a:ea typeface="Arial" pitchFamily="34" charset="-122"/>
                <a:cs typeface="Arial" pitchFamily="34" charset="-120"/>
              </a:rPr>
              <a:t>Эволюционные вычисления:</a:t>
            </a:r>
            <a:endParaRPr lang="en-US" sz="5189" dirty="0">
              <a:solidFill>
                <a:prstClr val="black"/>
              </a:solidFill>
              <a:latin typeface="Calibri" panose="020F0502020204030204"/>
            </a:endParaRPr>
          </a:p>
        </p:txBody>
      </p:sp>
      <p:sp>
        <p:nvSpPr>
          <p:cNvPr id="3" name="Text 1"/>
          <p:cNvSpPr/>
          <p:nvPr/>
        </p:nvSpPr>
        <p:spPr>
          <a:xfrm>
            <a:off x="1188720" y="2317319"/>
            <a:ext cx="64617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Системы интеллектуальных агентов</a:t>
            </a:r>
            <a:endParaRPr lang="en-US" sz="2820" dirty="0">
              <a:solidFill>
                <a:prstClr val="black"/>
              </a:solidFill>
              <a:latin typeface="Calibri" panose="020F0502020204030204"/>
            </a:endParaRPr>
          </a:p>
        </p:txBody>
      </p:sp>
      <p:sp>
        <p:nvSpPr>
          <p:cNvPr id="4" name="Text 2"/>
          <p:cNvSpPr/>
          <p:nvPr/>
        </p:nvSpPr>
        <p:spPr>
          <a:xfrm>
            <a:off x="1188720" y="3262351"/>
            <a:ext cx="47548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Эволюционные алгоритмы</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17319"/>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262351"/>
            <a:ext cx="114605" cy="533552"/>
          </a:xfrm>
          <a:prstGeom prst="rect">
            <a:avLst/>
          </a:prstGeom>
        </p:spPr>
      </p:pic>
      <p:sp>
        <p:nvSpPr>
          <p:cNvPr id="7"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72477" y="2276856"/>
            <a:ext cx="3779520" cy="233172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Системы интеллектуальных агентов</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70483" y="1848918"/>
            <a:ext cx="5690007" cy="3160167"/>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987552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Системы интеллектуаль...</a:t>
            </a:r>
            <a:endParaRPr lang="en-US" sz="5584" dirty="0">
              <a:solidFill>
                <a:prstClr val="black"/>
              </a:solidFill>
              <a:latin typeface="Calibri" panose="020F0502020204030204"/>
            </a:endParaRPr>
          </a:p>
        </p:txBody>
      </p:sp>
      <p:sp>
        <p:nvSpPr>
          <p:cNvPr id="3" name="Text 1"/>
          <p:cNvSpPr/>
          <p:nvPr/>
        </p:nvSpPr>
        <p:spPr>
          <a:xfrm>
            <a:off x="1188720" y="2386584"/>
            <a:ext cx="65836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Агенты как искусственный интеллект</a:t>
            </a:r>
            <a:endParaRPr lang="en-US" sz="2820" dirty="0">
              <a:solidFill>
                <a:prstClr val="black"/>
              </a:solidFill>
              <a:latin typeface="Calibri" panose="020F0502020204030204"/>
            </a:endParaRPr>
          </a:p>
        </p:txBody>
      </p:sp>
      <p:sp>
        <p:nvSpPr>
          <p:cNvPr id="4" name="Text 2"/>
          <p:cNvSpPr/>
          <p:nvPr/>
        </p:nvSpPr>
        <p:spPr>
          <a:xfrm>
            <a:off x="1188720" y="3331616"/>
            <a:ext cx="81686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Агенты как инструменты машинного обучения</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sp>
        <p:nvSpPr>
          <p:cNvPr id="7"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36320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Агенты как искусственны...</a:t>
            </a:r>
            <a:endParaRPr lang="en-US" sz="5584" dirty="0">
              <a:solidFill>
                <a:prstClr val="black"/>
              </a:solidFill>
              <a:latin typeface="Calibri" panose="020F0502020204030204"/>
            </a:endParaRPr>
          </a:p>
        </p:txBody>
      </p:sp>
      <p:sp>
        <p:nvSpPr>
          <p:cNvPr id="3" name="Text 1"/>
          <p:cNvSpPr/>
          <p:nvPr/>
        </p:nvSpPr>
        <p:spPr>
          <a:xfrm>
            <a:off x="1188720" y="2386584"/>
            <a:ext cx="31699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Свойства агентов</a:t>
            </a:r>
            <a:endParaRPr lang="en-US" sz="2820" dirty="0">
              <a:solidFill>
                <a:prstClr val="black"/>
              </a:solidFill>
              <a:latin typeface="Calibri" panose="020F0502020204030204"/>
            </a:endParaRPr>
          </a:p>
        </p:txBody>
      </p:sp>
      <p:sp>
        <p:nvSpPr>
          <p:cNvPr id="4" name="Text 2"/>
          <p:cNvSpPr/>
          <p:nvPr/>
        </p:nvSpPr>
        <p:spPr>
          <a:xfrm>
            <a:off x="1188720" y="3331616"/>
            <a:ext cx="20726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BDI-модель</a:t>
            </a:r>
            <a:endParaRPr lang="en-US" sz="2820" dirty="0">
              <a:solidFill>
                <a:prstClr val="black"/>
              </a:solidFill>
              <a:latin typeface="Calibri" panose="020F0502020204030204"/>
            </a:endParaRPr>
          </a:p>
        </p:txBody>
      </p:sp>
      <p:sp>
        <p:nvSpPr>
          <p:cNvPr id="5" name="Text 3"/>
          <p:cNvSpPr/>
          <p:nvPr/>
        </p:nvSpPr>
        <p:spPr>
          <a:xfrm>
            <a:off x="1188720" y="4276649"/>
            <a:ext cx="58521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Виды интеллектуальных агентов</a:t>
            </a:r>
            <a:endParaRPr lang="en-US" sz="2820" dirty="0">
              <a:solidFill>
                <a:prstClr val="black"/>
              </a:solidFill>
              <a:latin typeface="Calibri" panose="020F0502020204030204"/>
            </a:endParaRPr>
          </a:p>
        </p:txBody>
      </p:sp>
      <p:sp>
        <p:nvSpPr>
          <p:cNvPr id="6" name="Text 4"/>
          <p:cNvSpPr/>
          <p:nvPr/>
        </p:nvSpPr>
        <p:spPr>
          <a:xfrm>
            <a:off x="1188720" y="5220996"/>
            <a:ext cx="46329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Системы с одним агентом</a:t>
            </a:r>
            <a:endParaRPr lang="en-US" sz="2820" dirty="0">
              <a:solidFill>
                <a:prstClr val="black"/>
              </a:solidFill>
              <a:latin typeface="Calibri" panose="020F0502020204030204"/>
            </a:endParaRPr>
          </a:p>
        </p:txBody>
      </p:sp>
      <p:sp>
        <p:nvSpPr>
          <p:cNvPr id="7" name="Text 5"/>
          <p:cNvSpPr/>
          <p:nvPr/>
        </p:nvSpPr>
        <p:spPr>
          <a:xfrm>
            <a:off x="1188720" y="6166028"/>
            <a:ext cx="75590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Многоагентные (мультиагентные системы)</a:t>
            </a:r>
            <a:endParaRPr lang="en-US" sz="2820" dirty="0">
              <a:solidFill>
                <a:prstClr val="black"/>
              </a:solidFill>
              <a:latin typeface="Calibri" panose="020F0502020204030204"/>
            </a:endParaRPr>
          </a:p>
        </p:txBody>
      </p:sp>
      <p:sp>
        <p:nvSpPr>
          <p:cNvPr id="8" name="Text 6"/>
          <p:cNvSpPr/>
          <p:nvPr/>
        </p:nvSpPr>
        <p:spPr>
          <a:xfrm>
            <a:off x="1188720" y="7111060"/>
            <a:ext cx="62179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Задачи интеллектуальных агентов</a:t>
            </a:r>
            <a:endParaRPr lang="en-US" sz="2820" dirty="0">
              <a:solidFill>
                <a:prstClr val="black"/>
              </a:solidFill>
              <a:latin typeface="Calibri" panose="020F0502020204030204"/>
            </a:endParaRPr>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276649"/>
            <a:ext cx="114605" cy="533552"/>
          </a:xfrm>
          <a:prstGeom prst="rect">
            <a:avLst/>
          </a:prstGeom>
        </p:spPr>
      </p:pic>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5220996"/>
            <a:ext cx="114605" cy="533552"/>
          </a:xfrm>
          <a:prstGeom prst="rect">
            <a:avLst/>
          </a:prstGeom>
        </p:spPr>
      </p:pic>
      <p:pic>
        <p:nvPicPr>
          <p:cNvPr id="1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6" y="6166028"/>
            <a:ext cx="114605" cy="533552"/>
          </a:xfrm>
          <a:prstGeom prst="rect">
            <a:avLst/>
          </a:prstGeom>
        </p:spPr>
      </p:pic>
      <p:pic>
        <p:nvPicPr>
          <p:cNvPr id="1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7566" y="7111060"/>
            <a:ext cx="114605" cy="533552"/>
          </a:xfrm>
          <a:prstGeom prst="rect">
            <a:avLst/>
          </a:prstGeom>
        </p:spPr>
      </p:pic>
      <p:sp>
        <p:nvSpPr>
          <p:cNvPr id="15" name="Text 7"/>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42595" y="518466"/>
            <a:ext cx="342595" cy="301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670560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Свойства агентов</a:t>
            </a:r>
            <a:endParaRPr lang="en-US" sz="5584" dirty="0">
              <a:solidFill>
                <a:prstClr val="black"/>
              </a:solidFill>
              <a:latin typeface="Calibri" panose="020F0502020204030204"/>
            </a:endParaRPr>
          </a:p>
        </p:txBody>
      </p:sp>
      <p:sp>
        <p:nvSpPr>
          <p:cNvPr id="3" name="Text 1"/>
          <p:cNvSpPr/>
          <p:nvPr/>
        </p:nvSpPr>
        <p:spPr>
          <a:xfrm>
            <a:off x="1166775" y="2386584"/>
            <a:ext cx="999744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Обучаемость (способность самостоятельного решения однотипных задач без использования базы знаний и/или способность компенсир...</a:t>
            </a:r>
            <a:endParaRPr lang="en-US" sz="2256" dirty="0">
              <a:solidFill>
                <a:prstClr val="black"/>
              </a:solidFill>
              <a:latin typeface="Calibri" panose="020F0502020204030204"/>
            </a:endParaRPr>
          </a:p>
        </p:txBody>
      </p:sp>
      <p:sp>
        <p:nvSpPr>
          <p:cNvPr id="4" name="Text 2"/>
          <p:cNvSpPr/>
          <p:nvPr/>
        </p:nvSpPr>
        <p:spPr>
          <a:xfrm>
            <a:off x="1166775" y="3712236"/>
            <a:ext cx="95097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Автономность (способность решать задачу даже в нетривиальных условиях без вмешательства человека)</a:t>
            </a:r>
            <a:endParaRPr lang="en-US" sz="2256" dirty="0">
              <a:solidFill>
                <a:prstClr val="black"/>
              </a:solidFill>
              <a:latin typeface="Calibri" panose="020F0502020204030204"/>
            </a:endParaRPr>
          </a:p>
        </p:txBody>
      </p:sp>
      <p:sp>
        <p:nvSpPr>
          <p:cNvPr id="5" name="Text 3"/>
          <p:cNvSpPr/>
          <p:nvPr/>
        </p:nvSpPr>
        <p:spPr>
          <a:xfrm>
            <a:off x="1166775" y="5038573"/>
            <a:ext cx="8290560" cy="48006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Реактивность (оперативная реакция на изменение среды)</a:t>
            </a:r>
            <a:endParaRPr lang="en-US" sz="2256" dirty="0">
              <a:solidFill>
                <a:prstClr val="black"/>
              </a:solidFill>
              <a:latin typeface="Calibri" panose="020F0502020204030204"/>
            </a:endParaRPr>
          </a:p>
        </p:txBody>
      </p:sp>
      <p:sp>
        <p:nvSpPr>
          <p:cNvPr id="6" name="Text 4"/>
          <p:cNvSpPr/>
          <p:nvPr/>
        </p:nvSpPr>
        <p:spPr>
          <a:xfrm>
            <a:off x="1166775" y="5906797"/>
            <a:ext cx="9265920" cy="48006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Про-активность (целеполагание и поиск оптимального решения)</a:t>
            </a:r>
            <a:endParaRPr lang="en-US" sz="2256" dirty="0">
              <a:solidFill>
                <a:prstClr val="black"/>
              </a:solidFill>
              <a:latin typeface="Calibri" panose="020F0502020204030204"/>
            </a:endParaRPr>
          </a:p>
        </p:txBody>
      </p:sp>
      <p:sp>
        <p:nvSpPr>
          <p:cNvPr id="7" name="Text 5"/>
          <p:cNvSpPr/>
          <p:nvPr/>
        </p:nvSpPr>
        <p:spPr>
          <a:xfrm>
            <a:off x="1166775" y="6775704"/>
            <a:ext cx="987552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Социальность (взаимодействие с другими агентами для достижения собственных и общих целей, главным образом, посредством передачи сообщений с запросом и предоставлении информации)</a:t>
            </a:r>
            <a:endParaRPr lang="en-US" sz="2256" dirty="0">
              <a:solidFill>
                <a:prstClr val="black"/>
              </a:solidFill>
              <a:latin typeface="Calibri" panose="020F0502020204030204"/>
            </a:endParaRPr>
          </a:p>
        </p:txBody>
      </p:sp>
      <p:sp>
        <p:nvSpPr>
          <p:cNvPr id="8" name="Text 6"/>
          <p:cNvSpPr/>
          <p:nvPr/>
        </p:nvSpPr>
        <p:spPr>
          <a:xfrm>
            <a:off x="1166775" y="8558784"/>
            <a:ext cx="987552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Мобильность (способность агентов перемещаться внутри среды, например, в иерархии агентов, в некоторой матрице или в n-мерном виртуальном пространстве)</a:t>
            </a:r>
            <a:endParaRPr lang="en-US" sz="2256" dirty="0">
              <a:solidFill>
                <a:prstClr val="black"/>
              </a:solidFill>
              <a:latin typeface="Calibri" panose="020F0502020204030204"/>
            </a:endParaRPr>
          </a:p>
        </p:txBody>
      </p:sp>
      <p:sp>
        <p:nvSpPr>
          <p:cNvPr id="9" name="Text 7"/>
          <p:cNvSpPr/>
          <p:nvPr/>
        </p:nvSpPr>
        <p:spPr>
          <a:xfrm>
            <a:off x="1166775" y="10341864"/>
            <a:ext cx="938784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Правдивость (агент не может специально сообщить неправдивую информацию)</a:t>
            </a:r>
            <a:endParaRPr lang="en-US" sz="2256" dirty="0">
              <a:solidFill>
                <a:prstClr val="black"/>
              </a:solidFill>
              <a:latin typeface="Calibri" panose="020F0502020204030204"/>
            </a:endParaRPr>
          </a:p>
        </p:txBody>
      </p:sp>
      <p:sp>
        <p:nvSpPr>
          <p:cNvPr id="10" name="Text 8"/>
          <p:cNvSpPr/>
          <p:nvPr/>
        </p:nvSpPr>
        <p:spPr>
          <a:xfrm>
            <a:off x="1166775" y="11667516"/>
            <a:ext cx="975360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Наличие системы знаний (наличие у агентов модели представления знаний и собственных оперативных знаний на её основе)</a:t>
            </a:r>
            <a:endParaRPr lang="en-US" sz="2256" dirty="0">
              <a:solidFill>
                <a:prstClr val="black"/>
              </a:solidFill>
              <a:latin typeface="Calibri" panose="020F0502020204030204"/>
            </a:endParaRPr>
          </a:p>
        </p:txBody>
      </p:sp>
      <p:sp>
        <p:nvSpPr>
          <p:cNvPr id="11" name="Text 9"/>
          <p:cNvSpPr/>
          <p:nvPr/>
        </p:nvSpPr>
        <p:spPr>
          <a:xfrm>
            <a:off x="1166775" y="12993852"/>
            <a:ext cx="987552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Рациональность (логическая последовательность действий в рамках своих убеждений и знаний и оптимальное взаимодействие с другими агентами)</a:t>
            </a:r>
            <a:endParaRPr lang="en-US" sz="2256" dirty="0">
              <a:solidFill>
                <a:prstClr val="black"/>
              </a:solidFill>
              <a:latin typeface="Calibri" panose="020F0502020204030204"/>
            </a:endParaRPr>
          </a:p>
        </p:txBody>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1440" cy="457428"/>
          </a:xfrm>
          <a:prstGeom prst="rect">
            <a:avLst/>
          </a:prstGeom>
        </p:spPr>
      </p:pic>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3712237"/>
            <a:ext cx="91440" cy="457428"/>
          </a:xfrm>
          <a:prstGeom prst="rect">
            <a:avLst/>
          </a:prstGeom>
        </p:spPr>
      </p:pic>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5" y="5038573"/>
            <a:ext cx="91440" cy="457428"/>
          </a:xfrm>
          <a:prstGeom prst="rect">
            <a:avLst/>
          </a:prstGeom>
        </p:spPr>
      </p:pic>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5" y="5906797"/>
            <a:ext cx="91440" cy="457428"/>
          </a:xfrm>
          <a:prstGeom prst="rect">
            <a:avLst/>
          </a:prstGeom>
        </p:spPr>
      </p:pic>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5" y="6775705"/>
            <a:ext cx="91440" cy="457428"/>
          </a:xfrm>
          <a:prstGeom prst="rect">
            <a:avLst/>
          </a:prstGeom>
        </p:spPr>
      </p:pic>
      <p:pic>
        <p:nvPicPr>
          <p:cNvPr id="17"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7565" y="8558784"/>
            <a:ext cx="91440" cy="457428"/>
          </a:xfrm>
          <a:prstGeom prst="rect">
            <a:avLst/>
          </a:prstGeom>
        </p:spPr>
      </p:pic>
      <p:pic>
        <p:nvPicPr>
          <p:cNvPr id="18"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7565" y="10341864"/>
            <a:ext cx="91440" cy="457428"/>
          </a:xfrm>
          <a:prstGeom prst="rect">
            <a:avLst/>
          </a:prstGeom>
        </p:spPr>
      </p:pic>
      <p:pic>
        <p:nvPicPr>
          <p:cNvPr id="19"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37565" y="11667516"/>
            <a:ext cx="91440" cy="457428"/>
          </a:xfrm>
          <a:prstGeom prst="rect">
            <a:avLst/>
          </a:prstGeom>
        </p:spPr>
      </p:pic>
      <p:pic>
        <p:nvPicPr>
          <p:cNvPr id="20"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37565" y="12993852"/>
            <a:ext cx="91440" cy="457428"/>
          </a:xfrm>
          <a:prstGeom prst="rect">
            <a:avLst/>
          </a:prstGeom>
        </p:spPr>
      </p:pic>
      <p:sp>
        <p:nvSpPr>
          <p:cNvPr id="21" name="Text 10"/>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22"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42595" y="518466"/>
            <a:ext cx="342595" cy="301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7943" y="1497102"/>
            <a:ext cx="1714195" cy="1714500"/>
          </a:xfrm>
          <a:prstGeom prst="rect">
            <a:avLst/>
          </a:prstGeom>
        </p:spPr>
      </p:pic>
      <p:sp>
        <p:nvSpPr>
          <p:cNvPr id="3" name="Text 0"/>
          <p:cNvSpPr/>
          <p:nvPr/>
        </p:nvSpPr>
        <p:spPr>
          <a:xfrm>
            <a:off x="1367943" y="3485921"/>
            <a:ext cx="9509760" cy="1920240"/>
          </a:xfrm>
          <a:prstGeom prst="rect">
            <a:avLst/>
          </a:prstGeom>
          <a:noFill/>
          <a:ln/>
        </p:spPr>
        <p:txBody>
          <a:bodyPr wrap="square" lIns="0" tIns="0" rIns="0" bIns="0" rtlCol="0" anchor="t">
            <a:normAutofit/>
          </a:bodyPr>
          <a:lstStyle/>
          <a:p>
            <a:pPr defTabSz="1219170">
              <a:lnSpc>
                <a:spcPts val="3468"/>
              </a:lnSpc>
            </a:pPr>
            <a:r>
              <a:rPr lang="en-US" sz="2312" b="1" dirty="0">
                <a:solidFill>
                  <a:srgbClr val="FFFFFF"/>
                </a:solidFill>
                <a:latin typeface="Arial" pitchFamily="34" charset="0"/>
                <a:ea typeface="Arial" pitchFamily="34" charset="-122"/>
                <a:cs typeface="Arial" pitchFamily="34" charset="-120"/>
              </a:rPr>
              <a:t>Обучаемость (способность самостоятельного решения однотипных задач без использования базы знаний и/или способность компенсировать неточные или недостоверные данные от других агентов или базы знаний)</a:t>
            </a:r>
            <a:endParaRPr lang="en-US" sz="2312"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5854" y="1885951"/>
            <a:ext cx="1686153" cy="1714500"/>
          </a:xfrm>
          <a:prstGeom prst="rect">
            <a:avLst/>
          </a:prstGeom>
        </p:spPr>
      </p:pic>
      <p:sp>
        <p:nvSpPr>
          <p:cNvPr id="3" name="Text 0"/>
          <p:cNvSpPr/>
          <p:nvPr/>
        </p:nvSpPr>
        <p:spPr>
          <a:xfrm>
            <a:off x="955853" y="3874769"/>
            <a:ext cx="10363200" cy="1097280"/>
          </a:xfrm>
          <a:prstGeom prst="rect">
            <a:avLst/>
          </a:prstGeom>
          <a:noFill/>
          <a:ln/>
        </p:spPr>
        <p:txBody>
          <a:bodyPr wrap="square" lIns="0" tIns="0" rIns="0" bIns="0" rtlCol="0" anchor="t">
            <a:normAutofit/>
          </a:bodyPr>
          <a:lstStyle/>
          <a:p>
            <a:pPr defTabSz="1219170">
              <a:lnSpc>
                <a:spcPts val="4061"/>
              </a:lnSpc>
            </a:pPr>
            <a:r>
              <a:rPr lang="en-US" sz="2707" b="1" dirty="0">
                <a:solidFill>
                  <a:srgbClr val="FFFFFF"/>
                </a:solidFill>
                <a:latin typeface="Arial" pitchFamily="34" charset="0"/>
                <a:ea typeface="Arial" pitchFamily="34" charset="-122"/>
                <a:cs typeface="Arial" pitchFamily="34" charset="-120"/>
              </a:rPr>
              <a:t>Автономность (способность решать задачу даже в нетривиальных условиях без вмешательства человека)</a:t>
            </a:r>
            <a:endParaRPr lang="en-US" sz="2707"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96009" y="1901038"/>
            <a:ext cx="1714195" cy="1714500"/>
          </a:xfrm>
          <a:prstGeom prst="rect">
            <a:avLst/>
          </a:prstGeom>
        </p:spPr>
      </p:pic>
      <p:sp>
        <p:nvSpPr>
          <p:cNvPr id="3" name="Text 0"/>
          <p:cNvSpPr/>
          <p:nvPr/>
        </p:nvSpPr>
        <p:spPr>
          <a:xfrm>
            <a:off x="1296009" y="3889857"/>
            <a:ext cx="9631680" cy="1097280"/>
          </a:xfrm>
          <a:prstGeom prst="rect">
            <a:avLst/>
          </a:prstGeom>
          <a:noFill/>
          <a:ln/>
        </p:spPr>
        <p:txBody>
          <a:bodyPr wrap="square" lIns="0" tIns="0" rIns="0" bIns="0" rtlCol="0" anchor="t">
            <a:normAutofit/>
          </a:bodyPr>
          <a:lstStyle/>
          <a:p>
            <a:pPr defTabSz="1219170">
              <a:lnSpc>
                <a:spcPts val="3948"/>
              </a:lnSpc>
            </a:pPr>
            <a:r>
              <a:rPr lang="en-US" sz="2820" b="1" dirty="0">
                <a:solidFill>
                  <a:srgbClr val="FFFFFF"/>
                </a:solidFill>
                <a:latin typeface="Arial" pitchFamily="34" charset="0"/>
                <a:ea typeface="Arial" pitchFamily="34" charset="-122"/>
                <a:cs typeface="Arial" pitchFamily="34" charset="-120"/>
              </a:rPr>
              <a:t>Реактивность (оперативная реакция на изменение среды)</a:t>
            </a:r>
            <a:endParaRPr lang="en-US" sz="2820"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75028" y="1901038"/>
            <a:ext cx="1686153" cy="1714500"/>
          </a:xfrm>
          <a:prstGeom prst="rect">
            <a:avLst/>
          </a:prstGeom>
        </p:spPr>
      </p:pic>
      <p:sp>
        <p:nvSpPr>
          <p:cNvPr id="3" name="Text 0"/>
          <p:cNvSpPr/>
          <p:nvPr/>
        </p:nvSpPr>
        <p:spPr>
          <a:xfrm>
            <a:off x="2275027" y="3889857"/>
            <a:ext cx="7680960" cy="1097280"/>
          </a:xfrm>
          <a:prstGeom prst="rect">
            <a:avLst/>
          </a:prstGeom>
          <a:noFill/>
          <a:ln/>
        </p:spPr>
        <p:txBody>
          <a:bodyPr wrap="square" lIns="0" tIns="0" rIns="0" bIns="0" rtlCol="0" anchor="t">
            <a:normAutofit/>
          </a:bodyPr>
          <a:lstStyle/>
          <a:p>
            <a:pPr defTabSz="1219170">
              <a:lnSpc>
                <a:spcPts val="3948"/>
              </a:lnSpc>
            </a:pPr>
            <a:r>
              <a:rPr lang="en-US" sz="2820" b="1" dirty="0">
                <a:solidFill>
                  <a:srgbClr val="FFFFFF"/>
                </a:solidFill>
                <a:latin typeface="Arial" pitchFamily="34" charset="0"/>
                <a:ea typeface="Arial" pitchFamily="34" charset="-122"/>
                <a:cs typeface="Arial" pitchFamily="34" charset="-120"/>
              </a:rPr>
              <a:t>Про-активность (целеполагание и поиск оптимального решения)</a:t>
            </a:r>
            <a:endParaRPr lang="en-US" sz="2820"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4867" y="1497102"/>
            <a:ext cx="1714195" cy="1714500"/>
          </a:xfrm>
          <a:prstGeom prst="rect">
            <a:avLst/>
          </a:prstGeom>
        </p:spPr>
      </p:pic>
      <p:sp>
        <p:nvSpPr>
          <p:cNvPr id="3" name="Text 0"/>
          <p:cNvSpPr/>
          <p:nvPr/>
        </p:nvSpPr>
        <p:spPr>
          <a:xfrm>
            <a:off x="994867" y="3485921"/>
            <a:ext cx="10241280" cy="1920240"/>
          </a:xfrm>
          <a:prstGeom prst="rect">
            <a:avLst/>
          </a:prstGeom>
          <a:noFill/>
          <a:ln/>
        </p:spPr>
        <p:txBody>
          <a:bodyPr wrap="square" lIns="0" tIns="0" rIns="0" bIns="0" rtlCol="0" anchor="t">
            <a:normAutofit/>
          </a:bodyPr>
          <a:lstStyle/>
          <a:p>
            <a:pPr defTabSz="1219170">
              <a:lnSpc>
                <a:spcPts val="3468"/>
              </a:lnSpc>
            </a:pPr>
            <a:r>
              <a:rPr lang="en-US" sz="2312" b="1" dirty="0">
                <a:solidFill>
                  <a:srgbClr val="FFFFFF"/>
                </a:solidFill>
                <a:latin typeface="Arial" pitchFamily="34" charset="0"/>
                <a:ea typeface="Arial" pitchFamily="34" charset="-122"/>
                <a:cs typeface="Arial" pitchFamily="34" charset="-120"/>
              </a:rPr>
              <a:t>Социальность (взаимодействие с другими агентами для достижения собственных и общих целей, главным образом, посредством передачи сообщений с запросом и предоставлении информации)</a:t>
            </a:r>
            <a:endParaRPr lang="en-US" sz="2312"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2412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Социальность (взаимоде...</a:t>
            </a:r>
            <a:endParaRPr lang="en-US" sz="5584" dirty="0">
              <a:solidFill>
                <a:prstClr val="black"/>
              </a:solidFill>
              <a:latin typeface="Calibri" panose="020F0502020204030204"/>
            </a:endParaRPr>
          </a:p>
        </p:txBody>
      </p:sp>
      <p:sp>
        <p:nvSpPr>
          <p:cNvPr id="3" name="Text 1"/>
          <p:cNvSpPr/>
          <p:nvPr/>
        </p:nvSpPr>
        <p:spPr>
          <a:xfrm>
            <a:off x="1187501" y="2386585"/>
            <a:ext cx="9387840" cy="1165860"/>
          </a:xfrm>
          <a:prstGeom prst="rect">
            <a:avLst/>
          </a:prstGeom>
          <a:noFill/>
          <a:ln/>
        </p:spPr>
        <p:txBody>
          <a:bodyPr wrap="square" lIns="0" tIns="0" rIns="0" bIns="0" rtlCol="0" anchor="t">
            <a:normAutofit/>
          </a:bodyPr>
          <a:lstStyle/>
          <a:p>
            <a:pPr defTabSz="1219170">
              <a:lnSpc>
                <a:spcPts val="4145"/>
              </a:lnSpc>
            </a:pPr>
            <a:r>
              <a:rPr lang="en-US" sz="2764" dirty="0">
                <a:solidFill>
                  <a:srgbClr val="FFFFFF"/>
                </a:solidFill>
                <a:latin typeface="Arial" pitchFamily="34" charset="0"/>
                <a:ea typeface="Arial" pitchFamily="34" charset="-122"/>
                <a:cs typeface="Arial" pitchFamily="34" charset="-120"/>
              </a:rPr>
              <a:t>Кооперативность (способность агентов объединяться для совместного решения задачи)</a:t>
            </a:r>
            <a:endParaRPr lang="en-US" sz="2764" dirty="0">
              <a:solidFill>
                <a:prstClr val="black"/>
              </a:solidFill>
              <a:latin typeface="Calibri" panose="020F0502020204030204"/>
            </a:endParaRPr>
          </a:p>
        </p:txBody>
      </p:sp>
      <p:sp>
        <p:nvSpPr>
          <p:cNvPr id="4" name="Text 2"/>
          <p:cNvSpPr/>
          <p:nvPr/>
        </p:nvSpPr>
        <p:spPr>
          <a:xfrm>
            <a:off x="1187501" y="3917977"/>
            <a:ext cx="10119360" cy="1165860"/>
          </a:xfrm>
          <a:prstGeom prst="rect">
            <a:avLst/>
          </a:prstGeom>
          <a:noFill/>
          <a:ln/>
        </p:spPr>
        <p:txBody>
          <a:bodyPr wrap="square" lIns="0" tIns="0" rIns="0" bIns="0" rtlCol="0" anchor="t">
            <a:normAutofit/>
          </a:bodyPr>
          <a:lstStyle/>
          <a:p>
            <a:pPr defTabSz="1219170">
              <a:lnSpc>
                <a:spcPts val="4145"/>
              </a:lnSpc>
            </a:pPr>
            <a:r>
              <a:rPr lang="en-US" sz="2764" dirty="0">
                <a:solidFill>
                  <a:srgbClr val="FFFFFF"/>
                </a:solidFill>
                <a:latin typeface="Arial" pitchFamily="34" charset="0"/>
                <a:ea typeface="Arial" pitchFamily="34" charset="-122"/>
                <a:cs typeface="Arial" pitchFamily="34" charset="-120"/>
              </a:rPr>
              <a:t>Конкурентность (способность агентов противостоять друг другу для выполнения только собственных интересов)</a:t>
            </a:r>
            <a:endParaRPr lang="en-US" sz="2764"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2167" cy="560299"/>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917976"/>
            <a:ext cx="112167" cy="560299"/>
          </a:xfrm>
          <a:prstGeom prst="rect">
            <a:avLst/>
          </a:prstGeom>
        </p:spPr>
      </p:pic>
      <p:sp>
        <p:nvSpPr>
          <p:cNvPr id="7"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13053" y="1901038"/>
            <a:ext cx="1714195" cy="1714500"/>
          </a:xfrm>
          <a:prstGeom prst="rect">
            <a:avLst/>
          </a:prstGeom>
        </p:spPr>
      </p:pic>
      <p:sp>
        <p:nvSpPr>
          <p:cNvPr id="3" name="Text 0"/>
          <p:cNvSpPr/>
          <p:nvPr/>
        </p:nvSpPr>
        <p:spPr>
          <a:xfrm>
            <a:off x="1413053" y="3889857"/>
            <a:ext cx="9387840" cy="1097280"/>
          </a:xfrm>
          <a:prstGeom prst="rect">
            <a:avLst/>
          </a:prstGeom>
          <a:noFill/>
          <a:ln/>
        </p:spPr>
        <p:txBody>
          <a:bodyPr wrap="square" lIns="0" tIns="0" rIns="0" bIns="0" rtlCol="0" anchor="t">
            <a:normAutofit/>
          </a:bodyPr>
          <a:lstStyle/>
          <a:p>
            <a:pPr defTabSz="1219170">
              <a:lnSpc>
                <a:spcPts val="3948"/>
              </a:lnSpc>
            </a:pPr>
            <a:r>
              <a:rPr lang="en-US" sz="2820" b="1" dirty="0">
                <a:solidFill>
                  <a:srgbClr val="FFFFFF"/>
                </a:solidFill>
                <a:latin typeface="Arial" pitchFamily="34" charset="0"/>
                <a:ea typeface="Arial" pitchFamily="34" charset="-122"/>
                <a:cs typeface="Arial" pitchFamily="34" charset="-120"/>
              </a:rPr>
              <a:t>Кооперативность (способность агентов объединяться для совместного решения задачи)</a:t>
            </a:r>
            <a:endParaRPr lang="en-US" sz="2820"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9511" y="1908582"/>
            <a:ext cx="1714195" cy="1714500"/>
          </a:xfrm>
          <a:prstGeom prst="rect">
            <a:avLst/>
          </a:prstGeom>
        </p:spPr>
      </p:pic>
      <p:sp>
        <p:nvSpPr>
          <p:cNvPr id="3" name="Text 0"/>
          <p:cNvSpPr/>
          <p:nvPr/>
        </p:nvSpPr>
        <p:spPr>
          <a:xfrm>
            <a:off x="959511" y="3897401"/>
            <a:ext cx="10363200" cy="1097280"/>
          </a:xfrm>
          <a:prstGeom prst="rect">
            <a:avLst/>
          </a:prstGeom>
          <a:noFill/>
          <a:ln/>
        </p:spPr>
        <p:txBody>
          <a:bodyPr wrap="square" lIns="0" tIns="0" rIns="0" bIns="0" rtlCol="0" anchor="t">
            <a:normAutofit/>
          </a:bodyPr>
          <a:lstStyle/>
          <a:p>
            <a:pPr defTabSz="1219170">
              <a:lnSpc>
                <a:spcPts val="3892"/>
              </a:lnSpc>
            </a:pPr>
            <a:r>
              <a:rPr lang="en-US" sz="2595" b="1" dirty="0">
                <a:solidFill>
                  <a:srgbClr val="FFFFFF"/>
                </a:solidFill>
                <a:latin typeface="Arial" pitchFamily="34" charset="0"/>
                <a:ea typeface="Arial" pitchFamily="34" charset="-122"/>
                <a:cs typeface="Arial" pitchFamily="34" charset="-120"/>
              </a:rPr>
              <a:t>Конкурентность (способность агентов противостоять друг другу для выполнения только собственных интересов)</a:t>
            </a:r>
            <a:endParaRPr lang="en-US" sz="2595"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2195" y="1714501"/>
            <a:ext cx="1714195" cy="1714500"/>
          </a:xfrm>
          <a:prstGeom prst="rect">
            <a:avLst/>
          </a:prstGeom>
        </p:spPr>
      </p:pic>
      <p:sp>
        <p:nvSpPr>
          <p:cNvPr id="3" name="Text 0"/>
          <p:cNvSpPr/>
          <p:nvPr/>
        </p:nvSpPr>
        <p:spPr>
          <a:xfrm>
            <a:off x="952195" y="3703321"/>
            <a:ext cx="10363200" cy="1440180"/>
          </a:xfrm>
          <a:prstGeom prst="rect">
            <a:avLst/>
          </a:prstGeom>
          <a:noFill/>
          <a:ln/>
        </p:spPr>
        <p:txBody>
          <a:bodyPr wrap="square" lIns="0" tIns="0" rIns="0" bIns="0" rtlCol="0" anchor="t">
            <a:normAutofit/>
          </a:bodyPr>
          <a:lstStyle/>
          <a:p>
            <a:pPr defTabSz="1219170">
              <a:lnSpc>
                <a:spcPts val="3553"/>
              </a:lnSpc>
            </a:pPr>
            <a:r>
              <a:rPr lang="en-US" sz="2369" b="1" dirty="0">
                <a:solidFill>
                  <a:srgbClr val="FFFFFF"/>
                </a:solidFill>
                <a:latin typeface="Arial" pitchFamily="34" charset="0"/>
                <a:ea typeface="Arial" pitchFamily="34" charset="-122"/>
                <a:cs typeface="Arial" pitchFamily="34" charset="-120"/>
              </a:rPr>
              <a:t>Мобильность (способность агентов перемещаться внутри среды, например, в иерархии агентов, в некоторой матрице или в n-мерном виртуальном пространстве)</a:t>
            </a:r>
            <a:endParaRPr lang="en-US" sz="2369"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4103" y="1901038"/>
            <a:ext cx="1714195" cy="1714500"/>
          </a:xfrm>
          <a:prstGeom prst="rect">
            <a:avLst/>
          </a:prstGeom>
        </p:spPr>
      </p:pic>
      <p:sp>
        <p:nvSpPr>
          <p:cNvPr id="3" name="Text 0"/>
          <p:cNvSpPr/>
          <p:nvPr/>
        </p:nvSpPr>
        <p:spPr>
          <a:xfrm>
            <a:off x="1124103" y="3889857"/>
            <a:ext cx="9997440" cy="1097280"/>
          </a:xfrm>
          <a:prstGeom prst="rect">
            <a:avLst/>
          </a:prstGeom>
          <a:noFill/>
          <a:ln/>
        </p:spPr>
        <p:txBody>
          <a:bodyPr wrap="square" lIns="0" tIns="0" rIns="0" bIns="0" rtlCol="0" anchor="t">
            <a:normAutofit/>
          </a:bodyPr>
          <a:lstStyle/>
          <a:p>
            <a:pPr defTabSz="1219170">
              <a:lnSpc>
                <a:spcPts val="3948"/>
              </a:lnSpc>
            </a:pPr>
            <a:r>
              <a:rPr lang="en-US" sz="2820" b="1" dirty="0">
                <a:solidFill>
                  <a:srgbClr val="FFFFFF"/>
                </a:solidFill>
                <a:latin typeface="Arial" pitchFamily="34" charset="0"/>
                <a:ea typeface="Arial" pitchFamily="34" charset="-122"/>
                <a:cs typeface="Arial" pitchFamily="34" charset="-120"/>
              </a:rPr>
              <a:t>Правдивость (агент не может специально сообщить неправдивую информацию)</a:t>
            </a:r>
            <a:endParaRPr lang="en-US" sz="2820"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9966" y="1714501"/>
            <a:ext cx="1686153" cy="1714500"/>
          </a:xfrm>
          <a:prstGeom prst="rect">
            <a:avLst/>
          </a:prstGeom>
        </p:spPr>
      </p:pic>
      <p:sp>
        <p:nvSpPr>
          <p:cNvPr id="3" name="Text 0"/>
          <p:cNvSpPr/>
          <p:nvPr/>
        </p:nvSpPr>
        <p:spPr>
          <a:xfrm>
            <a:off x="1089965" y="3703321"/>
            <a:ext cx="10119360" cy="1440180"/>
          </a:xfrm>
          <a:prstGeom prst="rect">
            <a:avLst/>
          </a:prstGeom>
          <a:noFill/>
          <a:ln/>
        </p:spPr>
        <p:txBody>
          <a:bodyPr wrap="square" lIns="0" tIns="0" rIns="0" bIns="0" rtlCol="0" anchor="t">
            <a:normAutofit/>
          </a:bodyPr>
          <a:lstStyle/>
          <a:p>
            <a:pPr defTabSz="1219170">
              <a:lnSpc>
                <a:spcPts val="3553"/>
              </a:lnSpc>
            </a:pPr>
            <a:r>
              <a:rPr lang="en-US" sz="2369" b="1" dirty="0">
                <a:solidFill>
                  <a:srgbClr val="FFFFFF"/>
                </a:solidFill>
                <a:latin typeface="Arial" pitchFamily="34" charset="0"/>
                <a:ea typeface="Arial" pitchFamily="34" charset="-122"/>
                <a:cs typeface="Arial" pitchFamily="34" charset="-120"/>
              </a:rPr>
              <a:t>Наличие системы знаний (наличие у агентов модели представления знаний и собственных оперативных знаний на её основе)</a:t>
            </a:r>
            <a:endParaRPr lang="en-US" sz="2369"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8254" y="1714501"/>
            <a:ext cx="1686153" cy="1714500"/>
          </a:xfrm>
          <a:prstGeom prst="rect">
            <a:avLst/>
          </a:prstGeom>
        </p:spPr>
      </p:pic>
      <p:sp>
        <p:nvSpPr>
          <p:cNvPr id="3" name="Text 0"/>
          <p:cNvSpPr/>
          <p:nvPr/>
        </p:nvSpPr>
        <p:spPr>
          <a:xfrm>
            <a:off x="1108253" y="3703321"/>
            <a:ext cx="9997440" cy="1440180"/>
          </a:xfrm>
          <a:prstGeom prst="rect">
            <a:avLst/>
          </a:prstGeom>
          <a:noFill/>
          <a:ln/>
        </p:spPr>
        <p:txBody>
          <a:bodyPr wrap="square" lIns="0" tIns="0" rIns="0" bIns="0" rtlCol="0" anchor="t">
            <a:normAutofit/>
          </a:bodyPr>
          <a:lstStyle/>
          <a:p>
            <a:pPr defTabSz="1219170">
              <a:lnSpc>
                <a:spcPts val="3553"/>
              </a:lnSpc>
            </a:pPr>
            <a:r>
              <a:rPr lang="en-US" sz="2369" b="1" dirty="0">
                <a:solidFill>
                  <a:srgbClr val="FFFFFF"/>
                </a:solidFill>
                <a:latin typeface="Arial" pitchFamily="34" charset="0"/>
                <a:ea typeface="Arial" pitchFamily="34" charset="-122"/>
                <a:cs typeface="Arial" pitchFamily="34" charset="-120"/>
              </a:rPr>
              <a:t>Рациональность (логическая последовательность действий в рамках своих убеждений и знаний и оптимальное взаимодействие с другими агентами)</a:t>
            </a:r>
            <a:endParaRPr lang="en-US" sz="2369"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451104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BDI-модель</a:t>
            </a:r>
            <a:endParaRPr lang="en-US" sz="5584" dirty="0">
              <a:solidFill>
                <a:prstClr val="black"/>
              </a:solidFill>
              <a:latin typeface="Calibri" panose="020F0502020204030204"/>
            </a:endParaRPr>
          </a:p>
        </p:txBody>
      </p:sp>
      <p:sp>
        <p:nvSpPr>
          <p:cNvPr id="3" name="Text 1"/>
          <p:cNvSpPr/>
          <p:nvPr/>
        </p:nvSpPr>
        <p:spPr>
          <a:xfrm>
            <a:off x="1166775" y="2386584"/>
            <a:ext cx="890016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BDI-модель (Beliefs, Desires, Intentions – убеждения, желания, намерения) основана на теории практичного человеческого  мышления Майкла Братмана</a:t>
            </a:r>
            <a:endParaRPr lang="en-US" sz="2256" dirty="0">
              <a:solidFill>
                <a:prstClr val="black"/>
              </a:solidFill>
              <a:latin typeface="Calibri" panose="020F0502020204030204"/>
            </a:endParaRPr>
          </a:p>
        </p:txBody>
      </p:sp>
      <p:sp>
        <p:nvSpPr>
          <p:cNvPr id="4" name="Text 2"/>
          <p:cNvSpPr/>
          <p:nvPr/>
        </p:nvSpPr>
        <p:spPr>
          <a:xfrm>
            <a:off x="1166775" y="4169664"/>
            <a:ext cx="975360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Убеждения представляют собой информационное состояние агента (то есть знания об окружающем мире), они хранятся в базе знаний системы, в базе самого агенты или базах других агентов</a:t>
            </a:r>
            <a:endParaRPr lang="en-US" sz="2256" dirty="0">
              <a:solidFill>
                <a:prstClr val="black"/>
              </a:solidFill>
              <a:latin typeface="Calibri" panose="020F0502020204030204"/>
            </a:endParaRPr>
          </a:p>
        </p:txBody>
      </p:sp>
      <p:sp>
        <p:nvSpPr>
          <p:cNvPr id="5" name="Text 3"/>
          <p:cNvSpPr/>
          <p:nvPr/>
        </p:nvSpPr>
        <p:spPr>
          <a:xfrm>
            <a:off x="1166775" y="5952744"/>
            <a:ext cx="101193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Желания представляют собой элементы мотивации агента, то есть некоторые детерминированные (определённые) действия для дости...</a:t>
            </a:r>
            <a:endParaRPr lang="en-US" sz="2256" dirty="0">
              <a:solidFill>
                <a:prstClr val="black"/>
              </a:solidFill>
              <a:latin typeface="Calibri" panose="020F0502020204030204"/>
            </a:endParaRPr>
          </a:p>
        </p:txBody>
      </p:sp>
      <p:sp>
        <p:nvSpPr>
          <p:cNvPr id="6" name="Text 4"/>
          <p:cNvSpPr/>
          <p:nvPr/>
        </p:nvSpPr>
        <p:spPr>
          <a:xfrm>
            <a:off x="1166775" y="7278396"/>
            <a:ext cx="999744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Намерения представляют собой конкретные решения (план действий или уже совершённые действия) для выполнения желаний, план де...</a:t>
            </a:r>
            <a:endParaRPr lang="en-US" sz="2256" dirty="0">
              <a:solidFill>
                <a:prstClr val="black"/>
              </a:solidFill>
              <a:latin typeface="Calibri" panose="020F0502020204030204"/>
            </a:endParaRPr>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1440" cy="457428"/>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4169665"/>
            <a:ext cx="91440" cy="457428"/>
          </a:xfrm>
          <a:prstGeom prst="rect">
            <a:avLst/>
          </a:prstGeom>
        </p:spPr>
      </p:pic>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5" y="5952745"/>
            <a:ext cx="91440" cy="457428"/>
          </a:xfrm>
          <a:prstGeom prst="rect">
            <a:avLst/>
          </a:prstGeom>
        </p:spPr>
      </p:pic>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5" y="7278396"/>
            <a:ext cx="91440" cy="457428"/>
          </a:xfrm>
          <a:prstGeom prst="rect">
            <a:avLst/>
          </a:prstGeom>
        </p:spPr>
      </p:pic>
      <p:sp>
        <p:nvSpPr>
          <p:cNvPr id="11" name="Text 5"/>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2595" y="518466"/>
            <a:ext cx="342595" cy="301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68045" y="1371600"/>
            <a:ext cx="10363200" cy="4114800"/>
          </a:xfrm>
          <a:prstGeom prst="rect">
            <a:avLst/>
          </a:prstGeom>
          <a:noFill/>
          <a:ln/>
        </p:spPr>
        <p:txBody>
          <a:bodyPr wrap="square" lIns="0" tIns="0" rIns="0" bIns="0" rtlCol="0" anchor="t">
            <a:normAutofit/>
          </a:bodyPr>
          <a:lstStyle/>
          <a:p>
            <a:pPr defTabSz="1219170">
              <a:lnSpc>
                <a:spcPts val="3807"/>
              </a:lnSpc>
            </a:pPr>
            <a:r>
              <a:rPr lang="en-US" sz="2539" b="1" dirty="0">
                <a:solidFill>
                  <a:srgbClr val="FFFFFF"/>
                </a:solidFill>
                <a:latin typeface="Arial" pitchFamily="34" charset="0"/>
                <a:ea typeface="Arial" pitchFamily="34" charset="-122"/>
                <a:cs typeface="Arial" pitchFamily="34" charset="-120"/>
              </a:rPr>
              <a:t>Желания представляют собой элементы мотивации агента, то есть некоторые детерминированные (определённые) действия для достижения конечной цели (найти наиболее короткий путь от одной точки, до другой, достичь вершины иерархии, передать важное приватное сообщение определённому агенту и т.п.), при этом цели не должны быть конфликтующими (например, создать и удалить запись одновременно)</a:t>
            </a:r>
            <a:endParaRPr lang="en-US" sz="2539"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44880" y="1371600"/>
            <a:ext cx="10363200" cy="4114800"/>
          </a:xfrm>
          <a:prstGeom prst="rect">
            <a:avLst/>
          </a:prstGeom>
          <a:noFill/>
          <a:ln/>
        </p:spPr>
        <p:txBody>
          <a:bodyPr wrap="square" lIns="0" tIns="0" rIns="0" bIns="0" rtlCol="0" anchor="t">
            <a:normAutofit/>
          </a:bodyPr>
          <a:lstStyle/>
          <a:p>
            <a:pPr defTabSz="1219170">
              <a:lnSpc>
                <a:spcPts val="3807"/>
              </a:lnSpc>
            </a:pPr>
            <a:r>
              <a:rPr lang="en-US" sz="2539" b="1" dirty="0">
                <a:solidFill>
                  <a:srgbClr val="FFFFFF"/>
                </a:solidFill>
                <a:latin typeface="Arial" pitchFamily="34" charset="0"/>
                <a:ea typeface="Arial" pitchFamily="34" charset="-122"/>
                <a:cs typeface="Arial" pitchFamily="34" charset="-120"/>
              </a:rPr>
              <a:t>Намерения представляют собой конкретные решения (план действий или уже совершённые действия) для выполнения желаний, план действий может представлять собой конкретный воспроизведённый самим агентом алгоритм (например, построенный граф состояний или дерево решений), при этом планы могут динамично изменятся в во время их выполнения (главным образом, из-за свойств активности и про-активности)</a:t>
            </a:r>
            <a:endParaRPr lang="en-US" sz="2539"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363200" cy="891540"/>
          </a:xfrm>
          <a:prstGeom prst="rect">
            <a:avLst/>
          </a:prstGeom>
          <a:noFill/>
          <a:ln/>
        </p:spPr>
        <p:txBody>
          <a:bodyPr wrap="square" lIns="0" tIns="0" rIns="0" bIns="0" rtlCol="0" anchor="t">
            <a:normAutofit/>
          </a:bodyPr>
          <a:lstStyle/>
          <a:p>
            <a:pPr defTabSz="1219170">
              <a:lnSpc>
                <a:spcPts val="6396"/>
              </a:lnSpc>
            </a:pPr>
            <a:r>
              <a:rPr lang="en-US" sz="4568" b="1" dirty="0">
                <a:solidFill>
                  <a:srgbClr val="FFFFFF"/>
                </a:solidFill>
                <a:latin typeface="Arial" pitchFamily="34" charset="0"/>
                <a:ea typeface="Arial" pitchFamily="34" charset="-122"/>
                <a:cs typeface="Arial" pitchFamily="34" charset="-120"/>
              </a:rPr>
              <a:t>Виды интеллектуальных агентов</a:t>
            </a:r>
            <a:endParaRPr lang="en-US" sz="4568" dirty="0">
              <a:solidFill>
                <a:prstClr val="black"/>
              </a:solidFill>
              <a:latin typeface="Calibri" panose="020F0502020204030204"/>
            </a:endParaRPr>
          </a:p>
        </p:txBody>
      </p:sp>
      <p:sp>
        <p:nvSpPr>
          <p:cNvPr id="3" name="Text 1"/>
          <p:cNvSpPr/>
          <p:nvPr/>
        </p:nvSpPr>
        <p:spPr>
          <a:xfrm>
            <a:off x="1188720" y="2269999"/>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Пассивные (агенты, не имеющие целей и не следующие BDI-модели, как правило, существуют в качестве инст...</a:t>
            </a:r>
            <a:endParaRPr lang="en-US" sz="2820" dirty="0">
              <a:solidFill>
                <a:prstClr val="black"/>
              </a:solidFill>
              <a:latin typeface="Calibri" panose="020F0502020204030204"/>
            </a:endParaRPr>
          </a:p>
        </p:txBody>
      </p:sp>
      <p:sp>
        <p:nvSpPr>
          <p:cNvPr id="4" name="Text 2"/>
          <p:cNvSpPr/>
          <p:nvPr/>
        </p:nvSpPr>
        <p:spPr>
          <a:xfrm>
            <a:off x="1188720" y="3748583"/>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Активные (агенты, имеющие простые и быстро достижимые цели вроде передачи сообщений, выполн...</a:t>
            </a:r>
            <a:endParaRPr lang="en-US" sz="2820" dirty="0">
              <a:solidFill>
                <a:prstClr val="black"/>
              </a:solidFill>
              <a:latin typeface="Calibri" panose="020F0502020204030204"/>
            </a:endParaRPr>
          </a:p>
        </p:txBody>
      </p:sp>
      <p:sp>
        <p:nvSpPr>
          <p:cNvPr id="5" name="Text 3"/>
          <p:cNvSpPr/>
          <p:nvPr/>
        </p:nvSpPr>
        <p:spPr>
          <a:xfrm>
            <a:off x="1188720" y="5226481"/>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Когнитивные (агенты, выполняющие сложные, трудоёмкие и долгие по времени вычисления и являю...</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269999"/>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748583"/>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5226481"/>
            <a:ext cx="114605" cy="533552"/>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63143" y="1722044"/>
            <a:ext cx="10119360" cy="3429000"/>
          </a:xfrm>
          <a:prstGeom prst="rect">
            <a:avLst/>
          </a:prstGeom>
          <a:noFill/>
          <a:ln/>
        </p:spPr>
        <p:txBody>
          <a:bodyPr wrap="square" lIns="0" tIns="0" rIns="0" bIns="0" rtlCol="0" anchor="t">
            <a:normAutofit/>
          </a:bodyPr>
          <a:lstStyle/>
          <a:p>
            <a:pPr defTabSz="1219170">
              <a:lnSpc>
                <a:spcPts val="5053"/>
              </a:lnSpc>
            </a:pPr>
            <a:r>
              <a:rPr lang="en-US" sz="3609" b="1" dirty="0">
                <a:solidFill>
                  <a:srgbClr val="FFFFFF"/>
                </a:solidFill>
                <a:latin typeface="Arial" pitchFamily="34" charset="0"/>
                <a:ea typeface="Arial" pitchFamily="34" charset="-122"/>
                <a:cs typeface="Arial" pitchFamily="34" charset="-120"/>
              </a:rPr>
              <a:t>Пассивные (агенты, не имеющие целей и не следующие BDI-модели, как правило, существуют в качестве инструментов, посредников или помех для других агентов в системе)</a:t>
            </a:r>
            <a:endParaRPr lang="en-US" sz="3609"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260653" y="1722044"/>
            <a:ext cx="9753600" cy="3429000"/>
          </a:xfrm>
          <a:prstGeom prst="rect">
            <a:avLst/>
          </a:prstGeom>
          <a:noFill/>
          <a:ln/>
        </p:spPr>
        <p:txBody>
          <a:bodyPr wrap="square" lIns="0" tIns="0" rIns="0" bIns="0" rtlCol="0" anchor="t">
            <a:normAutofit/>
          </a:bodyPr>
          <a:lstStyle/>
          <a:p>
            <a:pPr defTabSz="1219170">
              <a:lnSpc>
                <a:spcPts val="5053"/>
              </a:lnSpc>
            </a:pPr>
            <a:r>
              <a:rPr lang="en-US" sz="3609" b="1" dirty="0">
                <a:solidFill>
                  <a:srgbClr val="FFFFFF"/>
                </a:solidFill>
                <a:latin typeface="Arial" pitchFamily="34" charset="0"/>
                <a:ea typeface="Arial" pitchFamily="34" charset="-122"/>
                <a:cs typeface="Arial" pitchFamily="34" charset="-120"/>
              </a:rPr>
              <a:t>Активные (агенты, имеющие простые и быстро достижимые цели вроде передачи сообщений, выполнения мобильных действий и простых вычислений)</a:t>
            </a:r>
            <a:endParaRPr lang="en-US" sz="3609"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59511" y="1908582"/>
            <a:ext cx="10363200" cy="3086100"/>
          </a:xfrm>
          <a:prstGeom prst="rect">
            <a:avLst/>
          </a:prstGeom>
          <a:noFill/>
          <a:ln/>
        </p:spPr>
        <p:txBody>
          <a:bodyPr wrap="square" lIns="0" tIns="0" rIns="0" bIns="0" rtlCol="0" anchor="t">
            <a:normAutofit/>
          </a:bodyPr>
          <a:lstStyle/>
          <a:p>
            <a:pPr defTabSz="1219170">
              <a:lnSpc>
                <a:spcPts val="4501"/>
              </a:lnSpc>
            </a:pPr>
            <a:r>
              <a:rPr lang="en-US" sz="3215" b="1" dirty="0">
                <a:solidFill>
                  <a:srgbClr val="FFFFFF"/>
                </a:solidFill>
                <a:latin typeface="Arial" pitchFamily="34" charset="0"/>
                <a:ea typeface="Arial" pitchFamily="34" charset="-122"/>
                <a:cs typeface="Arial" pitchFamily="34" charset="-120"/>
              </a:rPr>
              <a:t>Когнитивные (агенты, выполняющие сложные, трудоёмкие и долгие по времени вычисления и являющаяся интеллектуальным центром системы, а также основным потребителем и наполнителем базы знаний)</a:t>
            </a:r>
            <a:endParaRPr lang="en-US" sz="3215"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876032" y="2276856"/>
            <a:ext cx="3048000" cy="233172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Системы с одним агентом</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374039" y="1685696"/>
            <a:ext cx="5690007" cy="3487293"/>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987552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Системы с одним агентом</a:t>
            </a:r>
            <a:endParaRPr lang="en-US" sz="5584" dirty="0">
              <a:solidFill>
                <a:prstClr val="black"/>
              </a:solidFill>
              <a:latin typeface="Calibri" panose="020F0502020204030204"/>
            </a:endParaRPr>
          </a:p>
        </p:txBody>
      </p:sp>
      <p:sp>
        <p:nvSpPr>
          <p:cNvPr id="3" name="Text 1"/>
          <p:cNvSpPr/>
          <p:nvPr/>
        </p:nvSpPr>
        <p:spPr>
          <a:xfrm>
            <a:off x="1188720" y="2386584"/>
            <a:ext cx="926592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Системы, в которых существует только один супер-агент, который так же может являться и средой.</a:t>
            </a:r>
            <a:endParaRPr lang="en-US" sz="2820" dirty="0">
              <a:solidFill>
                <a:prstClr val="black"/>
              </a:solidFill>
              <a:latin typeface="Calibri" panose="020F0502020204030204"/>
            </a:endParaRPr>
          </a:p>
        </p:txBody>
      </p:sp>
      <p:sp>
        <p:nvSpPr>
          <p:cNvPr id="4" name="Text 2"/>
          <p:cNvSpPr/>
          <p:nvPr/>
        </p:nvSpPr>
        <p:spPr>
          <a:xfrm>
            <a:off x="1188720" y="3865169"/>
            <a:ext cx="853440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Сильные стороны: простая архитектура, низкая задержка, легкость отладки</a:t>
            </a:r>
            <a:endParaRPr lang="en-US" sz="2820" dirty="0">
              <a:solidFill>
                <a:prstClr val="black"/>
              </a:solidFill>
              <a:latin typeface="Calibri" panose="020F0502020204030204"/>
            </a:endParaRPr>
          </a:p>
        </p:txBody>
      </p:sp>
      <p:sp>
        <p:nvSpPr>
          <p:cNvPr id="5" name="Text 3"/>
          <p:cNvSpPr/>
          <p:nvPr/>
        </p:nvSpPr>
        <p:spPr>
          <a:xfrm>
            <a:off x="1188720" y="5343068"/>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Слабые стороны: плохо справляется со сложными задачами, требующими разнородных экспертных знан...</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5343068"/>
            <a:ext cx="114605" cy="533552"/>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21689" y="1855775"/>
            <a:ext cx="10241280" cy="3154680"/>
          </a:xfrm>
          <a:prstGeom prst="rect">
            <a:avLst/>
          </a:prstGeom>
          <a:noFill/>
          <a:ln/>
        </p:spPr>
        <p:txBody>
          <a:bodyPr wrap="square" lIns="0" tIns="0" rIns="0" bIns="0" rtlCol="0" anchor="t">
            <a:normAutofit/>
          </a:bodyPr>
          <a:lstStyle/>
          <a:p>
            <a:pPr defTabSz="1219170">
              <a:lnSpc>
                <a:spcPts val="4659"/>
              </a:lnSpc>
            </a:pPr>
            <a:r>
              <a:rPr lang="en-US" sz="3328" b="1" dirty="0">
                <a:solidFill>
                  <a:srgbClr val="FFFFFF"/>
                </a:solidFill>
                <a:latin typeface="Arial" pitchFamily="34" charset="0"/>
                <a:ea typeface="Arial" pitchFamily="34" charset="-122"/>
                <a:cs typeface="Arial" pitchFamily="34" charset="-120"/>
              </a:rPr>
              <a:t>Слабые стороны: плохо справляется со сложными задачами, требующими разнородных экспертных знаний, склонна к перегрузке контекста, ошибка единственного агента означает сбой всей системы.</a:t>
            </a:r>
            <a:endParaRPr lang="en-US" sz="3328"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57847" y="1914069"/>
            <a:ext cx="3779520" cy="3086100"/>
          </a:xfrm>
          <a:prstGeom prst="rect">
            <a:avLst/>
          </a:prstGeom>
          <a:noFill/>
          <a:ln/>
        </p:spPr>
        <p:txBody>
          <a:bodyPr wrap="square" lIns="0" tIns="0" rIns="0" bIns="0" rtlCol="0" anchor="t">
            <a:normAutofit/>
          </a:bodyPr>
          <a:lstStyle/>
          <a:p>
            <a:pPr defTabSz="1219170">
              <a:lnSpc>
                <a:spcPts val="5607"/>
              </a:lnSpc>
            </a:pPr>
            <a:r>
              <a:rPr lang="en-US" sz="4004" b="1" dirty="0">
                <a:solidFill>
                  <a:srgbClr val="FFFFFF"/>
                </a:solidFill>
                <a:latin typeface="Arial" pitchFamily="34" charset="0"/>
                <a:ea typeface="Arial" pitchFamily="34" charset="-122"/>
                <a:cs typeface="Arial" pitchFamily="34" charset="-120"/>
              </a:rPr>
              <a:t>Многоагентные (мультиагентные системы)</a:t>
            </a:r>
            <a:endParaRPr lang="en-US" sz="4004"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54634" y="1750162"/>
            <a:ext cx="5690007" cy="3357677"/>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2412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Многоагентные (мультиаг...</a:t>
            </a:r>
            <a:endParaRPr lang="en-US" sz="5584" dirty="0">
              <a:solidFill>
                <a:prstClr val="black"/>
              </a:solidFill>
              <a:latin typeface="Calibri" panose="020F0502020204030204"/>
            </a:endParaRPr>
          </a:p>
        </p:txBody>
      </p:sp>
      <p:sp>
        <p:nvSpPr>
          <p:cNvPr id="3" name="Text 1"/>
          <p:cNvSpPr/>
          <p:nvPr/>
        </p:nvSpPr>
        <p:spPr>
          <a:xfrm>
            <a:off x="1166775" y="2386584"/>
            <a:ext cx="890016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Система с множеством агентов, которые могут совместно или конкурентно решать задачу, симулируя реальные процессов взаимодействия множества сущностей.</a:t>
            </a:r>
            <a:endParaRPr lang="en-US" sz="2256" dirty="0">
              <a:solidFill>
                <a:prstClr val="black"/>
              </a:solidFill>
              <a:latin typeface="Calibri" panose="020F0502020204030204"/>
            </a:endParaRPr>
          </a:p>
        </p:txBody>
      </p:sp>
      <p:sp>
        <p:nvSpPr>
          <p:cNvPr id="4" name="Text 2"/>
          <p:cNvSpPr/>
          <p:nvPr/>
        </p:nvSpPr>
        <p:spPr>
          <a:xfrm>
            <a:off x="1166775" y="4169664"/>
            <a:ext cx="987552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Сильные стороны: каждый агент - эксперт в своей узкой области, что повышает качество решения сложных задач, система устойчива к сбоям и легко масштабируется под новые задач.</a:t>
            </a:r>
            <a:endParaRPr lang="en-US" sz="2256" dirty="0">
              <a:solidFill>
                <a:prstClr val="black"/>
              </a:solidFill>
              <a:latin typeface="Calibri" panose="020F0502020204030204"/>
            </a:endParaRPr>
          </a:p>
        </p:txBody>
      </p:sp>
      <p:sp>
        <p:nvSpPr>
          <p:cNvPr id="5" name="Text 3"/>
          <p:cNvSpPr/>
          <p:nvPr/>
        </p:nvSpPr>
        <p:spPr>
          <a:xfrm>
            <a:off x="1166775" y="5952744"/>
            <a:ext cx="987552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Слабые стороны: более высокая сложность разработки и накладные расходы на коммуникацию между агентами и оркестратором (когнитивным агентом).</a:t>
            </a:r>
            <a:endParaRPr lang="en-US" sz="2256"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1440" cy="457428"/>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4169665"/>
            <a:ext cx="91440" cy="457428"/>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5" y="5952745"/>
            <a:ext cx="91440" cy="457428"/>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2412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Задачи интеллектуальны...</a:t>
            </a:r>
            <a:endParaRPr lang="en-US" sz="5584" dirty="0">
              <a:solidFill>
                <a:prstClr val="black"/>
              </a:solidFill>
              <a:latin typeface="Calibri" panose="020F0502020204030204"/>
            </a:endParaRPr>
          </a:p>
        </p:txBody>
      </p:sp>
      <p:sp>
        <p:nvSpPr>
          <p:cNvPr id="3" name="Text 1"/>
          <p:cNvSpPr/>
          <p:nvPr/>
        </p:nvSpPr>
        <p:spPr>
          <a:xfrm>
            <a:off x="1188720" y="2386584"/>
            <a:ext cx="853440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Автоматизация и автономность исследований и решения задач</a:t>
            </a:r>
            <a:endParaRPr lang="en-US" sz="2820" dirty="0">
              <a:solidFill>
                <a:prstClr val="black"/>
              </a:solidFill>
              <a:latin typeface="Calibri" panose="020F0502020204030204"/>
            </a:endParaRPr>
          </a:p>
        </p:txBody>
      </p:sp>
      <p:sp>
        <p:nvSpPr>
          <p:cNvPr id="4" name="Text 2"/>
          <p:cNvSpPr/>
          <p:nvPr/>
        </p:nvSpPr>
        <p:spPr>
          <a:xfrm>
            <a:off x="1188720" y="3865169"/>
            <a:ext cx="93878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Оптимизация (поиск наилучшего или бизкого к нему значения некоторой целевой функции)</a:t>
            </a:r>
            <a:endParaRPr lang="en-US" sz="2820" dirty="0">
              <a:solidFill>
                <a:prstClr val="black"/>
              </a:solidFill>
              <a:latin typeface="Calibri" panose="020F0502020204030204"/>
            </a:endParaRPr>
          </a:p>
        </p:txBody>
      </p:sp>
      <p:sp>
        <p:nvSpPr>
          <p:cNvPr id="5" name="Text 3"/>
          <p:cNvSpPr/>
          <p:nvPr/>
        </p:nvSpPr>
        <p:spPr>
          <a:xfrm>
            <a:off x="1188720" y="5343068"/>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Поиск наиболее выгодного или оптимального состояния некоторой системы</a:t>
            </a:r>
            <a:endParaRPr lang="en-US" sz="2820" dirty="0">
              <a:solidFill>
                <a:prstClr val="black"/>
              </a:solidFill>
              <a:latin typeface="Calibri" panose="020F0502020204030204"/>
            </a:endParaRPr>
          </a:p>
        </p:txBody>
      </p:sp>
      <p:sp>
        <p:nvSpPr>
          <p:cNvPr id="6" name="Text 4"/>
          <p:cNvSpPr/>
          <p:nvPr/>
        </p:nvSpPr>
        <p:spPr>
          <a:xfrm>
            <a:off x="1188720" y="6821652"/>
            <a:ext cx="926592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Симуляция процессов (в основном реальных социальных процессов и многофакторных событий)</a:t>
            </a:r>
            <a:endParaRPr lang="en-US" sz="2820" dirty="0">
              <a:solidFill>
                <a:prstClr val="black"/>
              </a:solidFill>
              <a:latin typeface="Calibri" panose="020F0502020204030204"/>
            </a:endParaRPr>
          </a:p>
        </p:txBody>
      </p:sp>
      <p:sp>
        <p:nvSpPr>
          <p:cNvPr id="7" name="Text 5"/>
          <p:cNvSpPr/>
          <p:nvPr/>
        </p:nvSpPr>
        <p:spPr>
          <a:xfrm>
            <a:off x="1188720" y="8299552"/>
            <a:ext cx="46329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Искусственный интеллект</a:t>
            </a:r>
            <a:endParaRPr lang="en-US" sz="2820" dirty="0">
              <a:solidFill>
                <a:prstClr val="black"/>
              </a:solidFill>
              <a:latin typeface="Calibri" panose="020F0502020204030204"/>
            </a:endParaRPr>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5343068"/>
            <a:ext cx="114605" cy="533552"/>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6821652"/>
            <a:ext cx="114605" cy="533552"/>
          </a:xfrm>
          <a:prstGeom prst="rect">
            <a:avLst/>
          </a:prstGeom>
        </p:spPr>
      </p:pic>
      <p:pic>
        <p:nvPicPr>
          <p:cNvPr id="1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6" y="8299552"/>
            <a:ext cx="114605" cy="533552"/>
          </a:xfrm>
          <a:prstGeom prst="rect">
            <a:avLst/>
          </a:prstGeom>
        </p:spPr>
      </p:pic>
      <p:sp>
        <p:nvSpPr>
          <p:cNvPr id="13" name="Text 6"/>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2595" y="518466"/>
            <a:ext cx="342595" cy="3017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445667"/>
            <a:ext cx="743712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Искусственный интеллект</a:t>
            </a:r>
            <a:endParaRPr lang="en-US" sz="7106" dirty="0">
              <a:solidFill>
                <a:prstClr val="black"/>
              </a:solidFill>
              <a:latin typeface="Calibri" panose="020F0502020204030204"/>
            </a:endParaRPr>
          </a:p>
        </p:txBody>
      </p:sp>
      <p:sp>
        <p:nvSpPr>
          <p:cNvPr id="3" name="Text 1"/>
          <p:cNvSpPr/>
          <p:nvPr/>
        </p:nvSpPr>
        <p:spPr>
          <a:xfrm>
            <a:off x="937565" y="4520794"/>
            <a:ext cx="4754880" cy="891540"/>
          </a:xfrm>
          <a:prstGeom prst="rect">
            <a:avLst/>
          </a:prstGeom>
          <a:noFill/>
          <a:ln/>
        </p:spPr>
        <p:txBody>
          <a:bodyPr wrap="square" lIns="0" tIns="0" rIns="0" bIns="0" rtlCol="0" anchor="t">
            <a:normAutofit/>
          </a:bodyPr>
          <a:lstStyle/>
          <a:p>
            <a:pPr defTabSz="1219170">
              <a:lnSpc>
                <a:spcPts val="6599"/>
              </a:lnSpc>
            </a:pPr>
            <a:r>
              <a:rPr lang="en-US" sz="5076" dirty="0">
                <a:solidFill>
                  <a:srgbClr val="FFFFFF"/>
                </a:solidFill>
                <a:latin typeface="Arial" pitchFamily="34" charset="0"/>
                <a:ea typeface="Arial" pitchFamily="34" charset="-122"/>
                <a:cs typeface="Arial" pitchFamily="34" charset="-120"/>
              </a:rPr>
              <a:t>Проблемы ИИ:</a:t>
            </a:r>
            <a:endParaRPr lang="en-US" sz="5076"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941979"/>
            <a:ext cx="7437120"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560832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Проблемы ИИ:</a:t>
            </a:r>
            <a:endParaRPr lang="en-US" sz="5584" dirty="0">
              <a:solidFill>
                <a:prstClr val="black"/>
              </a:solidFill>
              <a:latin typeface="Calibri" panose="020F0502020204030204"/>
            </a:endParaRPr>
          </a:p>
        </p:txBody>
      </p:sp>
      <p:sp>
        <p:nvSpPr>
          <p:cNvPr id="3" name="Text 1"/>
          <p:cNvSpPr/>
          <p:nvPr/>
        </p:nvSpPr>
        <p:spPr>
          <a:xfrm>
            <a:off x="1188720" y="2386584"/>
            <a:ext cx="41452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Представление знаний</a:t>
            </a:r>
            <a:endParaRPr lang="en-US" sz="2820" dirty="0">
              <a:solidFill>
                <a:prstClr val="black"/>
              </a:solidFill>
              <a:latin typeface="Calibri" panose="020F0502020204030204"/>
            </a:endParaRPr>
          </a:p>
        </p:txBody>
      </p:sp>
      <p:sp>
        <p:nvSpPr>
          <p:cNvPr id="4" name="Text 2"/>
          <p:cNvSpPr/>
          <p:nvPr/>
        </p:nvSpPr>
        <p:spPr>
          <a:xfrm>
            <a:off x="1188720" y="3331616"/>
            <a:ext cx="60960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Рассуждение и решение проблем</a:t>
            </a:r>
            <a:endParaRPr lang="en-US" sz="2820" dirty="0">
              <a:solidFill>
                <a:prstClr val="black"/>
              </a:solidFill>
              <a:latin typeface="Calibri" panose="020F0502020204030204"/>
            </a:endParaRPr>
          </a:p>
        </p:txBody>
      </p:sp>
      <p:sp>
        <p:nvSpPr>
          <p:cNvPr id="5" name="Text 3"/>
          <p:cNvSpPr/>
          <p:nvPr/>
        </p:nvSpPr>
        <p:spPr>
          <a:xfrm>
            <a:off x="1188720" y="4276649"/>
            <a:ext cx="21945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Восприятие</a:t>
            </a:r>
            <a:endParaRPr lang="en-US" sz="2820" dirty="0">
              <a:solidFill>
                <a:prstClr val="black"/>
              </a:solidFill>
              <a:latin typeface="Calibri" panose="020F0502020204030204"/>
            </a:endParaRPr>
          </a:p>
        </p:txBody>
      </p:sp>
      <p:sp>
        <p:nvSpPr>
          <p:cNvPr id="6" name="Text 4"/>
          <p:cNvSpPr/>
          <p:nvPr/>
        </p:nvSpPr>
        <p:spPr>
          <a:xfrm>
            <a:off x="1188720" y="5220996"/>
            <a:ext cx="64617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Планирование и принятие решений</a:t>
            </a:r>
            <a:endParaRPr lang="en-US" sz="2820" dirty="0">
              <a:solidFill>
                <a:prstClr val="black"/>
              </a:solidFill>
              <a:latin typeface="Calibri" panose="020F0502020204030204"/>
            </a:endParaRPr>
          </a:p>
        </p:txBody>
      </p:sp>
      <p:sp>
        <p:nvSpPr>
          <p:cNvPr id="7" name="Text 5"/>
          <p:cNvSpPr/>
          <p:nvPr/>
        </p:nvSpPr>
        <p:spPr>
          <a:xfrm>
            <a:off x="1188720" y="6166028"/>
            <a:ext cx="18288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Обучение</a:t>
            </a:r>
            <a:endParaRPr lang="en-US" sz="2820" dirty="0">
              <a:solidFill>
                <a:prstClr val="black"/>
              </a:solidFill>
              <a:latin typeface="Calibri" panose="020F0502020204030204"/>
            </a:endParaRPr>
          </a:p>
        </p:txBody>
      </p:sp>
      <p:sp>
        <p:nvSpPr>
          <p:cNvPr id="8" name="Text 6"/>
          <p:cNvSpPr/>
          <p:nvPr/>
        </p:nvSpPr>
        <p:spPr>
          <a:xfrm>
            <a:off x="1188720" y="7111060"/>
            <a:ext cx="57302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Обработка естественного языка</a:t>
            </a:r>
            <a:endParaRPr lang="en-US" sz="2820" dirty="0">
              <a:solidFill>
                <a:prstClr val="black"/>
              </a:solidFill>
              <a:latin typeface="Calibri" panose="020F0502020204030204"/>
            </a:endParaRPr>
          </a:p>
        </p:txBody>
      </p:sp>
      <p:sp>
        <p:nvSpPr>
          <p:cNvPr id="9" name="Text 7"/>
          <p:cNvSpPr/>
          <p:nvPr/>
        </p:nvSpPr>
        <p:spPr>
          <a:xfrm>
            <a:off x="1188720" y="8056092"/>
            <a:ext cx="42672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Социальный интеллект</a:t>
            </a:r>
            <a:endParaRPr lang="en-US" sz="2820" dirty="0">
              <a:solidFill>
                <a:prstClr val="black"/>
              </a:solidFill>
              <a:latin typeface="Calibri" panose="020F0502020204030204"/>
            </a:endParaRPr>
          </a:p>
        </p:txBody>
      </p:sp>
      <p:sp>
        <p:nvSpPr>
          <p:cNvPr id="10" name="Text 8"/>
          <p:cNvSpPr/>
          <p:nvPr/>
        </p:nvSpPr>
        <p:spPr>
          <a:xfrm>
            <a:off x="1188720" y="9000439"/>
            <a:ext cx="62179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Обобщённый (сильный) интеллект</a:t>
            </a:r>
            <a:endParaRPr lang="en-US" sz="2820" dirty="0">
              <a:solidFill>
                <a:prstClr val="black"/>
              </a:solidFill>
              <a:latin typeface="Calibri" panose="020F0502020204030204"/>
            </a:endParaRPr>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276649"/>
            <a:ext cx="114605" cy="533552"/>
          </a:xfrm>
          <a:prstGeom prst="rect">
            <a:avLst/>
          </a:prstGeom>
        </p:spPr>
      </p:pic>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6" y="5220996"/>
            <a:ext cx="114605" cy="533552"/>
          </a:xfrm>
          <a:prstGeom prst="rect">
            <a:avLst/>
          </a:prstGeom>
        </p:spPr>
      </p:pic>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6" y="6166028"/>
            <a:ext cx="114605" cy="533552"/>
          </a:xfrm>
          <a:prstGeom prst="rect">
            <a:avLst/>
          </a:prstGeom>
        </p:spPr>
      </p:pic>
      <p:pic>
        <p:nvPicPr>
          <p:cNvPr id="1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7566" y="7111060"/>
            <a:ext cx="114605" cy="533552"/>
          </a:xfrm>
          <a:prstGeom prst="rect">
            <a:avLst/>
          </a:prstGeom>
        </p:spPr>
      </p:pic>
      <p:pic>
        <p:nvPicPr>
          <p:cNvPr id="17"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7566" y="8056092"/>
            <a:ext cx="114605" cy="533552"/>
          </a:xfrm>
          <a:prstGeom prst="rect">
            <a:avLst/>
          </a:prstGeom>
        </p:spPr>
      </p:pic>
      <p:pic>
        <p:nvPicPr>
          <p:cNvPr id="18"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37566" y="9000439"/>
            <a:ext cx="114605" cy="533552"/>
          </a:xfrm>
          <a:prstGeom prst="rect">
            <a:avLst/>
          </a:prstGeom>
        </p:spPr>
      </p:pic>
      <p:sp>
        <p:nvSpPr>
          <p:cNvPr id="19" name="Text 9"/>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20"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42595" y="518466"/>
            <a:ext cx="342595" cy="3017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999897"/>
            <a:ext cx="743712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Представление знаний</a:t>
            </a:r>
            <a:endParaRPr lang="en-US" sz="7106" dirty="0">
              <a:solidFill>
                <a:prstClr val="black"/>
              </a:solidFill>
              <a:latin typeface="Calibri" panose="020F0502020204030204"/>
            </a:endParaRPr>
          </a:p>
        </p:txBody>
      </p:sp>
      <p:sp>
        <p:nvSpPr>
          <p:cNvPr id="3" name="Text 1"/>
          <p:cNvSpPr/>
          <p:nvPr/>
        </p:nvSpPr>
        <p:spPr>
          <a:xfrm>
            <a:off x="937565" y="4075024"/>
            <a:ext cx="8412480" cy="1783080"/>
          </a:xfrm>
          <a:prstGeom prst="rect">
            <a:avLst/>
          </a:prstGeom>
          <a:noFill/>
          <a:ln/>
        </p:spPr>
        <p:txBody>
          <a:bodyPr wrap="square" lIns="0" tIns="0" rIns="0" bIns="0" rtlCol="0" anchor="t">
            <a:normAutofit/>
          </a:bodyPr>
          <a:lstStyle/>
          <a:p>
            <a:pPr defTabSz="1219170">
              <a:lnSpc>
                <a:spcPts val="6599"/>
              </a:lnSpc>
            </a:pPr>
            <a:r>
              <a:rPr lang="en-US" sz="5076" dirty="0">
                <a:solidFill>
                  <a:srgbClr val="FFFFFF"/>
                </a:solidFill>
                <a:latin typeface="Arial" pitchFamily="34" charset="0"/>
                <a:ea typeface="Arial" pitchFamily="34" charset="-122"/>
                <a:cs typeface="Arial" pitchFamily="34" charset="-120"/>
              </a:rPr>
              <a:t>Проблема Представления знаний Рона Брахмана:</a:t>
            </a:r>
            <a:endParaRPr lang="en-US" sz="5076"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496209"/>
            <a:ext cx="8382000"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4574439" y="2276856"/>
            <a:ext cx="6339840" cy="233172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Проблема Представления знаний Рона Брахмана:</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322832" y="1698042"/>
            <a:ext cx="2438400" cy="3462604"/>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999744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Проблема Представлени...</a:t>
            </a:r>
            <a:endParaRPr lang="en-US" sz="5584" dirty="0">
              <a:solidFill>
                <a:prstClr val="black"/>
              </a:solidFill>
              <a:latin typeface="Calibri" panose="020F0502020204030204"/>
            </a:endParaRPr>
          </a:p>
        </p:txBody>
      </p:sp>
      <p:sp>
        <p:nvSpPr>
          <p:cNvPr id="3" name="Text 1"/>
          <p:cNvSpPr/>
          <p:nvPr/>
        </p:nvSpPr>
        <p:spPr>
          <a:xfrm>
            <a:off x="1166775" y="2386585"/>
            <a:ext cx="9997440" cy="48006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Примитивы, описывающие базовую структуру представления знаний.</a:t>
            </a:r>
            <a:endParaRPr lang="en-US" sz="2256" dirty="0">
              <a:solidFill>
                <a:prstClr val="black"/>
              </a:solidFill>
              <a:latin typeface="Calibri" panose="020F0502020204030204"/>
            </a:endParaRPr>
          </a:p>
        </p:txBody>
      </p:sp>
      <p:sp>
        <p:nvSpPr>
          <p:cNvPr id="4" name="Text 2"/>
          <p:cNvSpPr/>
          <p:nvPr/>
        </p:nvSpPr>
        <p:spPr>
          <a:xfrm>
            <a:off x="1166775" y="3255492"/>
            <a:ext cx="101193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Метапредставление, как проблема отображения в информатике, которая относится к способности формализма иметь доступ к инфор...</a:t>
            </a:r>
            <a:endParaRPr lang="en-US" sz="2256" dirty="0">
              <a:solidFill>
                <a:prstClr val="black"/>
              </a:solidFill>
              <a:latin typeface="Calibri" panose="020F0502020204030204"/>
            </a:endParaRPr>
          </a:p>
        </p:txBody>
      </p:sp>
      <p:sp>
        <p:nvSpPr>
          <p:cNvPr id="5" name="Text 3"/>
          <p:cNvSpPr/>
          <p:nvPr/>
        </p:nvSpPr>
        <p:spPr>
          <a:xfrm>
            <a:off x="1166775" y="4581144"/>
            <a:ext cx="95097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Неполнота, обусловленная недостаточным набором фактов и тем самым невыводимости некоторых формул из других.</a:t>
            </a:r>
            <a:endParaRPr lang="en-US" sz="2256" dirty="0">
              <a:solidFill>
                <a:prstClr val="black"/>
              </a:solidFill>
              <a:latin typeface="Calibri" panose="020F0502020204030204"/>
            </a:endParaRPr>
          </a:p>
        </p:txBody>
      </p:sp>
      <p:sp>
        <p:nvSpPr>
          <p:cNvPr id="6" name="Text 4"/>
          <p:cNvSpPr/>
          <p:nvPr/>
        </p:nvSpPr>
        <p:spPr>
          <a:xfrm>
            <a:off x="1166775" y="5906796"/>
            <a:ext cx="999744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Определения и универсалии, которые необходимо учитывать так же, как и факты по умолчанию с соответствующей областью их действия.</a:t>
            </a:r>
            <a:endParaRPr lang="en-US" sz="2256" dirty="0">
              <a:solidFill>
                <a:prstClr val="black"/>
              </a:solidFill>
              <a:latin typeface="Calibri" panose="020F0502020204030204"/>
            </a:endParaRPr>
          </a:p>
        </p:txBody>
      </p:sp>
      <p:sp>
        <p:nvSpPr>
          <p:cNvPr id="7" name="Text 5"/>
          <p:cNvSpPr/>
          <p:nvPr/>
        </p:nvSpPr>
        <p:spPr>
          <a:xfrm>
            <a:off x="1166775" y="7233132"/>
            <a:ext cx="963168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Немонотонная система рассуждений, позволяющую опровергать и доказывать на основе опровержения, а также поддерживать зависимости между элементами в динамических системах.</a:t>
            </a:r>
            <a:endParaRPr lang="en-US" sz="2256" dirty="0">
              <a:solidFill>
                <a:prstClr val="black"/>
              </a:solidFill>
              <a:latin typeface="Calibri" panose="020F0502020204030204"/>
            </a:endParaRPr>
          </a:p>
        </p:txBody>
      </p:sp>
      <p:sp>
        <p:nvSpPr>
          <p:cNvPr id="8" name="Text 6"/>
          <p:cNvSpPr/>
          <p:nvPr/>
        </p:nvSpPr>
        <p:spPr>
          <a:xfrm>
            <a:off x="1166775" y="9016212"/>
            <a:ext cx="987552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Выразительная адекватность, обычно представляемая функциональной полнотой и описывающая возможности модели построения новых структур и их адекватности относительно фактов.</a:t>
            </a:r>
            <a:endParaRPr lang="en-US" sz="2256" dirty="0">
              <a:solidFill>
                <a:prstClr val="black"/>
              </a:solidFill>
              <a:latin typeface="Calibri" panose="020F0502020204030204"/>
            </a:endParaRPr>
          </a:p>
        </p:txBody>
      </p:sp>
      <p:sp>
        <p:nvSpPr>
          <p:cNvPr id="9" name="Text 7"/>
          <p:cNvSpPr/>
          <p:nvPr/>
        </p:nvSpPr>
        <p:spPr>
          <a:xfrm>
            <a:off x="1166775" y="10799292"/>
            <a:ext cx="101193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Эффективность рассуждений, описываемая количеством времени, затрачиваемого на выполнение самого алгоритма рассуждений и вы...</a:t>
            </a:r>
            <a:endParaRPr lang="en-US" sz="2256" dirty="0">
              <a:solidFill>
                <a:prstClr val="black"/>
              </a:solidFill>
              <a:latin typeface="Calibri" panose="020F0502020204030204"/>
            </a:endParaRPr>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1440" cy="457428"/>
          </a:xfrm>
          <a:prstGeom prst="rect">
            <a:avLst/>
          </a:prstGeom>
        </p:spPr>
      </p:pic>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3255493"/>
            <a:ext cx="91440" cy="457428"/>
          </a:xfrm>
          <a:prstGeom prst="rect">
            <a:avLst/>
          </a:prstGeom>
        </p:spPr>
      </p:pic>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5" y="4581145"/>
            <a:ext cx="91440" cy="457428"/>
          </a:xfrm>
          <a:prstGeom prst="rect">
            <a:avLst/>
          </a:prstGeom>
        </p:spPr>
      </p:pic>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5" y="5906797"/>
            <a:ext cx="91440" cy="457428"/>
          </a:xfrm>
          <a:prstGeom prst="rect">
            <a:avLst/>
          </a:prstGeom>
        </p:spPr>
      </p:pic>
      <p:pic>
        <p:nvPicPr>
          <p:cNvPr id="1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5" y="7233132"/>
            <a:ext cx="91440" cy="457428"/>
          </a:xfrm>
          <a:prstGeom prst="rect">
            <a:avLst/>
          </a:prstGeom>
        </p:spPr>
      </p:pic>
      <p:pic>
        <p:nvPicPr>
          <p:cNvPr id="1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7565" y="9016212"/>
            <a:ext cx="91440" cy="457428"/>
          </a:xfrm>
          <a:prstGeom prst="rect">
            <a:avLst/>
          </a:prstGeom>
        </p:spPr>
      </p:pic>
      <p:pic>
        <p:nvPicPr>
          <p:cNvPr id="1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7565" y="10799292"/>
            <a:ext cx="91440" cy="457428"/>
          </a:xfrm>
          <a:prstGeom prst="rect">
            <a:avLst/>
          </a:prstGeom>
        </p:spPr>
      </p:pic>
      <p:sp>
        <p:nvSpPr>
          <p:cNvPr id="17" name="Text 8"/>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8"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42595" y="518466"/>
            <a:ext cx="342595" cy="3017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68045" y="1935328"/>
            <a:ext cx="10363200" cy="3017520"/>
          </a:xfrm>
          <a:prstGeom prst="rect">
            <a:avLst/>
          </a:prstGeom>
          <a:noFill/>
          <a:ln/>
        </p:spPr>
        <p:txBody>
          <a:bodyPr wrap="square" lIns="0" tIns="0" rIns="0" bIns="0" rtlCol="0" anchor="t">
            <a:normAutofit/>
          </a:bodyPr>
          <a:lstStyle/>
          <a:p>
            <a:pPr defTabSz="1219170">
              <a:lnSpc>
                <a:spcPts val="4421"/>
              </a:lnSpc>
            </a:pPr>
            <a:r>
              <a:rPr lang="en-US" sz="3159" b="1" dirty="0">
                <a:solidFill>
                  <a:srgbClr val="FFFFFF"/>
                </a:solidFill>
                <a:latin typeface="Arial" pitchFamily="34" charset="0"/>
                <a:ea typeface="Arial" pitchFamily="34" charset="-122"/>
                <a:cs typeface="Arial" pitchFamily="34" charset="-120"/>
              </a:rPr>
              <a:t>Метапредставление, как проблема отображения в информатике, которая относится к способности формализма иметь доступ к информации о своём собственном состоянии и быть изменяемой во время выполнения.</a:t>
            </a:r>
            <a:endParaRPr lang="en-US" sz="3159"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55853" y="1628775"/>
            <a:ext cx="10363200" cy="3634740"/>
          </a:xfrm>
          <a:prstGeom prst="rect">
            <a:avLst/>
          </a:prstGeom>
          <a:noFill/>
          <a:ln/>
        </p:spPr>
        <p:txBody>
          <a:bodyPr wrap="square" lIns="0" tIns="0" rIns="0" bIns="0" rtlCol="0" anchor="t">
            <a:normAutofit/>
          </a:bodyPr>
          <a:lstStyle/>
          <a:p>
            <a:pPr defTabSz="1219170">
              <a:lnSpc>
                <a:spcPts val="3807"/>
              </a:lnSpc>
            </a:pPr>
            <a:r>
              <a:rPr lang="en-US" sz="2539" b="1" dirty="0">
                <a:solidFill>
                  <a:srgbClr val="FFFFFF"/>
                </a:solidFill>
                <a:latin typeface="Arial" pitchFamily="34" charset="0"/>
                <a:ea typeface="Arial" pitchFamily="34" charset="-122"/>
                <a:cs typeface="Arial" pitchFamily="34" charset="-120"/>
              </a:rPr>
              <a:t>Эффективность рассуждений, описываемая количеством времени, затрачиваемого на выполнение самого алгоритма рассуждений и вывода на его основе, обычно является обратной стороной выразительной адекватности, так как чем она выше (а то есть больше количество инструментов описания структур), тем больше времени занимает процесс рассуждений.</a:t>
            </a:r>
            <a:endParaRPr lang="en-US" sz="2539"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2412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Агенты как инструменты ...</a:t>
            </a:r>
            <a:endParaRPr lang="en-US" sz="5584" dirty="0">
              <a:solidFill>
                <a:prstClr val="black"/>
              </a:solidFill>
              <a:latin typeface="Calibri" panose="020F0502020204030204"/>
            </a:endParaRPr>
          </a:p>
        </p:txBody>
      </p:sp>
      <p:sp>
        <p:nvSpPr>
          <p:cNvPr id="3" name="Text 1"/>
          <p:cNvSpPr/>
          <p:nvPr/>
        </p:nvSpPr>
        <p:spPr>
          <a:xfrm>
            <a:off x="1166775" y="2386584"/>
            <a:ext cx="101193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Системы, которые на основе генеративных моделей способны автономно решать сложно структурированные, многошаговые задачи.</a:t>
            </a:r>
            <a:endParaRPr lang="en-US" sz="2256" dirty="0">
              <a:solidFill>
                <a:prstClr val="black"/>
              </a:solidFill>
              <a:latin typeface="Calibri" panose="020F0502020204030204"/>
            </a:endParaRPr>
          </a:p>
        </p:txBody>
      </p:sp>
      <p:sp>
        <p:nvSpPr>
          <p:cNvPr id="4" name="Text 2"/>
          <p:cNvSpPr/>
          <p:nvPr/>
        </p:nvSpPr>
        <p:spPr>
          <a:xfrm>
            <a:off x="1166775" y="3712237"/>
            <a:ext cx="5120640" cy="48006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Свойства генеративного ИИ-агента:</a:t>
            </a:r>
            <a:endParaRPr lang="en-US" sz="2256" dirty="0">
              <a:solidFill>
                <a:prstClr val="black"/>
              </a:solidFill>
              <a:latin typeface="Calibri" panose="020F0502020204030204"/>
            </a:endParaRPr>
          </a:p>
        </p:txBody>
      </p:sp>
      <p:sp>
        <p:nvSpPr>
          <p:cNvPr id="5" name="Text 3"/>
          <p:cNvSpPr/>
          <p:nvPr/>
        </p:nvSpPr>
        <p:spPr>
          <a:xfrm>
            <a:off x="1166775" y="4581145"/>
            <a:ext cx="3291840" cy="48006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Выполняемые задачи:</a:t>
            </a:r>
            <a:endParaRPr lang="en-US" sz="2256"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1440" cy="457428"/>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3712237"/>
            <a:ext cx="91440" cy="457428"/>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5" y="4581145"/>
            <a:ext cx="91440" cy="457428"/>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233069"/>
            <a:ext cx="1036320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Системы, которые на основе генеративн...</a:t>
            </a:r>
            <a:endParaRPr lang="en-US" sz="7106" dirty="0">
              <a:solidFill>
                <a:prstClr val="black"/>
              </a:solidFill>
              <a:latin typeface="Calibri" panose="020F0502020204030204"/>
            </a:endParaRPr>
          </a:p>
        </p:txBody>
      </p:sp>
      <p:sp>
        <p:nvSpPr>
          <p:cNvPr id="3" name="Text 1"/>
          <p:cNvSpPr/>
          <p:nvPr/>
        </p:nvSpPr>
        <p:spPr>
          <a:xfrm>
            <a:off x="937565" y="4308196"/>
            <a:ext cx="9997440" cy="1371600"/>
          </a:xfrm>
          <a:prstGeom prst="rect">
            <a:avLst/>
          </a:prstGeom>
          <a:noFill/>
          <a:ln/>
        </p:spPr>
        <p:txBody>
          <a:bodyPr wrap="square" lIns="0" tIns="0" rIns="0" bIns="0" rtlCol="0" anchor="t">
            <a:normAutofit/>
          </a:bodyPr>
          <a:lstStyle/>
          <a:p>
            <a:pPr defTabSz="1219170">
              <a:lnSpc>
                <a:spcPts val="2436"/>
              </a:lnSpc>
            </a:pPr>
            <a:r>
              <a:rPr lang="en-US" sz="1624" dirty="0">
                <a:solidFill>
                  <a:srgbClr val="FFFFFF"/>
                </a:solidFill>
                <a:latin typeface="Arial" pitchFamily="34" charset="0"/>
                <a:ea typeface="Arial" pitchFamily="34" charset="-122"/>
                <a:cs typeface="Arial" pitchFamily="34" charset="-120"/>
              </a:rPr>
              <a:t>В отличие от обычных чат-ботов, агенты не просто генерируют ответ, а планируют последовательность действий, взаимодействуют с внешними инструментами (например, базами данных, API, программным кодом) и анализируют полученные результаты, корректируя свое поведение в реальном времени.</a:t>
            </a:r>
            <a:endParaRPr lang="en-US" sz="1624"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729381"/>
            <a:ext cx="10271760"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62737"/>
            <a:ext cx="1024128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В отличие от обычных чат-ботов...</a:t>
            </a:r>
            <a:endParaRPr lang="en-US" sz="7106" dirty="0">
              <a:solidFill>
                <a:prstClr val="black"/>
              </a:solidFill>
              <a:latin typeface="Calibri" panose="020F0502020204030204"/>
            </a:endParaRPr>
          </a:p>
        </p:txBody>
      </p:sp>
      <p:sp>
        <p:nvSpPr>
          <p:cNvPr id="3" name="Text 1"/>
          <p:cNvSpPr/>
          <p:nvPr/>
        </p:nvSpPr>
        <p:spPr>
          <a:xfrm>
            <a:off x="937565" y="3937864"/>
            <a:ext cx="10363200" cy="2057400"/>
          </a:xfrm>
          <a:prstGeom prst="rect">
            <a:avLst/>
          </a:prstGeom>
          <a:noFill/>
          <a:ln/>
        </p:spPr>
        <p:txBody>
          <a:bodyPr wrap="square" lIns="0" tIns="0" rIns="0" bIns="0" rtlCol="0" anchor="t">
            <a:normAutofit/>
          </a:bodyPr>
          <a:lstStyle/>
          <a:p>
            <a:pPr defTabSz="1219170">
              <a:lnSpc>
                <a:spcPts val="3807"/>
              </a:lnSpc>
            </a:pPr>
            <a:r>
              <a:rPr lang="en-US" sz="2539" dirty="0">
                <a:solidFill>
                  <a:srgbClr val="FFFFFF"/>
                </a:solidFill>
                <a:latin typeface="Arial" pitchFamily="34" charset="0"/>
                <a:ea typeface="Arial" pitchFamily="34" charset="-122"/>
                <a:cs typeface="Arial" pitchFamily="34" charset="-120"/>
              </a:rPr>
              <a:t>Агенты - не пассивные генераторов текста, а активные исполнители, способные самостоятельно достигать поставленной цели (за счёт BDI-модели, своих свойств, среды и других агентов).</a:t>
            </a:r>
            <a:endParaRPr lang="en-US" sz="2539"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359049"/>
            <a:ext cx="10302240"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1193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Свойства генеративного ...</a:t>
            </a:r>
            <a:endParaRPr lang="en-US" sz="5584" dirty="0">
              <a:solidFill>
                <a:prstClr val="black"/>
              </a:solidFill>
              <a:latin typeface="Calibri" panose="020F0502020204030204"/>
            </a:endParaRPr>
          </a:p>
        </p:txBody>
      </p:sp>
      <p:sp>
        <p:nvSpPr>
          <p:cNvPr id="3" name="Text 1"/>
          <p:cNvSpPr/>
          <p:nvPr/>
        </p:nvSpPr>
        <p:spPr>
          <a:xfrm>
            <a:off x="1166775" y="2386584"/>
            <a:ext cx="926592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Восприятие (Perceive): Агент получает задачу от пользователя и собирает начальный контекст.</a:t>
            </a:r>
            <a:endParaRPr lang="en-US" sz="2256" dirty="0">
              <a:solidFill>
                <a:prstClr val="black"/>
              </a:solidFill>
              <a:latin typeface="Calibri" panose="020F0502020204030204"/>
            </a:endParaRPr>
          </a:p>
        </p:txBody>
      </p:sp>
      <p:sp>
        <p:nvSpPr>
          <p:cNvPr id="4" name="Text 2"/>
          <p:cNvSpPr/>
          <p:nvPr/>
        </p:nvSpPr>
        <p:spPr>
          <a:xfrm>
            <a:off x="1166775" y="3712236"/>
            <a:ext cx="987552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Планирование (Plan): LLM анализирует запрос и формирует пошаговый план действий, например: "Сначала найти данные, затем проанализировать их, потом создать отчет".</a:t>
            </a:r>
            <a:endParaRPr lang="en-US" sz="2256" dirty="0">
              <a:solidFill>
                <a:prstClr val="black"/>
              </a:solidFill>
              <a:latin typeface="Calibri" panose="020F0502020204030204"/>
            </a:endParaRPr>
          </a:p>
        </p:txBody>
      </p:sp>
      <p:sp>
        <p:nvSpPr>
          <p:cNvPr id="5" name="Text 3"/>
          <p:cNvSpPr/>
          <p:nvPr/>
        </p:nvSpPr>
        <p:spPr>
          <a:xfrm>
            <a:off x="1166775" y="5495316"/>
            <a:ext cx="999744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Действие (Act): Агент выполняет запланированный шаг, используя инструменты, это может быть обращение к поисковой системе, запу...</a:t>
            </a:r>
            <a:endParaRPr lang="en-US" sz="2256" dirty="0">
              <a:solidFill>
                <a:prstClr val="black"/>
              </a:solidFill>
              <a:latin typeface="Calibri" panose="020F0502020204030204"/>
            </a:endParaRPr>
          </a:p>
        </p:txBody>
      </p:sp>
      <p:sp>
        <p:nvSpPr>
          <p:cNvPr id="6" name="Text 4"/>
          <p:cNvSpPr/>
          <p:nvPr/>
        </p:nvSpPr>
        <p:spPr>
          <a:xfrm>
            <a:off x="1166775" y="6821652"/>
            <a:ext cx="101193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Наблюдение и адаптация (Observe &amp; Adapt): Агент получает результат своего действия (например, данные от API или ошибку выполнения ...</a:t>
            </a:r>
            <a:endParaRPr lang="en-US" sz="2256" dirty="0">
              <a:solidFill>
                <a:prstClr val="black"/>
              </a:solidFill>
              <a:latin typeface="Calibri" panose="020F0502020204030204"/>
            </a:endParaRPr>
          </a:p>
        </p:txBody>
      </p:sp>
      <p:sp>
        <p:nvSpPr>
          <p:cNvPr id="7" name="Text 5"/>
          <p:cNvSpPr/>
          <p:nvPr/>
        </p:nvSpPr>
        <p:spPr>
          <a:xfrm>
            <a:off x="1166775" y="8147304"/>
            <a:ext cx="1011936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Завершение (Finalize): Цикл повторяется до тех пор, пока задача не будет выполнена, после чего пользователю предоставляется итоговый результат.</a:t>
            </a:r>
            <a:endParaRPr lang="en-US" sz="2256" dirty="0">
              <a:solidFill>
                <a:prstClr val="black"/>
              </a:solidFill>
              <a:latin typeface="Calibri" panose="020F0502020204030204"/>
            </a:endParaRPr>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1440" cy="457428"/>
          </a:xfrm>
          <a:prstGeom prst="rect">
            <a:avLst/>
          </a:prstGeom>
        </p:spPr>
      </p:pic>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3712237"/>
            <a:ext cx="91440" cy="457428"/>
          </a:xfrm>
          <a:prstGeom prst="rect">
            <a:avLst/>
          </a:prstGeom>
        </p:spPr>
      </p:pic>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5" y="5495317"/>
            <a:ext cx="91440" cy="457428"/>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7565" y="6821653"/>
            <a:ext cx="91440" cy="457428"/>
          </a:xfrm>
          <a:prstGeom prst="rect">
            <a:avLst/>
          </a:prstGeom>
        </p:spPr>
      </p:pic>
      <p:pic>
        <p:nvPicPr>
          <p:cNvPr id="1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7565" y="8147304"/>
            <a:ext cx="91440" cy="457428"/>
          </a:xfrm>
          <a:prstGeom prst="rect">
            <a:avLst/>
          </a:prstGeom>
        </p:spPr>
      </p:pic>
      <p:sp>
        <p:nvSpPr>
          <p:cNvPr id="13" name="Text 6"/>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2595" y="518466"/>
            <a:ext cx="342595" cy="3017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25347" y="1988820"/>
            <a:ext cx="10241280" cy="2880360"/>
          </a:xfrm>
          <a:prstGeom prst="rect">
            <a:avLst/>
          </a:prstGeom>
          <a:noFill/>
          <a:ln/>
        </p:spPr>
        <p:txBody>
          <a:bodyPr wrap="square" lIns="0" tIns="0" rIns="0" bIns="0" rtlCol="0" anchor="t">
            <a:normAutofit/>
          </a:bodyPr>
          <a:lstStyle/>
          <a:p>
            <a:pPr defTabSz="1219170">
              <a:lnSpc>
                <a:spcPts val="4264"/>
              </a:lnSpc>
            </a:pPr>
            <a:r>
              <a:rPr lang="en-US" sz="3045" b="1" dirty="0">
                <a:solidFill>
                  <a:srgbClr val="FFFFFF"/>
                </a:solidFill>
                <a:latin typeface="Arial" pitchFamily="34" charset="0"/>
                <a:ea typeface="Arial" pitchFamily="34" charset="-122"/>
                <a:cs typeface="Arial" pitchFamily="34" charset="-120"/>
              </a:rPr>
              <a:t>Действие (Act): Агент выполняет запланированный шаг, используя инструменты, это может быть обращение к поисковой системе, запуск кода для анализа данных, запрос к базе данных или обращение к другому AP</a:t>
            </a:r>
            <a:endParaRPr lang="en-US" sz="3045"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48537" y="1783080"/>
            <a:ext cx="10363200" cy="3291840"/>
          </a:xfrm>
          <a:prstGeom prst="rect">
            <a:avLst/>
          </a:prstGeom>
          <a:noFill/>
          <a:ln/>
        </p:spPr>
        <p:txBody>
          <a:bodyPr wrap="square" lIns="0" tIns="0" rIns="0" bIns="0" rtlCol="0" anchor="t">
            <a:normAutofit/>
          </a:bodyPr>
          <a:lstStyle/>
          <a:p>
            <a:pPr defTabSz="1219170">
              <a:lnSpc>
                <a:spcPts val="4061"/>
              </a:lnSpc>
            </a:pPr>
            <a:r>
              <a:rPr lang="en-US" sz="2707" b="1" dirty="0">
                <a:solidFill>
                  <a:srgbClr val="FFFFFF"/>
                </a:solidFill>
                <a:latin typeface="Arial" pitchFamily="34" charset="0"/>
                <a:ea typeface="Arial" pitchFamily="34" charset="-122"/>
                <a:cs typeface="Arial" pitchFamily="34" charset="-120"/>
              </a:rPr>
              <a:t>Наблюдение и адаптация (Observe &amp; Adapt): Агент получает результат своего действия (например, данные от API или ошибку выполнения кода), LLM анализирует этот результат и решает, что делать дальше: перейти к следующему шагу плана, скорректировать план из-за ошибки или сформулировать финальный ответ</a:t>
            </a:r>
            <a:endParaRPr lang="en-US" sz="2707"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8688019" y="1988820"/>
            <a:ext cx="3048000" cy="2880360"/>
          </a:xfrm>
          <a:prstGeom prst="rect">
            <a:avLst/>
          </a:prstGeom>
          <a:noFill/>
          <a:ln/>
        </p:spPr>
        <p:txBody>
          <a:bodyPr wrap="square" lIns="0" tIns="0" rIns="0" bIns="0" rtlCol="0" anchor="t">
            <a:normAutofit/>
          </a:bodyPr>
          <a:lstStyle/>
          <a:p>
            <a:pPr defTabSz="1219170">
              <a:lnSpc>
                <a:spcPts val="4264"/>
              </a:lnSpc>
            </a:pPr>
            <a:r>
              <a:rPr lang="en-US" sz="3045" b="1" dirty="0">
                <a:solidFill>
                  <a:srgbClr val="FFFFFF"/>
                </a:solidFill>
                <a:latin typeface="Arial" pitchFamily="34" charset="0"/>
                <a:ea typeface="Arial" pitchFamily="34" charset="-122"/>
                <a:cs typeface="Arial" pitchFamily="34" charset="-120"/>
              </a:rPr>
              <a:t>Ключевое отличие от безагентного подхода: в безагентном ...</a:t>
            </a:r>
            <a:endParaRPr lang="en-US" sz="3045" dirty="0">
              <a:solidFill>
                <a:prstClr val="black"/>
              </a:solidFill>
              <a:latin typeface="Calibri" panose="020F0502020204030204"/>
            </a:endParaRPr>
          </a:p>
        </p:txBody>
      </p:sp>
      <p:pic>
        <p:nvPicPr>
          <p:cNvPr id="3" name="Image 0" descr="file:///C:/Users/Hvv13/AppData/Local/Programs/Xmind/resources/app.asar/static/snowbird/resource/markers/symbolMarkers/symbol-lightning.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94244" y="2071116"/>
            <a:ext cx="412089" cy="411480"/>
          </a:xfrm>
          <a:prstGeom prst="rect">
            <a:avLst/>
          </a:prstGeom>
        </p:spPr>
      </p:pic>
      <p:sp>
        <p:nvSpPr>
          <p:cNvPr id="4" name="Text 1"/>
          <p:cNvSpPr/>
          <p:nvPr/>
        </p:nvSpPr>
        <p:spPr>
          <a:xfrm>
            <a:off x="941223" y="1728216"/>
            <a:ext cx="6217920" cy="822960"/>
          </a:xfrm>
          <a:prstGeom prst="rect">
            <a:avLst/>
          </a:prstGeom>
          <a:noFill/>
          <a:ln/>
        </p:spPr>
        <p:txBody>
          <a:bodyPr wrap="square" lIns="0" tIns="0" rIns="0" bIns="0" rtlCol="0" anchor="t">
            <a:normAutofit/>
          </a:bodyPr>
          <a:lstStyle/>
          <a:p>
            <a:pPr algn="r" defTabSz="1219170">
              <a:lnSpc>
                <a:spcPts val="5685"/>
              </a:lnSpc>
            </a:pPr>
            <a:r>
              <a:rPr lang="en-US" sz="4061" dirty="0">
                <a:solidFill>
                  <a:srgbClr val="FFFFFF"/>
                </a:solidFill>
                <a:latin typeface="Arial" pitchFamily="34" charset="0"/>
                <a:ea typeface="Arial" pitchFamily="34" charset="-122"/>
                <a:cs typeface="Arial" pitchFamily="34" charset="-120"/>
              </a:rPr>
              <a:t>Восприятие (Perceive)...</a:t>
            </a:r>
            <a:endParaRPr lang="en-US" sz="4061" dirty="0">
              <a:solidFill>
                <a:prstClr val="black"/>
              </a:solidFill>
              <a:latin typeface="Calibri" panose="020F0502020204030204"/>
            </a:endParaRPr>
          </a:p>
        </p:txBody>
      </p:sp>
      <p:sp>
        <p:nvSpPr>
          <p:cNvPr id="5" name="Text 2"/>
          <p:cNvSpPr/>
          <p:nvPr/>
        </p:nvSpPr>
        <p:spPr>
          <a:xfrm>
            <a:off x="6603187" y="3044952"/>
            <a:ext cx="487680" cy="822960"/>
          </a:xfrm>
          <a:prstGeom prst="rect">
            <a:avLst/>
          </a:prstGeom>
          <a:noFill/>
          <a:ln/>
        </p:spPr>
        <p:txBody>
          <a:bodyPr wrap="square" lIns="0" tIns="0" rIns="0" bIns="0" rtlCol="0" anchor="t">
            <a:normAutofit/>
          </a:bodyPr>
          <a:lstStyle/>
          <a:p>
            <a:pPr defTabSz="1219170">
              <a:lnSpc>
                <a:spcPts val="5685"/>
              </a:lnSpc>
            </a:pPr>
            <a:r>
              <a:rPr lang="en-US" sz="4061" dirty="0">
                <a:solidFill>
                  <a:srgbClr val="FFFFFF"/>
                </a:solidFill>
                <a:latin typeface="Arial" pitchFamily="34" charset="0"/>
                <a:ea typeface="Arial" pitchFamily="34" charset="-122"/>
                <a:cs typeface="Arial" pitchFamily="34" charset="-120"/>
              </a:rPr>
              <a:t>...</a:t>
            </a:r>
            <a:endParaRPr lang="en-US" sz="4061" dirty="0">
              <a:solidFill>
                <a:prstClr val="black"/>
              </a:solidFill>
              <a:latin typeface="Calibri" panose="020F0502020204030204"/>
            </a:endParaRPr>
          </a:p>
        </p:txBody>
      </p:sp>
      <p:sp>
        <p:nvSpPr>
          <p:cNvPr id="6" name="Text 3"/>
          <p:cNvSpPr/>
          <p:nvPr/>
        </p:nvSpPr>
        <p:spPr>
          <a:xfrm>
            <a:off x="1010717" y="4361688"/>
            <a:ext cx="6096000" cy="822960"/>
          </a:xfrm>
          <a:prstGeom prst="rect">
            <a:avLst/>
          </a:prstGeom>
          <a:noFill/>
          <a:ln/>
        </p:spPr>
        <p:txBody>
          <a:bodyPr wrap="square" lIns="0" tIns="0" rIns="0" bIns="0" rtlCol="0" anchor="t">
            <a:normAutofit/>
          </a:bodyPr>
          <a:lstStyle/>
          <a:p>
            <a:pPr algn="r" defTabSz="1219170">
              <a:lnSpc>
                <a:spcPts val="5685"/>
              </a:lnSpc>
            </a:pPr>
            <a:r>
              <a:rPr lang="en-US" sz="4061" dirty="0">
                <a:solidFill>
                  <a:srgbClr val="FFFFFF"/>
                </a:solidFill>
                <a:latin typeface="Arial" pitchFamily="34" charset="0"/>
                <a:ea typeface="Arial" pitchFamily="34" charset="-122"/>
                <a:cs typeface="Arial" pitchFamily="34" charset="-120"/>
              </a:rPr>
              <a:t>Завершение (Finalize)...</a:t>
            </a:r>
            <a:endParaRPr lang="en-US" sz="4061" dirty="0">
              <a:solidFill>
                <a:prstClr val="black"/>
              </a:solidFill>
              <a:latin typeface="Calibri" panose="020F0502020204030204"/>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67703" y="857251"/>
            <a:ext cx="1087527" cy="25909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67703" y="3429001"/>
            <a:ext cx="1087527" cy="2571751"/>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642263" y="1733016"/>
            <a:ext cx="9997440" cy="3429000"/>
          </a:xfrm>
          <a:prstGeom prst="rect">
            <a:avLst/>
          </a:prstGeom>
          <a:noFill/>
          <a:ln/>
        </p:spPr>
        <p:txBody>
          <a:bodyPr wrap="square" lIns="0" tIns="0" rIns="0" bIns="0" rtlCol="0" anchor="t">
            <a:normAutofit/>
          </a:bodyPr>
          <a:lstStyle/>
          <a:p>
            <a:pPr defTabSz="1219170">
              <a:lnSpc>
                <a:spcPts val="4185"/>
              </a:lnSpc>
            </a:pPr>
            <a:r>
              <a:rPr lang="en-US" sz="2989" b="1" dirty="0">
                <a:solidFill>
                  <a:srgbClr val="FFFFFF"/>
                </a:solidFill>
                <a:latin typeface="Arial" pitchFamily="34" charset="0"/>
                <a:ea typeface="Arial" pitchFamily="34" charset="-122"/>
                <a:cs typeface="Arial" pitchFamily="34" charset="-120"/>
              </a:rPr>
              <a:t>Ключевое отличие от безагентного подхода: в безагентном режиме вся логика обработки и последовательность вызовов инструментов запрограммирована разработчиком, агент же самостоятельно принимает решение о том, какой инструмент и когда использовать.</a:t>
            </a:r>
            <a:endParaRPr lang="en-US" sz="2989" dirty="0">
              <a:solidFill>
                <a:prstClr val="black"/>
              </a:solidFill>
              <a:latin typeface="Calibri" panose="020F0502020204030204"/>
            </a:endParaRPr>
          </a:p>
        </p:txBody>
      </p:sp>
      <p:pic>
        <p:nvPicPr>
          <p:cNvPr id="3" name="Image 0" descr="file:///C:/Users/Hvv13/AppData/Local/Programs/Xmind/resources/app.asar/static/snowbird/resource/markers/symbolMarkers/symbol-lightning.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0937" y="1813255"/>
            <a:ext cx="403555" cy="403936"/>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853440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Выполняемые задачи:</a:t>
            </a:r>
            <a:endParaRPr lang="en-US" sz="5584" dirty="0">
              <a:solidFill>
                <a:prstClr val="black"/>
              </a:solidFill>
              <a:latin typeface="Calibri" panose="020F0502020204030204"/>
            </a:endParaRPr>
          </a:p>
        </p:txBody>
      </p:sp>
      <p:sp>
        <p:nvSpPr>
          <p:cNvPr id="3" name="Text 1"/>
          <p:cNvSpPr/>
          <p:nvPr/>
        </p:nvSpPr>
        <p:spPr>
          <a:xfrm>
            <a:off x="1188720" y="2386584"/>
            <a:ext cx="68275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Обработка естественного языка (NLP)</a:t>
            </a:r>
            <a:endParaRPr lang="en-US" sz="2820" dirty="0">
              <a:solidFill>
                <a:prstClr val="black"/>
              </a:solidFill>
              <a:latin typeface="Calibri" panose="020F0502020204030204"/>
            </a:endParaRPr>
          </a:p>
        </p:txBody>
      </p:sp>
      <p:sp>
        <p:nvSpPr>
          <p:cNvPr id="4" name="Text 2"/>
          <p:cNvSpPr/>
          <p:nvPr/>
        </p:nvSpPr>
        <p:spPr>
          <a:xfrm>
            <a:off x="1188720" y="3331616"/>
            <a:ext cx="536448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Обработка табличных данных</a:t>
            </a:r>
            <a:endParaRPr lang="en-US" sz="2820" dirty="0">
              <a:solidFill>
                <a:prstClr val="black"/>
              </a:solidFill>
              <a:latin typeface="Calibri" panose="020F0502020204030204"/>
            </a:endParaRPr>
          </a:p>
        </p:txBody>
      </p:sp>
      <p:sp>
        <p:nvSpPr>
          <p:cNvPr id="5" name="Text 3"/>
          <p:cNvSpPr/>
          <p:nvPr/>
        </p:nvSpPr>
        <p:spPr>
          <a:xfrm>
            <a:off x="1188720" y="4276649"/>
            <a:ext cx="731520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Мультимедиа (изображение, звук, видео)</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276649"/>
            <a:ext cx="114605" cy="533552"/>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4219651" y="2660905"/>
            <a:ext cx="7071360" cy="157734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Обработка естественного языка (NLP)</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9264" y="2209649"/>
            <a:ext cx="2438400" cy="2438705"/>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36320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Обработка естественного...</a:t>
            </a:r>
            <a:endParaRPr lang="en-US" sz="5584" dirty="0">
              <a:solidFill>
                <a:prstClr val="black"/>
              </a:solidFill>
              <a:latin typeface="Calibri" panose="020F0502020204030204"/>
            </a:endParaRPr>
          </a:p>
        </p:txBody>
      </p:sp>
      <p:sp>
        <p:nvSpPr>
          <p:cNvPr id="3" name="Text 1"/>
          <p:cNvSpPr/>
          <p:nvPr/>
        </p:nvSpPr>
        <p:spPr>
          <a:xfrm>
            <a:off x="1166775" y="2386584"/>
            <a:ext cx="9753600" cy="137160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Агентная архитектура переводит NLP от простой генерации текста к решению задач, требующих многошаговых рассуждений и работы с внешними источниками.</a:t>
            </a:r>
            <a:endParaRPr lang="en-US" sz="2256" dirty="0">
              <a:solidFill>
                <a:prstClr val="black"/>
              </a:solidFill>
              <a:latin typeface="Calibri" panose="020F0502020204030204"/>
            </a:endParaRPr>
          </a:p>
        </p:txBody>
      </p:sp>
      <p:sp>
        <p:nvSpPr>
          <p:cNvPr id="4" name="Text 2"/>
          <p:cNvSpPr/>
          <p:nvPr/>
        </p:nvSpPr>
        <p:spPr>
          <a:xfrm>
            <a:off x="1166775" y="4169664"/>
            <a:ext cx="938784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Исследование и анализ: параллельная обработка текста и задач (поиска, исследования и составления ответа). </a:t>
            </a:r>
            <a:endParaRPr lang="en-US" sz="2256" dirty="0">
              <a:solidFill>
                <a:prstClr val="black"/>
              </a:solidFill>
              <a:latin typeface="Calibri" panose="020F0502020204030204"/>
            </a:endParaRPr>
          </a:p>
        </p:txBody>
      </p:sp>
      <p:sp>
        <p:nvSpPr>
          <p:cNvPr id="5" name="Text 3"/>
          <p:cNvSpPr/>
          <p:nvPr/>
        </p:nvSpPr>
        <p:spPr>
          <a:xfrm>
            <a:off x="1166775" y="5495316"/>
            <a:ext cx="999744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Инструменты: для реализации NLP-агента (например, диалоговой системы) используются LangChain для создания агентов с инструме...</a:t>
            </a:r>
            <a:endParaRPr lang="en-US" sz="2256"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1440" cy="457428"/>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4169665"/>
            <a:ext cx="91440" cy="457428"/>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5" y="5495317"/>
            <a:ext cx="91440" cy="457428"/>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41223" y="1764565"/>
            <a:ext cx="10363200" cy="3360420"/>
          </a:xfrm>
          <a:prstGeom prst="rect">
            <a:avLst/>
          </a:prstGeom>
          <a:noFill/>
          <a:ln/>
        </p:spPr>
        <p:txBody>
          <a:bodyPr wrap="square" lIns="0" tIns="0" rIns="0" bIns="0" rtlCol="0" anchor="t">
            <a:normAutofit/>
          </a:bodyPr>
          <a:lstStyle/>
          <a:p>
            <a:pPr defTabSz="1219170">
              <a:lnSpc>
                <a:spcPts val="4105"/>
              </a:lnSpc>
            </a:pPr>
            <a:r>
              <a:rPr lang="en-US" sz="2933" b="1" dirty="0">
                <a:solidFill>
                  <a:srgbClr val="FFFFFF"/>
                </a:solidFill>
                <a:latin typeface="Arial" pitchFamily="34" charset="0"/>
                <a:ea typeface="Arial" pitchFamily="34" charset="-122"/>
                <a:cs typeface="Arial" pitchFamily="34" charset="-120"/>
              </a:rPr>
              <a:t>Инструменты: для реализации NLP-агента (например, диалоговой системы) используются LangChain для создания агентов с инструментами, LangGraph для управления сложными процессами и памятью, а также векторные базы данных для реализации RAG и ReAct (Reasoning and Acting) для </a:t>
            </a:r>
            <a:endParaRPr lang="en-US" sz="2933"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11936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Инструменты: для реали...</a:t>
            </a:r>
            <a:endParaRPr lang="en-US" sz="5584" dirty="0">
              <a:solidFill>
                <a:prstClr val="black"/>
              </a:solidFill>
              <a:latin typeface="Calibri" panose="020F0502020204030204"/>
            </a:endParaRPr>
          </a:p>
        </p:txBody>
      </p:sp>
      <p:sp>
        <p:nvSpPr>
          <p:cNvPr id="3" name="Text 1"/>
          <p:cNvSpPr/>
          <p:nvPr/>
        </p:nvSpPr>
        <p:spPr>
          <a:xfrm>
            <a:off x="1188720" y="2386584"/>
            <a:ext cx="19507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LangChain:</a:t>
            </a:r>
            <a:endParaRPr lang="en-US" sz="2820" dirty="0">
              <a:solidFill>
                <a:prstClr val="black"/>
              </a:solidFill>
              <a:latin typeface="Calibri" panose="020F0502020204030204"/>
            </a:endParaRPr>
          </a:p>
        </p:txBody>
      </p:sp>
      <p:sp>
        <p:nvSpPr>
          <p:cNvPr id="4" name="Text 2"/>
          <p:cNvSpPr/>
          <p:nvPr/>
        </p:nvSpPr>
        <p:spPr>
          <a:xfrm>
            <a:off x="1188720" y="3331616"/>
            <a:ext cx="207264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LangGraph:</a:t>
            </a:r>
            <a:endParaRPr lang="en-US" sz="2820" dirty="0">
              <a:solidFill>
                <a:prstClr val="black"/>
              </a:solidFill>
              <a:latin typeface="Calibri" panose="020F0502020204030204"/>
            </a:endParaRPr>
          </a:p>
        </p:txBody>
      </p:sp>
      <p:sp>
        <p:nvSpPr>
          <p:cNvPr id="5" name="Text 3"/>
          <p:cNvSpPr/>
          <p:nvPr/>
        </p:nvSpPr>
        <p:spPr>
          <a:xfrm>
            <a:off x="1188720" y="4276649"/>
            <a:ext cx="524256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ReAct (Reasoning and Acting):</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331616"/>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4276649"/>
            <a:ext cx="114605" cy="533552"/>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61504" y="2983231"/>
            <a:ext cx="3779520" cy="891540"/>
          </a:xfrm>
          <a:prstGeom prst="rect">
            <a:avLst/>
          </a:prstGeom>
          <a:noFill/>
          <a:ln/>
        </p:spPr>
        <p:txBody>
          <a:bodyPr wrap="square" lIns="0" tIns="0" rIns="0" bIns="0" rtlCol="0" anchor="t">
            <a:normAutofit/>
          </a:bodyPr>
          <a:lstStyle/>
          <a:p>
            <a:pPr defTabSz="1219170">
              <a:lnSpc>
                <a:spcPts val="6599"/>
              </a:lnSpc>
            </a:pPr>
            <a:r>
              <a:rPr lang="en-US" sz="5076" b="1" dirty="0">
                <a:solidFill>
                  <a:srgbClr val="FFFFFF"/>
                </a:solidFill>
                <a:latin typeface="Arial" pitchFamily="34" charset="0"/>
                <a:ea typeface="Arial" pitchFamily="34" charset="-122"/>
                <a:cs typeface="Arial" pitchFamily="34" charset="-120"/>
              </a:rPr>
              <a:t>LangChain:</a:t>
            </a:r>
            <a:endParaRPr lang="en-US" sz="5076"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58291" y="1831087"/>
            <a:ext cx="5690007" cy="3195828"/>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128827"/>
            <a:ext cx="5364480" cy="130302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LangChain:</a:t>
            </a:r>
            <a:endParaRPr lang="en-US" sz="7106" dirty="0">
              <a:solidFill>
                <a:prstClr val="black"/>
              </a:solidFill>
              <a:latin typeface="Calibri" panose="020F0502020204030204"/>
            </a:endParaRPr>
          </a:p>
        </p:txBody>
      </p:sp>
      <p:sp>
        <p:nvSpPr>
          <p:cNvPr id="3" name="Text 1"/>
          <p:cNvSpPr/>
          <p:nvPr/>
        </p:nvSpPr>
        <p:spPr>
          <a:xfrm>
            <a:off x="937565" y="2955799"/>
            <a:ext cx="10363200" cy="2811780"/>
          </a:xfrm>
          <a:prstGeom prst="rect">
            <a:avLst/>
          </a:prstGeom>
          <a:noFill/>
          <a:ln/>
        </p:spPr>
        <p:txBody>
          <a:bodyPr wrap="square" lIns="0" tIns="0" rIns="0" bIns="0" rtlCol="0" anchor="t">
            <a:normAutofit/>
          </a:bodyPr>
          <a:lstStyle/>
          <a:p>
            <a:pPr defTabSz="1219170">
              <a:lnSpc>
                <a:spcPts val="4105"/>
              </a:lnSpc>
            </a:pPr>
            <a:r>
              <a:rPr lang="en-US" sz="2933" dirty="0">
                <a:solidFill>
                  <a:srgbClr val="FFFFFF"/>
                </a:solidFill>
                <a:latin typeface="Arial" pitchFamily="34" charset="0"/>
                <a:ea typeface="Arial" pitchFamily="34" charset="-122"/>
                <a:cs typeface="Arial" pitchFamily="34" charset="-120"/>
              </a:rPr>
              <a:t>фреймворк, который упрощает интеграцию ИИ с базами данных, документами и внешними сервисами, позволяя разработчикам собирать сложные ИИ-системы из цепочек готовых модулей, применяется при создании RAG-систем, чат-ботов и интерфейсов LLM.</a:t>
            </a:r>
            <a:endParaRPr lang="en-US" sz="2933"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76983"/>
            <a:ext cx="10271760"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7445655" y="2959913"/>
            <a:ext cx="3901440" cy="960120"/>
          </a:xfrm>
          <a:prstGeom prst="rect">
            <a:avLst/>
          </a:prstGeom>
          <a:noFill/>
          <a:ln/>
        </p:spPr>
        <p:txBody>
          <a:bodyPr wrap="square" lIns="0" tIns="0" rIns="0" bIns="0" rtlCol="0" anchor="t">
            <a:normAutofit/>
          </a:bodyPr>
          <a:lstStyle/>
          <a:p>
            <a:pPr defTabSz="1219170">
              <a:lnSpc>
                <a:spcPts val="6948"/>
              </a:lnSpc>
            </a:pPr>
            <a:r>
              <a:rPr lang="en-US" sz="4963" b="1" dirty="0">
                <a:solidFill>
                  <a:srgbClr val="FFFFFF"/>
                </a:solidFill>
                <a:latin typeface="Arial" pitchFamily="34" charset="0"/>
                <a:ea typeface="Arial" pitchFamily="34" charset="-122"/>
                <a:cs typeface="Arial" pitchFamily="34" charset="-120"/>
              </a:rPr>
              <a:t>LangGraph:</a:t>
            </a:r>
            <a:endParaRPr lang="en-US" sz="4963"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943662" y="1533450"/>
            <a:ext cx="5690007" cy="3791788"/>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972465"/>
            <a:ext cx="5486400" cy="130302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LangGraph:</a:t>
            </a:r>
            <a:endParaRPr lang="en-US" sz="7106" dirty="0">
              <a:solidFill>
                <a:prstClr val="black"/>
              </a:solidFill>
              <a:latin typeface="Calibri" panose="020F0502020204030204"/>
            </a:endParaRPr>
          </a:p>
        </p:txBody>
      </p:sp>
      <p:sp>
        <p:nvSpPr>
          <p:cNvPr id="3" name="Text 1"/>
          <p:cNvSpPr/>
          <p:nvPr/>
        </p:nvSpPr>
        <p:spPr>
          <a:xfrm>
            <a:off x="937565" y="2799437"/>
            <a:ext cx="10241280" cy="3086100"/>
          </a:xfrm>
          <a:prstGeom prst="rect">
            <a:avLst/>
          </a:prstGeom>
          <a:noFill/>
          <a:ln/>
        </p:spPr>
        <p:txBody>
          <a:bodyPr wrap="square" lIns="0" tIns="0" rIns="0" bIns="0" rtlCol="0" anchor="t">
            <a:normAutofit/>
          </a:bodyPr>
          <a:lstStyle/>
          <a:p>
            <a:pPr defTabSz="1219170">
              <a:lnSpc>
                <a:spcPts val="3807"/>
              </a:lnSpc>
            </a:pPr>
            <a:r>
              <a:rPr lang="en-US" sz="2539" dirty="0">
                <a:solidFill>
                  <a:srgbClr val="FFFFFF"/>
                </a:solidFill>
                <a:latin typeface="Arial" pitchFamily="34" charset="0"/>
                <a:ea typeface="Arial" pitchFamily="34" charset="-122"/>
                <a:cs typeface="Arial" pitchFamily="34" charset="-120"/>
              </a:rPr>
              <a:t>фреймворк, который строит логику приложения в виде графа состояний, где шаги ИИ могут ветвиться, зацикливаться (нужно принимать решения на основе результатов выполнения: делать шаг, проверять ответ, корректировать его при ошибке и снова отправлять модели) и возвращаться назад, также применяется при реализации многоагентных систем.</a:t>
            </a:r>
            <a:endParaRPr lang="en-US" sz="2539"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220621"/>
            <a:ext cx="10226649"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7566" y="1564309"/>
            <a:ext cx="10316871" cy="2782291"/>
          </a:xfrm>
          <a:prstGeom prst="rect">
            <a:avLst/>
          </a:prstGeom>
        </p:spPr>
      </p:pic>
      <p:sp>
        <p:nvSpPr>
          <p:cNvPr id="3" name="Text 0"/>
          <p:cNvSpPr/>
          <p:nvPr/>
        </p:nvSpPr>
        <p:spPr>
          <a:xfrm>
            <a:off x="937565" y="4621607"/>
            <a:ext cx="7071360" cy="685800"/>
          </a:xfrm>
          <a:prstGeom prst="rect">
            <a:avLst/>
          </a:prstGeom>
          <a:noFill/>
          <a:ln/>
        </p:spPr>
        <p:txBody>
          <a:bodyPr wrap="square" lIns="0" tIns="0" rIns="0" bIns="0" rtlCol="0" anchor="t">
            <a:normAutofit/>
          </a:bodyPr>
          <a:lstStyle/>
          <a:p>
            <a:pPr defTabSz="1219170">
              <a:lnSpc>
                <a:spcPts val="4975"/>
              </a:lnSpc>
            </a:pPr>
            <a:r>
              <a:rPr lang="en-US" sz="3553" b="1" dirty="0">
                <a:solidFill>
                  <a:srgbClr val="FFFFFF"/>
                </a:solidFill>
                <a:latin typeface="Arial" pitchFamily="34" charset="0"/>
                <a:ea typeface="Arial" pitchFamily="34" charset="-122"/>
                <a:cs typeface="Arial" pitchFamily="34" charset="-120"/>
              </a:rPr>
              <a:t>ReAct (Reasoning and Acting):</a:t>
            </a:r>
            <a:endParaRPr lang="en-US" sz="3553"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1233069"/>
            <a:ext cx="1036320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ReAct (Reasoning and Acting):</a:t>
            </a:r>
            <a:endParaRPr lang="en-US" sz="7106" dirty="0">
              <a:solidFill>
                <a:prstClr val="black"/>
              </a:solidFill>
              <a:latin typeface="Calibri" panose="020F0502020204030204"/>
            </a:endParaRPr>
          </a:p>
        </p:txBody>
      </p:sp>
      <p:sp>
        <p:nvSpPr>
          <p:cNvPr id="3" name="Text 1"/>
          <p:cNvSpPr/>
          <p:nvPr/>
        </p:nvSpPr>
        <p:spPr>
          <a:xfrm>
            <a:off x="937565" y="4308196"/>
            <a:ext cx="10119360" cy="1371600"/>
          </a:xfrm>
          <a:prstGeom prst="rect">
            <a:avLst/>
          </a:prstGeom>
          <a:noFill/>
          <a:ln/>
        </p:spPr>
        <p:txBody>
          <a:bodyPr wrap="square" lIns="0" tIns="0" rIns="0" bIns="0" rtlCol="0" anchor="t">
            <a:normAutofit/>
          </a:bodyPr>
          <a:lstStyle/>
          <a:p>
            <a:pPr defTabSz="1219170">
              <a:lnSpc>
                <a:spcPts val="2436"/>
              </a:lnSpc>
            </a:pPr>
            <a:r>
              <a:rPr lang="en-US" sz="1624" dirty="0">
                <a:solidFill>
                  <a:srgbClr val="FFFFFF"/>
                </a:solidFill>
                <a:latin typeface="Arial" pitchFamily="34" charset="0"/>
                <a:ea typeface="Arial" pitchFamily="34" charset="-122"/>
                <a:cs typeface="Arial" pitchFamily="34" charset="-120"/>
              </a:rPr>
              <a:t>парадигма, которая позволяет решать сложные задачи, чередуя внутренние рассуждения с выполнением действий, нужен, когда языковой модели недостаточно только её базовых знаний, и ей необходимо выполнять пошаговые рассуждения, комбинируя их с использованием внешних инструментов.</a:t>
            </a:r>
            <a:endParaRPr lang="en-US" sz="1624"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729381"/>
            <a:ext cx="10248595"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4681728" y="2660905"/>
            <a:ext cx="6096000" cy="157734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Обработка табличных данных</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0121" y="2209649"/>
            <a:ext cx="2438400" cy="2438705"/>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363200" cy="960120"/>
          </a:xfrm>
          <a:prstGeom prst="rect">
            <a:avLst/>
          </a:prstGeom>
          <a:noFill/>
          <a:ln/>
        </p:spPr>
        <p:txBody>
          <a:bodyPr wrap="square" lIns="0" tIns="0" rIns="0" bIns="0" rtlCol="0" anchor="t">
            <a:normAutofit/>
          </a:bodyPr>
          <a:lstStyle/>
          <a:p>
            <a:pPr defTabSz="1219170">
              <a:lnSpc>
                <a:spcPts val="7028"/>
              </a:lnSpc>
            </a:pPr>
            <a:r>
              <a:rPr lang="en-US" sz="5020" b="1" dirty="0">
                <a:solidFill>
                  <a:srgbClr val="FFFFFF"/>
                </a:solidFill>
                <a:latin typeface="Arial" pitchFamily="34" charset="0"/>
                <a:ea typeface="Arial" pitchFamily="34" charset="-122"/>
                <a:cs typeface="Arial" pitchFamily="34" charset="-120"/>
              </a:rPr>
              <a:t>Обработка табличных данных</a:t>
            </a:r>
            <a:endParaRPr lang="en-US" sz="5020" dirty="0">
              <a:solidFill>
                <a:prstClr val="black"/>
              </a:solidFill>
              <a:latin typeface="Calibri" panose="020F0502020204030204"/>
            </a:endParaRPr>
          </a:p>
        </p:txBody>
      </p:sp>
      <p:sp>
        <p:nvSpPr>
          <p:cNvPr id="3" name="Text 1"/>
          <p:cNvSpPr/>
          <p:nvPr/>
        </p:nvSpPr>
        <p:spPr>
          <a:xfrm>
            <a:off x="1188720" y="2355037"/>
            <a:ext cx="1011936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Агентная архитектура позволяет взаимодействовать с данными на естественном языке, главная задача - пре...</a:t>
            </a:r>
            <a:endParaRPr lang="en-US" sz="2820" dirty="0">
              <a:solidFill>
                <a:prstClr val="black"/>
              </a:solidFill>
              <a:latin typeface="Calibri" panose="020F0502020204030204"/>
            </a:endParaRPr>
          </a:p>
        </p:txBody>
      </p:sp>
      <p:sp>
        <p:nvSpPr>
          <p:cNvPr id="4" name="Text 2"/>
          <p:cNvSpPr/>
          <p:nvPr/>
        </p:nvSpPr>
        <p:spPr>
          <a:xfrm>
            <a:off x="1188720" y="3833621"/>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Бизнес-аналитика и бизнес-интеллект (Business Intelligence): самостоятельный сбор (data collection), аг...</a:t>
            </a:r>
            <a:endParaRPr lang="en-US" sz="2820" dirty="0">
              <a:solidFill>
                <a:prstClr val="black"/>
              </a:solidFill>
              <a:latin typeface="Calibri" panose="020F0502020204030204"/>
            </a:endParaRPr>
          </a:p>
        </p:txBody>
      </p:sp>
      <p:sp>
        <p:nvSpPr>
          <p:cNvPr id="5" name="Text 3"/>
          <p:cNvSpPr/>
          <p:nvPr/>
        </p:nvSpPr>
        <p:spPr>
          <a:xfrm>
            <a:off x="1188720" y="5312207"/>
            <a:ext cx="93878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Инструменты: LangChain с SQLDatabaseToolkit и/или create_sql_query_chain.</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55037"/>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33621"/>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5312207"/>
            <a:ext cx="114605" cy="533552"/>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4867" y="1935328"/>
            <a:ext cx="10241280" cy="3017520"/>
          </a:xfrm>
          <a:prstGeom prst="rect">
            <a:avLst/>
          </a:prstGeom>
          <a:noFill/>
          <a:ln/>
        </p:spPr>
        <p:txBody>
          <a:bodyPr wrap="square" lIns="0" tIns="0" rIns="0" bIns="0" rtlCol="0" anchor="t">
            <a:normAutofit/>
          </a:bodyPr>
          <a:lstStyle/>
          <a:p>
            <a:pPr defTabSz="1219170">
              <a:lnSpc>
                <a:spcPts val="4421"/>
              </a:lnSpc>
            </a:pPr>
            <a:r>
              <a:rPr lang="en-US" sz="3159" b="1" dirty="0">
                <a:solidFill>
                  <a:srgbClr val="FFFFFF"/>
                </a:solidFill>
                <a:latin typeface="Arial" pitchFamily="34" charset="0"/>
                <a:ea typeface="Arial" pitchFamily="34" charset="-122"/>
                <a:cs typeface="Arial" pitchFamily="34" charset="-120"/>
              </a:rPr>
              <a:t>Агентная архитектура позволяет взаимодействовать с данными на естественном языке, главная задача - превратить вопрос пользователя в корректную инструкцию для базы данных (Text-to-SQL).</a:t>
            </a:r>
            <a:endParaRPr lang="en-US" sz="3159"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39977" y="1722044"/>
            <a:ext cx="10119360" cy="3429000"/>
          </a:xfrm>
          <a:prstGeom prst="rect">
            <a:avLst/>
          </a:prstGeom>
          <a:noFill/>
          <a:ln/>
        </p:spPr>
        <p:txBody>
          <a:bodyPr wrap="square" lIns="0" tIns="0" rIns="0" bIns="0" rtlCol="0" anchor="t">
            <a:normAutofit/>
          </a:bodyPr>
          <a:lstStyle/>
          <a:p>
            <a:pPr defTabSz="1219170">
              <a:lnSpc>
                <a:spcPts val="5053"/>
              </a:lnSpc>
            </a:pPr>
            <a:r>
              <a:rPr lang="en-US" sz="3609" b="1" dirty="0">
                <a:solidFill>
                  <a:srgbClr val="FFFFFF"/>
                </a:solidFill>
                <a:latin typeface="Arial" pitchFamily="34" charset="0"/>
                <a:ea typeface="Arial" pitchFamily="34" charset="-122"/>
                <a:cs typeface="Arial" pitchFamily="34" charset="-120"/>
              </a:rPr>
              <a:t>Бизнес-аналитика и бизнес-интеллект (Business Intelligence): самостоятельный сбор (data collection), агрегация, анализ и вывод статистической и бизнес-информации. </a:t>
            </a:r>
            <a:endParaRPr lang="en-US" sz="3609"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4280611" y="1892809"/>
            <a:ext cx="6949440" cy="308610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Инструменты: LangChain с SQLDatabaseToolkit и/или create_sql_query_chain.</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1030224" y="1741932"/>
            <a:ext cx="2438400" cy="3374136"/>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66851"/>
            <a:ext cx="1011936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Инструменты: LangChain с SQLDa...</a:t>
            </a:r>
            <a:endParaRPr lang="en-US" sz="7106" dirty="0">
              <a:solidFill>
                <a:prstClr val="black"/>
              </a:solidFill>
              <a:latin typeface="Calibri" panose="020F0502020204030204"/>
            </a:endParaRPr>
          </a:p>
        </p:txBody>
      </p:sp>
      <p:sp>
        <p:nvSpPr>
          <p:cNvPr id="3" name="Text 1"/>
          <p:cNvSpPr/>
          <p:nvPr/>
        </p:nvSpPr>
        <p:spPr>
          <a:xfrm>
            <a:off x="937565" y="3942664"/>
            <a:ext cx="10241280" cy="2057400"/>
          </a:xfrm>
          <a:prstGeom prst="rect">
            <a:avLst/>
          </a:prstGeom>
          <a:noFill/>
          <a:ln/>
        </p:spPr>
        <p:txBody>
          <a:bodyPr wrap="square" lIns="0" tIns="0" rIns="0" bIns="0" rtlCol="0" anchor="t">
            <a:normAutofit/>
          </a:bodyPr>
          <a:lstStyle/>
          <a:p>
            <a:pPr defTabSz="1219170">
              <a:lnSpc>
                <a:spcPts val="5053"/>
              </a:lnSpc>
            </a:pPr>
            <a:r>
              <a:rPr lang="en-US" sz="3609" dirty="0">
                <a:solidFill>
                  <a:srgbClr val="FFFFFF"/>
                </a:solidFill>
                <a:latin typeface="Arial" pitchFamily="34" charset="0"/>
                <a:ea typeface="Arial" pitchFamily="34" charset="-122"/>
                <a:cs typeface="Arial" pitchFamily="34" charset="-120"/>
              </a:rPr>
              <a:t>Типовые решения: Microsoft Fabric Data Agent, Google BigQuery Agent Catalog и Exel-Automatic.</a:t>
            </a:r>
            <a:endParaRPr lang="en-US" sz="3609"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3363163"/>
            <a:ext cx="10142525"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027981" y="2276856"/>
            <a:ext cx="5486400" cy="2331720"/>
          </a:xfrm>
          <a:prstGeom prst="rect">
            <a:avLst/>
          </a:prstGeom>
          <a:noFill/>
          <a:ln/>
        </p:spPr>
        <p:txBody>
          <a:bodyPr wrap="square" lIns="0" tIns="0" rIns="0" bIns="0" rtlCol="0" anchor="t">
            <a:normAutofit/>
          </a:bodyPr>
          <a:lstStyle/>
          <a:p>
            <a:pPr defTabSz="1219170">
              <a:lnSpc>
                <a:spcPts val="5685"/>
              </a:lnSpc>
            </a:pPr>
            <a:r>
              <a:rPr lang="en-US" sz="4061" b="1" dirty="0">
                <a:solidFill>
                  <a:srgbClr val="FFFFFF"/>
                </a:solidFill>
                <a:latin typeface="Arial" pitchFamily="34" charset="0"/>
                <a:ea typeface="Arial" pitchFamily="34" charset="-122"/>
                <a:cs typeface="Arial" pitchFamily="34" charset="-120"/>
              </a:rPr>
              <a:t>Мультимедиа (изображение, звук, видео)</a:t>
            </a:r>
            <a:endParaRPr lang="en-US" sz="4061" dirty="0">
              <a:solidFill>
                <a:prstClr val="black"/>
              </a:solidFill>
              <a:latin typeface="Calibri" panose="020F0502020204030204"/>
            </a:endParaRPr>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76375" y="2189761"/>
            <a:ext cx="2438400" cy="2479167"/>
          </a:xfrm>
          <a:prstGeom prst="rect">
            <a:avLst/>
          </a:prstGeom>
        </p:spPr>
      </p:pic>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102412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Мультимедиа (изображен...</a:t>
            </a:r>
            <a:endParaRPr lang="en-US" sz="5584" dirty="0">
              <a:solidFill>
                <a:prstClr val="black"/>
              </a:solidFill>
              <a:latin typeface="Calibri" panose="020F0502020204030204"/>
            </a:endParaRPr>
          </a:p>
        </p:txBody>
      </p:sp>
      <p:sp>
        <p:nvSpPr>
          <p:cNvPr id="3" name="Text 1"/>
          <p:cNvSpPr/>
          <p:nvPr/>
        </p:nvSpPr>
        <p:spPr>
          <a:xfrm>
            <a:off x="1188720" y="2386584"/>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Агентная архитектура позволяет обеспечивать мультимодалную обработку мультимедиа и/или однов...</a:t>
            </a:r>
            <a:endParaRPr lang="en-US" sz="2820" dirty="0">
              <a:solidFill>
                <a:prstClr val="black"/>
              </a:solidFill>
              <a:latin typeface="Calibri" panose="020F0502020204030204"/>
            </a:endParaRPr>
          </a:p>
        </p:txBody>
      </p:sp>
      <p:sp>
        <p:nvSpPr>
          <p:cNvPr id="4" name="Text 2"/>
          <p:cNvSpPr/>
          <p:nvPr/>
        </p:nvSpPr>
        <p:spPr>
          <a:xfrm>
            <a:off x="1188720" y="3865169"/>
            <a:ext cx="2560320" cy="54864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Инструменты:</a:t>
            </a:r>
            <a:endParaRPr lang="en-US" sz="2820" dirty="0">
              <a:solidFill>
                <a:prstClr val="black"/>
              </a:solidFill>
              <a:latin typeface="Calibri" panose="020F0502020204030204"/>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sp>
        <p:nvSpPr>
          <p:cNvPr id="7" name="Text 3"/>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595" y="518466"/>
            <a:ext cx="342595" cy="3017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39977" y="1733016"/>
            <a:ext cx="10119360" cy="3429000"/>
          </a:xfrm>
          <a:prstGeom prst="rect">
            <a:avLst/>
          </a:prstGeom>
          <a:noFill/>
          <a:ln/>
        </p:spPr>
        <p:txBody>
          <a:bodyPr wrap="square" lIns="0" tIns="0" rIns="0" bIns="0" rtlCol="0" anchor="t">
            <a:normAutofit/>
          </a:bodyPr>
          <a:lstStyle/>
          <a:p>
            <a:pPr defTabSz="1219170">
              <a:lnSpc>
                <a:spcPts val="4185"/>
              </a:lnSpc>
            </a:pPr>
            <a:r>
              <a:rPr lang="en-US" sz="2989" b="1" dirty="0">
                <a:solidFill>
                  <a:srgbClr val="FFFFFF"/>
                </a:solidFill>
                <a:latin typeface="Arial" pitchFamily="34" charset="0"/>
                <a:ea typeface="Arial" pitchFamily="34" charset="-122"/>
                <a:cs typeface="Arial" pitchFamily="34" charset="-120"/>
              </a:rPr>
              <a:t>Агентная архитектура позволяет обеспечивать мультимодалную обработку мультимедиа и/или одновременно выполнять разные задачи относительно одной модальности разными агентами (например, одновременная сегментация и классификация видео).</a:t>
            </a:r>
            <a:endParaRPr lang="en-US" sz="2989"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999897"/>
            <a:ext cx="10363200" cy="2537460"/>
          </a:xfrm>
          <a:prstGeom prst="rect">
            <a:avLst/>
          </a:prstGeom>
          <a:noFill/>
          <a:ln/>
        </p:spPr>
        <p:txBody>
          <a:bodyPr wrap="square" lIns="0" tIns="0" rIns="0" bIns="0" rtlCol="0" anchor="t">
            <a:normAutofit/>
          </a:bodyPr>
          <a:lstStyle/>
          <a:p>
            <a:pPr defTabSz="1219170">
              <a:lnSpc>
                <a:spcPts val="9238"/>
              </a:lnSpc>
            </a:pPr>
            <a:r>
              <a:rPr lang="en-US" sz="7106" b="1" dirty="0">
                <a:solidFill>
                  <a:srgbClr val="FFFFFF"/>
                </a:solidFill>
                <a:latin typeface="Arial" pitchFamily="34" charset="0"/>
                <a:ea typeface="Arial" pitchFamily="34" charset="-122"/>
                <a:cs typeface="Arial" pitchFamily="34" charset="-120"/>
              </a:rPr>
              <a:t>Агентная архитектура позвол...</a:t>
            </a:r>
            <a:endParaRPr lang="en-US" sz="7106" dirty="0">
              <a:solidFill>
                <a:prstClr val="black"/>
              </a:solidFill>
              <a:latin typeface="Calibri" panose="020F0502020204030204"/>
            </a:endParaRPr>
          </a:p>
        </p:txBody>
      </p:sp>
      <p:sp>
        <p:nvSpPr>
          <p:cNvPr id="3" name="Text 1"/>
          <p:cNvSpPr/>
          <p:nvPr/>
        </p:nvSpPr>
        <p:spPr>
          <a:xfrm>
            <a:off x="937565" y="4075024"/>
            <a:ext cx="6827520" cy="1783080"/>
          </a:xfrm>
          <a:prstGeom prst="rect">
            <a:avLst/>
          </a:prstGeom>
          <a:noFill/>
          <a:ln/>
        </p:spPr>
        <p:txBody>
          <a:bodyPr wrap="square" lIns="0" tIns="0" rIns="0" bIns="0" rtlCol="0" anchor="t">
            <a:normAutofit/>
          </a:bodyPr>
          <a:lstStyle/>
          <a:p>
            <a:pPr defTabSz="1219170">
              <a:lnSpc>
                <a:spcPts val="6599"/>
              </a:lnSpc>
            </a:pPr>
            <a:r>
              <a:rPr lang="en-US" sz="5076" dirty="0">
                <a:solidFill>
                  <a:srgbClr val="FFFFFF"/>
                </a:solidFill>
                <a:latin typeface="Arial" pitchFamily="34" charset="0"/>
                <a:ea typeface="Arial" pitchFamily="34" charset="-122"/>
                <a:cs typeface="Arial" pitchFamily="34" charset="-120"/>
              </a:rPr>
              <a:t>Основные концепции многомодальностей:</a:t>
            </a:r>
            <a:endParaRPr lang="en-US" sz="5076"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3496209"/>
            <a:ext cx="10302240" cy="578815"/>
          </a:xfrm>
          <a:prstGeom prst="rect">
            <a:avLst/>
          </a:prstGeom>
        </p:spPr>
      </p:pic>
      <p:sp>
        <p:nvSpPr>
          <p:cNvPr id="5" name="Text 2"/>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555699" y="857251"/>
            <a:ext cx="9079383" cy="4286251"/>
          </a:xfrm>
          <a:prstGeom prst="rect">
            <a:avLst/>
          </a:prstGeom>
        </p:spPr>
      </p:pic>
      <p:sp>
        <p:nvSpPr>
          <p:cNvPr id="3" name="Text 0"/>
          <p:cNvSpPr/>
          <p:nvPr/>
        </p:nvSpPr>
        <p:spPr>
          <a:xfrm>
            <a:off x="1009497" y="5417820"/>
            <a:ext cx="10241280" cy="685800"/>
          </a:xfrm>
          <a:prstGeom prst="rect">
            <a:avLst/>
          </a:prstGeom>
          <a:noFill/>
          <a:ln/>
        </p:spPr>
        <p:txBody>
          <a:bodyPr wrap="square" lIns="0" tIns="0" rIns="0" bIns="0" rtlCol="0" anchor="t">
            <a:normAutofit/>
          </a:bodyPr>
          <a:lstStyle/>
          <a:p>
            <a:pPr defTabSz="1219170">
              <a:lnSpc>
                <a:spcPts val="4896"/>
              </a:lnSpc>
            </a:pPr>
            <a:r>
              <a:rPr lang="en-US" sz="3497" b="1" dirty="0">
                <a:solidFill>
                  <a:srgbClr val="FFFFFF"/>
                </a:solidFill>
                <a:latin typeface="Arial" pitchFamily="34" charset="0"/>
                <a:ea typeface="Arial" pitchFamily="34" charset="-122"/>
                <a:cs typeface="Arial" pitchFamily="34" charset="-120"/>
              </a:rPr>
              <a:t>Основные концепции многомодальностей:</a:t>
            </a:r>
            <a:endParaRPr lang="en-US" sz="3497"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999744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Основные концепции мн...</a:t>
            </a:r>
            <a:endParaRPr lang="en-US" sz="5584" dirty="0">
              <a:solidFill>
                <a:prstClr val="black"/>
              </a:solidFill>
              <a:latin typeface="Calibri" panose="020F0502020204030204"/>
            </a:endParaRPr>
          </a:p>
        </p:txBody>
      </p:sp>
      <p:sp>
        <p:nvSpPr>
          <p:cNvPr id="3" name="Text 1"/>
          <p:cNvSpPr/>
          <p:nvPr/>
        </p:nvSpPr>
        <p:spPr>
          <a:xfrm>
            <a:off x="1188720" y="2386584"/>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Early fusion - данные разных модальностей объединяются сразу после первичной обработки или ...</a:t>
            </a:r>
            <a:endParaRPr lang="en-US" sz="2820" dirty="0">
              <a:solidFill>
                <a:prstClr val="black"/>
              </a:solidFill>
              <a:latin typeface="Calibri" panose="020F0502020204030204"/>
            </a:endParaRPr>
          </a:p>
        </p:txBody>
      </p:sp>
      <p:sp>
        <p:nvSpPr>
          <p:cNvPr id="4" name="Text 2"/>
          <p:cNvSpPr/>
          <p:nvPr/>
        </p:nvSpPr>
        <p:spPr>
          <a:xfrm>
            <a:off x="1188720" y="3865169"/>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Middle Fusion - признаки модальностей сначала обрабатываются независимыми кодировщиками, а зат...</a:t>
            </a:r>
            <a:endParaRPr lang="en-US" sz="2820" dirty="0">
              <a:solidFill>
                <a:prstClr val="black"/>
              </a:solidFill>
              <a:latin typeface="Calibri" panose="020F0502020204030204"/>
            </a:endParaRPr>
          </a:p>
        </p:txBody>
      </p:sp>
      <p:sp>
        <p:nvSpPr>
          <p:cNvPr id="5" name="Text 3"/>
          <p:cNvSpPr/>
          <p:nvPr/>
        </p:nvSpPr>
        <p:spPr>
          <a:xfrm>
            <a:off x="1188720" y="5343068"/>
            <a:ext cx="9997440" cy="1097280"/>
          </a:xfrm>
          <a:prstGeom prst="rect">
            <a:avLst/>
          </a:prstGeom>
          <a:noFill/>
          <a:ln/>
        </p:spPr>
        <p:txBody>
          <a:bodyPr wrap="square" lIns="0" tIns="0" rIns="0" bIns="0" rtlCol="0" anchor="t">
            <a:normAutofit/>
          </a:bodyPr>
          <a:lstStyle/>
          <a:p>
            <a:pPr defTabSz="1219170">
              <a:lnSpc>
                <a:spcPts val="3948"/>
              </a:lnSpc>
            </a:pPr>
            <a:r>
              <a:rPr lang="en-US" sz="2820" dirty="0">
                <a:solidFill>
                  <a:srgbClr val="FFFFFF"/>
                </a:solidFill>
                <a:latin typeface="Arial" pitchFamily="34" charset="0"/>
                <a:ea typeface="Arial" pitchFamily="34" charset="-122"/>
                <a:cs typeface="Arial" pitchFamily="34" charset="-120"/>
              </a:rPr>
              <a:t>Late Fusion - каждая модальность обрабатывается полностью независимой моделью вплоть до последне...</a:t>
            </a:r>
            <a:endParaRPr lang="en-US" sz="2820"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6" y="2386584"/>
            <a:ext cx="114605" cy="533552"/>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6" y="3865169"/>
            <a:ext cx="114605" cy="533552"/>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6" y="5343068"/>
            <a:ext cx="114605" cy="533552"/>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1016813" y="1802283"/>
            <a:ext cx="10241280" cy="3291840"/>
          </a:xfrm>
          <a:prstGeom prst="rect">
            <a:avLst/>
          </a:prstGeom>
          <a:noFill/>
          <a:ln/>
        </p:spPr>
        <p:txBody>
          <a:bodyPr wrap="square" lIns="0" tIns="0" rIns="0" bIns="0" rtlCol="0" anchor="t">
            <a:normAutofit/>
          </a:bodyPr>
          <a:lstStyle/>
          <a:p>
            <a:pPr defTabSz="1219170">
              <a:lnSpc>
                <a:spcPts val="4816"/>
              </a:lnSpc>
            </a:pPr>
            <a:r>
              <a:rPr lang="en-US" sz="3440" b="1" dirty="0">
                <a:solidFill>
                  <a:srgbClr val="FFFFFF"/>
                </a:solidFill>
                <a:latin typeface="Arial" pitchFamily="34" charset="0"/>
                <a:ea typeface="Arial" pitchFamily="34" charset="-122"/>
                <a:cs typeface="Arial" pitchFamily="34" charset="-120"/>
              </a:rPr>
              <a:t>Early fusion - данные разных модальностей объединяются сразу после первичной обработки или даже на уровне сырых признаков, и только затем подаются в единую модель (например, в VisualBERT).</a:t>
            </a:r>
            <a:endParaRPr lang="en-US" sz="3440"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86333" y="1764565"/>
            <a:ext cx="10241280" cy="3360420"/>
          </a:xfrm>
          <a:prstGeom prst="rect">
            <a:avLst/>
          </a:prstGeom>
          <a:noFill/>
          <a:ln/>
        </p:spPr>
        <p:txBody>
          <a:bodyPr wrap="square" lIns="0" tIns="0" rIns="0" bIns="0" rtlCol="0" anchor="t">
            <a:normAutofit/>
          </a:bodyPr>
          <a:lstStyle/>
          <a:p>
            <a:pPr defTabSz="1219170">
              <a:lnSpc>
                <a:spcPts val="4105"/>
              </a:lnSpc>
            </a:pPr>
            <a:r>
              <a:rPr lang="en-US" sz="2933" b="1" dirty="0">
                <a:solidFill>
                  <a:srgbClr val="FFFFFF"/>
                </a:solidFill>
                <a:latin typeface="Arial" pitchFamily="34" charset="0"/>
                <a:ea typeface="Arial" pitchFamily="34" charset="-122"/>
                <a:cs typeface="Arial" pitchFamily="34" charset="-120"/>
              </a:rPr>
              <a:t>Middle Fusion - признаки модальностей сначала обрабатываются независимыми кодировщиками, а затем обмениваются информацией на протяжении нескольких промежуточных слоёв (наиболее гибкий метод), прежде чем принять финальное решение (например, ViLBERT, LXMERT и LLaVA).</a:t>
            </a:r>
            <a:endParaRPr lang="en-US" sz="2933"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86333" y="2459965"/>
            <a:ext cx="10241280" cy="1988820"/>
          </a:xfrm>
          <a:prstGeom prst="rect">
            <a:avLst/>
          </a:prstGeom>
          <a:noFill/>
          <a:ln/>
        </p:spPr>
        <p:txBody>
          <a:bodyPr wrap="square" lIns="0" tIns="0" rIns="0" bIns="0" rtlCol="0" anchor="t">
            <a:normAutofit/>
          </a:bodyPr>
          <a:lstStyle/>
          <a:p>
            <a:pPr defTabSz="1219170">
              <a:lnSpc>
                <a:spcPts val="3587"/>
              </a:lnSpc>
            </a:pPr>
            <a:r>
              <a:rPr lang="en-US" sz="2392" b="1" dirty="0">
                <a:solidFill>
                  <a:srgbClr val="FFFFFF"/>
                </a:solidFill>
                <a:latin typeface="Arial" pitchFamily="34" charset="0"/>
                <a:ea typeface="Arial" pitchFamily="34" charset="-122"/>
                <a:cs typeface="Arial" pitchFamily="34" charset="-120"/>
              </a:rPr>
              <a:t>Late Fusion - каждая модальность обрабатывается полностью независимой моделью вплоть до последнего этапа (например, CLIP, ансамбли, RAG), где их финальные представления или предсказания объединяются в итоговый результат.</a:t>
            </a:r>
            <a:endParaRPr lang="en-US" sz="2392" dirty="0">
              <a:solidFill>
                <a:prstClr val="black"/>
              </a:solidFill>
              <a:latin typeface="Calibri" panose="020F0502020204030204"/>
            </a:endParaRPr>
          </a:p>
        </p:txBody>
      </p:sp>
      <p:sp>
        <p:nvSpPr>
          <p:cNvPr id="3"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95" y="518466"/>
            <a:ext cx="342595" cy="3017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37565" y="857251"/>
            <a:ext cx="5364480" cy="1028700"/>
          </a:xfrm>
          <a:prstGeom prst="rect">
            <a:avLst/>
          </a:prstGeom>
          <a:noFill/>
          <a:ln/>
        </p:spPr>
        <p:txBody>
          <a:bodyPr wrap="square" lIns="0" tIns="0" rIns="0" bIns="0" rtlCol="0" anchor="t">
            <a:normAutofit/>
          </a:bodyPr>
          <a:lstStyle/>
          <a:p>
            <a:pPr defTabSz="1219170">
              <a:lnSpc>
                <a:spcPts val="7258"/>
              </a:lnSpc>
            </a:pPr>
            <a:r>
              <a:rPr lang="en-US" sz="5584" b="1" dirty="0">
                <a:solidFill>
                  <a:srgbClr val="FFFFFF"/>
                </a:solidFill>
                <a:latin typeface="Arial" pitchFamily="34" charset="0"/>
                <a:ea typeface="Arial" pitchFamily="34" charset="-122"/>
                <a:cs typeface="Arial" pitchFamily="34" charset="-120"/>
              </a:rPr>
              <a:t>Инструменты:</a:t>
            </a:r>
            <a:endParaRPr lang="en-US" sz="5584" dirty="0">
              <a:solidFill>
                <a:prstClr val="black"/>
              </a:solidFill>
              <a:latin typeface="Calibri" panose="020F0502020204030204"/>
            </a:endParaRPr>
          </a:p>
        </p:txBody>
      </p:sp>
      <p:sp>
        <p:nvSpPr>
          <p:cNvPr id="3" name="Text 1"/>
          <p:cNvSpPr/>
          <p:nvPr/>
        </p:nvSpPr>
        <p:spPr>
          <a:xfrm>
            <a:off x="1166775" y="2386584"/>
            <a:ext cx="95097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Платформа n8n с LangChain-агентами с API для создания видео и аудио (например, Wavespeed.ai и Fal.ai).</a:t>
            </a:r>
            <a:endParaRPr lang="en-US" sz="2256" dirty="0">
              <a:solidFill>
                <a:prstClr val="black"/>
              </a:solidFill>
              <a:latin typeface="Calibri" panose="020F0502020204030204"/>
            </a:endParaRPr>
          </a:p>
        </p:txBody>
      </p:sp>
      <p:sp>
        <p:nvSpPr>
          <p:cNvPr id="4" name="Text 2"/>
          <p:cNvSpPr/>
          <p:nvPr/>
        </p:nvSpPr>
        <p:spPr>
          <a:xfrm>
            <a:off x="1166775" y="3712236"/>
            <a:ext cx="1011936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Готовые open-source фреймворки Mora (мультиагентный аналог Sora) и FilmAgent (автоматизация кинопроизводства) для задач text-to-video.</a:t>
            </a:r>
            <a:endParaRPr lang="en-US" sz="2256" dirty="0">
              <a:solidFill>
                <a:prstClr val="black"/>
              </a:solidFill>
              <a:latin typeface="Calibri" panose="020F0502020204030204"/>
            </a:endParaRPr>
          </a:p>
        </p:txBody>
      </p:sp>
      <p:sp>
        <p:nvSpPr>
          <p:cNvPr id="5" name="Text 3"/>
          <p:cNvSpPr/>
          <p:nvPr/>
        </p:nvSpPr>
        <p:spPr>
          <a:xfrm>
            <a:off x="1166775" y="5038572"/>
            <a:ext cx="7559040" cy="960120"/>
          </a:xfrm>
          <a:prstGeom prst="rect">
            <a:avLst/>
          </a:prstGeom>
          <a:noFill/>
          <a:ln/>
        </p:spPr>
        <p:txBody>
          <a:bodyPr wrap="square" lIns="0" tIns="0" rIns="0" bIns="0" rtlCol="0" anchor="t">
            <a:normAutofit/>
          </a:bodyPr>
          <a:lstStyle/>
          <a:p>
            <a:pPr defTabSz="1219170">
              <a:lnSpc>
                <a:spcPts val="3384"/>
              </a:lnSpc>
            </a:pPr>
            <a:r>
              <a:rPr lang="en-US" sz="2256" dirty="0">
                <a:solidFill>
                  <a:srgbClr val="FFFFFF"/>
                </a:solidFill>
                <a:latin typeface="Arial" pitchFamily="34" charset="0"/>
                <a:ea typeface="Arial" pitchFamily="34" charset="-122"/>
                <a:cs typeface="Arial" pitchFamily="34" charset="-120"/>
              </a:rPr>
              <a:t>Специализированные ИИ-инструменты: Luma Agents (мультимодальный контент).</a:t>
            </a:r>
            <a:endParaRPr lang="en-US" sz="2256" dirty="0">
              <a:solidFill>
                <a:prstClr val="black"/>
              </a:solidFill>
              <a:latin typeface="Calibri" panose="020F0502020204030204"/>
            </a:endParaRPr>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7565" y="2386585"/>
            <a:ext cx="91440" cy="457428"/>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7565" y="3712237"/>
            <a:ext cx="91440" cy="457428"/>
          </a:xfrm>
          <a:prstGeom prst="rect">
            <a:avLst/>
          </a:prstGeom>
        </p:spPr>
      </p:pic>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565" y="5038573"/>
            <a:ext cx="91440" cy="457428"/>
          </a:xfrm>
          <a:prstGeom prst="rect">
            <a:avLst/>
          </a:prstGeom>
        </p:spPr>
      </p:pic>
      <p:sp>
        <p:nvSpPr>
          <p:cNvPr id="9" name="Text 4"/>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2595" y="518466"/>
            <a:ext cx="342595" cy="30175"/>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09497" y="857251"/>
            <a:ext cx="7552944" cy="4286251"/>
          </a:xfrm>
          <a:prstGeom prst="rect">
            <a:avLst/>
          </a:prstGeom>
        </p:spPr>
      </p:pic>
      <p:sp>
        <p:nvSpPr>
          <p:cNvPr id="3" name="Text 0"/>
          <p:cNvSpPr/>
          <p:nvPr/>
        </p:nvSpPr>
        <p:spPr>
          <a:xfrm>
            <a:off x="1009497" y="5417820"/>
            <a:ext cx="10241280" cy="1783080"/>
          </a:xfrm>
          <a:prstGeom prst="rect">
            <a:avLst/>
          </a:prstGeom>
          <a:noFill/>
          <a:ln/>
        </p:spPr>
        <p:txBody>
          <a:bodyPr wrap="square" lIns="0" tIns="0" rIns="0" bIns="0" rtlCol="0" anchor="t">
            <a:normAutofit/>
          </a:bodyPr>
          <a:lstStyle/>
          <a:p>
            <a:pPr defTabSz="1219170">
              <a:lnSpc>
                <a:spcPts val="4264"/>
              </a:lnSpc>
            </a:pPr>
            <a:r>
              <a:rPr lang="en-US" sz="3045" b="1" dirty="0">
                <a:solidFill>
                  <a:srgbClr val="FFFFFF"/>
                </a:solidFill>
                <a:latin typeface="Arial" pitchFamily="34" charset="0"/>
                <a:ea typeface="Arial" pitchFamily="34" charset="-122"/>
                <a:cs typeface="Arial" pitchFamily="34" charset="-120"/>
              </a:rPr>
              <a:t>Платформа n8n с LangChain-агентами с API для создания видео и аудио (например, Wavespeed.ai и Fal.ai).</a:t>
            </a:r>
            <a:endParaRPr lang="en-US" sz="3045"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382574" y="857251"/>
            <a:ext cx="7551725" cy="4286251"/>
          </a:xfrm>
          <a:prstGeom prst="rect">
            <a:avLst/>
          </a:prstGeom>
        </p:spPr>
      </p:pic>
      <p:sp>
        <p:nvSpPr>
          <p:cNvPr id="3" name="Text 0"/>
          <p:cNvSpPr/>
          <p:nvPr/>
        </p:nvSpPr>
        <p:spPr>
          <a:xfrm>
            <a:off x="1382573" y="5417820"/>
            <a:ext cx="9509760" cy="2331720"/>
          </a:xfrm>
          <a:prstGeom prst="rect">
            <a:avLst/>
          </a:prstGeom>
          <a:noFill/>
          <a:ln/>
        </p:spPr>
        <p:txBody>
          <a:bodyPr wrap="square" lIns="0" tIns="0" rIns="0" bIns="0" rtlCol="0" anchor="t">
            <a:normAutofit/>
          </a:bodyPr>
          <a:lstStyle/>
          <a:p>
            <a:pPr defTabSz="1219170">
              <a:lnSpc>
                <a:spcPts val="4264"/>
              </a:lnSpc>
            </a:pPr>
            <a:r>
              <a:rPr lang="en-US" sz="3045" b="1" dirty="0">
                <a:solidFill>
                  <a:srgbClr val="FFFFFF"/>
                </a:solidFill>
                <a:latin typeface="Arial" pitchFamily="34" charset="0"/>
                <a:ea typeface="Arial" pitchFamily="34" charset="-122"/>
                <a:cs typeface="Arial" pitchFamily="34" charset="-120"/>
              </a:rPr>
              <a:t>Готовые open-source фреймворки Mora (мультиагентный аналог Sora) и FilmAgent (автоматизация кинопроизводства) для задач text-to-video.</a:t>
            </a:r>
            <a:endParaRPr lang="en-US" sz="3045"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21689" y="857251"/>
            <a:ext cx="8163763" cy="4286251"/>
          </a:xfrm>
          <a:prstGeom prst="rect">
            <a:avLst/>
          </a:prstGeom>
        </p:spPr>
      </p:pic>
      <p:sp>
        <p:nvSpPr>
          <p:cNvPr id="3" name="Text 0"/>
          <p:cNvSpPr/>
          <p:nvPr/>
        </p:nvSpPr>
        <p:spPr>
          <a:xfrm>
            <a:off x="1021689" y="5417820"/>
            <a:ext cx="10241280" cy="1097280"/>
          </a:xfrm>
          <a:prstGeom prst="rect">
            <a:avLst/>
          </a:prstGeom>
          <a:noFill/>
          <a:ln/>
        </p:spPr>
        <p:txBody>
          <a:bodyPr wrap="square" lIns="0" tIns="0" rIns="0" bIns="0" rtlCol="0" anchor="t">
            <a:normAutofit/>
          </a:bodyPr>
          <a:lstStyle/>
          <a:p>
            <a:pPr defTabSz="1219170">
              <a:lnSpc>
                <a:spcPts val="3948"/>
              </a:lnSpc>
            </a:pPr>
            <a:r>
              <a:rPr lang="en-US" sz="2820" b="1" dirty="0">
                <a:solidFill>
                  <a:srgbClr val="FFFFFF"/>
                </a:solidFill>
                <a:latin typeface="Arial" pitchFamily="34" charset="0"/>
                <a:ea typeface="Arial" pitchFamily="34" charset="-122"/>
                <a:cs typeface="Arial" pitchFamily="34" charset="-120"/>
              </a:rPr>
              <a:t>Специализированные ИИ-инструменты: Luma Agents (мультимодальный контент).</a:t>
            </a:r>
            <a:endParaRPr lang="en-US" sz="2820" dirty="0">
              <a:solidFill>
                <a:prstClr val="black"/>
              </a:solidFill>
              <a:latin typeface="Calibri" panose="020F0502020204030204"/>
            </a:endParaRPr>
          </a:p>
        </p:txBody>
      </p:sp>
      <p:sp>
        <p:nvSpPr>
          <p:cNvPr id="4" name="Text 1"/>
          <p:cNvSpPr/>
          <p:nvPr/>
        </p:nvSpPr>
        <p:spPr>
          <a:xfrm>
            <a:off x="342595" y="274321"/>
            <a:ext cx="2438400" cy="205740"/>
          </a:xfrm>
          <a:prstGeom prst="rect">
            <a:avLst/>
          </a:prstGeom>
          <a:noFill/>
          <a:ln/>
        </p:spPr>
        <p:txBody>
          <a:bodyPr wrap="square" lIns="0" tIns="0" rIns="0" bIns="0" rtlCol="0" anchor="t">
            <a:normAutofit/>
          </a:bodyPr>
          <a:lstStyle/>
          <a:p>
            <a:pPr defTabSz="1219170">
              <a:lnSpc>
                <a:spcPts val="1380"/>
              </a:lnSpc>
            </a:pPr>
            <a:r>
              <a:rPr lang="en-US" sz="1297" dirty="0">
                <a:solidFill>
                  <a:srgbClr val="FFFFFF"/>
                </a:solidFill>
                <a:latin typeface="Arial" pitchFamily="34" charset="0"/>
                <a:ea typeface="Arial" pitchFamily="34" charset="-122"/>
                <a:cs typeface="Arial" pitchFamily="34" charset="-120"/>
              </a:rPr>
              <a:t>Другие разделы искусствен...</a:t>
            </a:r>
            <a:endParaRPr lang="en-US" sz="1297" dirty="0">
              <a:solidFill>
                <a:prstClr val="black"/>
              </a:solidFill>
              <a:latin typeface="Calibri" panose="020F0502020204030204"/>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2595" y="518466"/>
            <a:ext cx="342595" cy="30175"/>
          </a:xfrm>
          <a:prstGeom prst="rect">
            <a:avLst/>
          </a:prstGeom>
        </p:spPr>
      </p:pic>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2672</Words>
  <Application>Microsoft Office PowerPoint</Application>
  <PresentationFormat>Широкоэкранный</PresentationFormat>
  <Paragraphs>327</Paragraphs>
  <Slides>78</Slides>
  <Notes>78</Notes>
  <HiddenSlides>0</HiddenSlides>
  <MMClips>0</MMClips>
  <ScaleCrop>false</ScaleCrop>
  <HeadingPairs>
    <vt:vector size="6" baseType="variant">
      <vt:variant>
        <vt:lpstr>Использованные шрифты</vt:lpstr>
      </vt:variant>
      <vt:variant>
        <vt:i4>3</vt:i4>
      </vt:variant>
      <vt:variant>
        <vt:lpstr>Тема</vt:lpstr>
      </vt:variant>
      <vt:variant>
        <vt:i4>2</vt:i4>
      </vt:variant>
      <vt:variant>
        <vt:lpstr>Заголовки слайдов</vt:lpstr>
      </vt:variant>
      <vt:variant>
        <vt:i4>78</vt:i4>
      </vt:variant>
    </vt:vector>
  </HeadingPairs>
  <TitlesOfParts>
    <vt:vector size="83" baseType="lpstr">
      <vt:lpstr>Arial</vt:lpstr>
      <vt:lpstr>Calibri</vt:lpstr>
      <vt:lpstr>Calibri Light</vt:lpstr>
      <vt:lpstr>Тема Office</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Владислав Холмогоров</dc:creator>
  <cp:lastModifiedBy>Владислав Холмогоров</cp:lastModifiedBy>
  <cp:revision>2</cp:revision>
  <dcterms:created xsi:type="dcterms:W3CDTF">2026-06-16T10:48:53Z</dcterms:created>
  <dcterms:modified xsi:type="dcterms:W3CDTF">2026-06-16T10:50:12Z</dcterms:modified>
</cp:coreProperties>
</file>
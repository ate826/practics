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9"/>
  </p:notesMasterIdLst>
  <p:sldIdLst>
    <p:sldId id="787" r:id="rId3"/>
    <p:sldId id="652" r:id="rId4"/>
    <p:sldId id="653" r:id="rId5"/>
    <p:sldId id="654" r:id="rId6"/>
    <p:sldId id="655" r:id="rId7"/>
    <p:sldId id="656" r:id="rId8"/>
    <p:sldId id="657" r:id="rId9"/>
    <p:sldId id="658" r:id="rId10"/>
    <p:sldId id="659" r:id="rId11"/>
    <p:sldId id="660" r:id="rId12"/>
    <p:sldId id="661" r:id="rId13"/>
    <p:sldId id="662" r:id="rId14"/>
    <p:sldId id="663" r:id="rId15"/>
    <p:sldId id="664" r:id="rId16"/>
    <p:sldId id="665" r:id="rId17"/>
    <p:sldId id="666" r:id="rId18"/>
    <p:sldId id="667" r:id="rId19"/>
    <p:sldId id="668" r:id="rId20"/>
    <p:sldId id="669" r:id="rId21"/>
    <p:sldId id="670" r:id="rId22"/>
    <p:sldId id="671" r:id="rId23"/>
    <p:sldId id="672" r:id="rId24"/>
    <p:sldId id="673" r:id="rId25"/>
    <p:sldId id="674" r:id="rId26"/>
    <p:sldId id="675" r:id="rId27"/>
    <p:sldId id="676" r:id="rId28"/>
    <p:sldId id="677" r:id="rId29"/>
    <p:sldId id="678" r:id="rId30"/>
    <p:sldId id="679" r:id="rId31"/>
    <p:sldId id="680" r:id="rId32"/>
    <p:sldId id="681" r:id="rId33"/>
    <p:sldId id="682" r:id="rId34"/>
    <p:sldId id="683" r:id="rId35"/>
    <p:sldId id="684" r:id="rId36"/>
    <p:sldId id="685" r:id="rId37"/>
    <p:sldId id="686" r:id="rId38"/>
    <p:sldId id="687" r:id="rId39"/>
    <p:sldId id="688" r:id="rId40"/>
    <p:sldId id="689" r:id="rId41"/>
    <p:sldId id="690" r:id="rId42"/>
    <p:sldId id="691" r:id="rId43"/>
    <p:sldId id="692" r:id="rId44"/>
    <p:sldId id="693" r:id="rId45"/>
    <p:sldId id="694" r:id="rId46"/>
    <p:sldId id="695" r:id="rId47"/>
    <p:sldId id="696" r:id="rId48"/>
    <p:sldId id="697" r:id="rId49"/>
    <p:sldId id="698" r:id="rId50"/>
    <p:sldId id="699" r:id="rId51"/>
    <p:sldId id="700" r:id="rId52"/>
    <p:sldId id="701" r:id="rId53"/>
    <p:sldId id="702" r:id="rId54"/>
    <p:sldId id="703" r:id="rId55"/>
    <p:sldId id="704" r:id="rId56"/>
    <p:sldId id="705" r:id="rId57"/>
    <p:sldId id="706" r:id="rId58"/>
    <p:sldId id="707" r:id="rId59"/>
    <p:sldId id="708" r:id="rId60"/>
    <p:sldId id="709" r:id="rId61"/>
    <p:sldId id="710" r:id="rId62"/>
    <p:sldId id="711" r:id="rId63"/>
    <p:sldId id="712" r:id="rId64"/>
    <p:sldId id="713" r:id="rId65"/>
    <p:sldId id="714" r:id="rId66"/>
    <p:sldId id="715" r:id="rId67"/>
    <p:sldId id="716" r:id="rId68"/>
    <p:sldId id="717" r:id="rId69"/>
    <p:sldId id="718" r:id="rId70"/>
    <p:sldId id="719" r:id="rId71"/>
    <p:sldId id="720" r:id="rId72"/>
    <p:sldId id="721" r:id="rId73"/>
    <p:sldId id="722" r:id="rId74"/>
    <p:sldId id="723" r:id="rId75"/>
    <p:sldId id="724" r:id="rId76"/>
    <p:sldId id="725" r:id="rId77"/>
    <p:sldId id="726" r:id="rId78"/>
    <p:sldId id="727" r:id="rId79"/>
    <p:sldId id="728" r:id="rId80"/>
    <p:sldId id="729" r:id="rId81"/>
    <p:sldId id="730" r:id="rId82"/>
    <p:sldId id="731" r:id="rId83"/>
    <p:sldId id="732" r:id="rId84"/>
    <p:sldId id="733" r:id="rId85"/>
    <p:sldId id="734" r:id="rId86"/>
    <p:sldId id="735" r:id="rId87"/>
    <p:sldId id="736" r:id="rId88"/>
    <p:sldId id="737" r:id="rId89"/>
    <p:sldId id="738" r:id="rId90"/>
    <p:sldId id="739" r:id="rId91"/>
    <p:sldId id="740" r:id="rId92"/>
    <p:sldId id="741" r:id="rId93"/>
    <p:sldId id="742" r:id="rId94"/>
    <p:sldId id="743" r:id="rId95"/>
    <p:sldId id="744" r:id="rId96"/>
    <p:sldId id="745" r:id="rId97"/>
    <p:sldId id="746" r:id="rId98"/>
    <p:sldId id="747" r:id="rId99"/>
    <p:sldId id="748" r:id="rId100"/>
    <p:sldId id="749" r:id="rId101"/>
    <p:sldId id="750" r:id="rId102"/>
    <p:sldId id="751" r:id="rId103"/>
    <p:sldId id="752" r:id="rId104"/>
    <p:sldId id="753" r:id="rId105"/>
    <p:sldId id="754" r:id="rId106"/>
    <p:sldId id="755" r:id="rId107"/>
    <p:sldId id="756" r:id="rId108"/>
    <p:sldId id="757" r:id="rId109"/>
    <p:sldId id="758" r:id="rId110"/>
    <p:sldId id="759" r:id="rId111"/>
    <p:sldId id="760" r:id="rId112"/>
    <p:sldId id="761" r:id="rId113"/>
    <p:sldId id="762" r:id="rId114"/>
    <p:sldId id="763" r:id="rId115"/>
    <p:sldId id="764" r:id="rId116"/>
    <p:sldId id="765" r:id="rId117"/>
    <p:sldId id="766" r:id="rId118"/>
    <p:sldId id="767" r:id="rId119"/>
    <p:sldId id="768" r:id="rId120"/>
    <p:sldId id="769" r:id="rId121"/>
    <p:sldId id="770" r:id="rId122"/>
    <p:sldId id="771" r:id="rId123"/>
    <p:sldId id="772" r:id="rId124"/>
    <p:sldId id="773" r:id="rId125"/>
    <p:sldId id="774" r:id="rId126"/>
    <p:sldId id="775" r:id="rId127"/>
    <p:sldId id="776" r:id="rId128"/>
    <p:sldId id="777" r:id="rId129"/>
    <p:sldId id="778" r:id="rId130"/>
    <p:sldId id="779" r:id="rId131"/>
    <p:sldId id="780" r:id="rId132"/>
    <p:sldId id="781" r:id="rId133"/>
    <p:sldId id="782" r:id="rId134"/>
    <p:sldId id="783" r:id="rId135"/>
    <p:sldId id="784" r:id="rId136"/>
    <p:sldId id="785" r:id="rId137"/>
    <p:sldId id="786" r:id="rId1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notesMaster" Target="notesMasters/notesMaster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theme" Target="theme/theme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82FC3-4015-4B00-937F-005F7871D46B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1A74B-AA02-4B92-A479-0D8410AA4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91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A5417-47F7-B6F1-0C50-9622D3775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5985B7-E575-BDD1-7036-D9B65C36B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6B7E1D-8D97-DAC1-1B12-52456459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ACD66E-388A-8C23-BDC5-2E1D326F6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0C57FE-60BF-EEE0-1507-21CE6C2F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37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5AC614-3438-4169-B974-FC6CD6438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3C22C4-25D0-C906-E659-7FD752AB4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D2C420-7E80-D89B-4FDC-962DE38AA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3ACA5E-94BA-1023-F027-59B91A2C3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797146-8A6D-246F-3038-C218F399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39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5BF91-4AEB-DA39-B0FA-FFE63C64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F1E1B6-2134-32F0-8B87-51EE551C3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3A674D-9FF2-3012-474A-C75E6031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F20317-A1E4-EAA1-E9D8-672383BE2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88BE61-59A0-594D-B66A-717123A5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0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117C2-42A3-DDAB-0BEA-16A92FDF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41DFB5-B693-D61D-0AEF-802D06902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4E2FC9-15EB-261B-0F14-F863D602B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F128EA-F8F7-051A-BC96-D2D1AE9C0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5DA3F8-DD79-74B4-29C4-DDD624C1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600183-00F2-7C69-1202-F63A1A63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12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AEB79-4D04-FDAE-480C-4F292D4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8EB2B7-9ACC-4E28-CFBC-9731A8795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D61ADC-53D8-FFF7-0664-A9143317B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D7DA66-17DC-1416-0653-E38257529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63E85F-8776-AE61-44F2-018F0831C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DEBC94-8905-B206-A27B-695029019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EDA9A69-15F6-1A9D-5DBB-9019B156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C0F8E16-25C1-1CE3-9D1B-9FA212EC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84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E664B-BB2B-E923-BD83-53848013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47CC6F-A2B4-D32A-B48A-324CC546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9E48B6-5EE5-526E-AEBB-206B38A3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1D79B2-239B-3115-6FEE-8BC51D781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297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001AEC2-1827-56EF-E537-5B2B60683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3AFB130-23AE-1DD6-3891-2DC293D1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DA1690-CDB6-7AA6-672E-4CF39392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87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B3468-99B2-FA01-096A-D9788015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3A85A9-EE3D-4CFC-9571-D7ACA8C34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575E85-476B-2309-1163-4A763F018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FD6ED4-010D-1D25-2B40-8F5362FA1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C4BBE1-0DD5-AFA7-339B-8011EF2C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47398C-AA86-DBED-BD58-126196012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09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E65AA0-7934-5E35-3D33-11570569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53E6AE-155B-C642-BD53-8E2A6C2EAC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9926EC-24BF-CD97-9753-51836B4C0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AAEB03-C355-1C8F-FEF5-D07345E9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B1FF48-2ECE-9113-FED1-B60E8379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0986E1-912F-E0A9-B02A-6119A5C4E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8236C-2387-D727-CEF5-D682F0F2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88BE77-5C70-B9BA-ED96-337D3C84D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E8E850-ADE9-60B1-C9DC-C809488BA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42792D-B0BC-E782-1539-3DB07A92E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B0169A-9343-FCA1-5BEB-C7219223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360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13E9C2-A91E-7C2C-AA91-9D8734844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81FB42-6212-5A73-60B6-7D0A3B819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1654EC-7357-B0B6-642C-F719B1D3C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D8CA3-9DA8-337A-0B86-08248CA17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94E9BF-6867-521D-E1D7-2D1C466F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151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60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D3AEF-C908-DC2F-8A74-C25688DE2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E6E0EB-C819-B60F-ED54-884F6F840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D69536-8109-06F1-56A3-407855BBA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58EEE-7934-46AC-8EC0-611DB7637F4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2C6053-2FBC-8A19-A92F-4337F9D10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ACB394-F2BE-6AED-4737-362B0F0A8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DF012-979C-428A-82D8-5EC53D146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44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95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22.svg"/><Relationship Id="rId4" Type="http://schemas.openxmlformats.org/officeDocument/2006/relationships/image" Target="../media/image3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21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sv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9.svg"/><Relationship Id="rId4" Type="http://schemas.openxmlformats.org/officeDocument/2006/relationships/image" Target="../media/image6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9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53.svg"/><Relationship Id="rId4" Type="http://schemas.openxmlformats.org/officeDocument/2006/relationships/image" Target="../media/image52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39.svg"/><Relationship Id="rId4" Type="http://schemas.openxmlformats.org/officeDocument/2006/relationships/image" Target="../media/image6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0.sv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21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svg"/><Relationship Id="rId5" Type="http://schemas.openxmlformats.org/officeDocument/2006/relationships/image" Target="../media/image58.svg"/><Relationship Id="rId4" Type="http://schemas.openxmlformats.org/officeDocument/2006/relationships/image" Target="../media/image6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1.sv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9.svg"/><Relationship Id="rId4" Type="http://schemas.openxmlformats.org/officeDocument/2006/relationships/image" Target="../media/image6.svg"/><Relationship Id="rId9" Type="http://schemas.openxmlformats.org/officeDocument/2006/relationships/image" Target="../media/image5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70.svg"/><Relationship Id="rId4" Type="http://schemas.openxmlformats.org/officeDocument/2006/relationships/image" Target="../media/image30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39.svg"/><Relationship Id="rId4" Type="http://schemas.openxmlformats.org/officeDocument/2006/relationships/image" Target="../media/image6.sv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74.svg"/><Relationship Id="rId4" Type="http://schemas.openxmlformats.org/officeDocument/2006/relationships/image" Target="../media/image30.sv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svg"/><Relationship Id="rId5" Type="http://schemas.openxmlformats.org/officeDocument/2006/relationships/image" Target="../media/image77.svg"/><Relationship Id="rId4" Type="http://schemas.openxmlformats.org/officeDocument/2006/relationships/image" Target="../media/image76.sv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6.svg"/><Relationship Id="rId5" Type="http://schemas.openxmlformats.org/officeDocument/2006/relationships/image" Target="../media/image85.svg"/><Relationship Id="rId4" Type="http://schemas.openxmlformats.org/officeDocument/2006/relationships/image" Target="../media/image84.sv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8.svg"/><Relationship Id="rId5" Type="http://schemas.openxmlformats.org/officeDocument/2006/relationships/image" Target="../media/image39.svg"/><Relationship Id="rId4" Type="http://schemas.openxmlformats.org/officeDocument/2006/relationships/image" Target="../media/image6.sv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sv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9.svg"/><Relationship Id="rId4" Type="http://schemas.openxmlformats.org/officeDocument/2006/relationships/image" Target="../media/image90.sv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sv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96.sv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98.svg"/><Relationship Id="rId4" Type="http://schemas.openxmlformats.org/officeDocument/2006/relationships/image" Target="../media/image26.sv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2.sv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sv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sv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sv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svg"/><Relationship Id="rId7" Type="http://schemas.openxmlformats.org/officeDocument/2006/relationships/image" Target="../media/image106.sv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8.svg"/><Relationship Id="rId5" Type="http://schemas.openxmlformats.org/officeDocument/2006/relationships/image" Target="../media/image39.svg"/><Relationship Id="rId4" Type="http://schemas.openxmlformats.org/officeDocument/2006/relationships/image" Target="../media/image6.sv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9017" y="2457907"/>
            <a:ext cx="1024128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185"/>
              </a:lnSpc>
            </a:pPr>
            <a:r>
              <a:rPr lang="ru-RU" sz="55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Лекция 6: обработка естественного языка</a:t>
            </a:r>
            <a:endParaRPr lang="en-US" sz="552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632"/>
              </a:lnSpc>
            </a:pPr>
            <a:r>
              <a:rPr lang="en-US" sz="473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естественного языка</a:t>
            </a:r>
            <a:endParaRPr lang="en-US" sz="473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02231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246577"/>
            <a:ext cx="707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Поколение больших языковых моделей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191609"/>
            <a:ext cx="597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Модификация языковых моделей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5136643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оценки качества языковых моделей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02231"/>
            <a:ext cx="114605" cy="53355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246577"/>
            <a:ext cx="114605" cy="53355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191609"/>
            <a:ext cx="114605" cy="53355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136643"/>
            <a:ext cx="114605" cy="5335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Содержат миллионы параметров и является специфическими для каждой отдельной взятой задачи...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Токенизаторы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573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Классические языковые модели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223" y="1114425"/>
            <a:ext cx="103632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Содержат миллионы параметров и является специфическими для каждой отдельной взятой задачи, основные недостатки связаны с последовательной обработкой данных и статичными эмбеддингами (один и тот же вектор на слово при разных контекстах), однако куда меньше, чем большие языковые модели, учатся и работают быстрее, могут работать в условиях малых текстов и задач и тем самым выступать в качестве бейзлайн-модели (baseline).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536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Токенизаторы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890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Создают проблему "проклятия размерности" и не улавливают семантической близости слов.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Pair Encoding (BPE)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5754548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WordPiece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66995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754548"/>
            <a:ext cx="114605" cy="53355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6" y="6699580"/>
            <a:ext cx="114605" cy="53355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119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Создают проблему "прок...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Проклятие размерности: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Семантическая близость слов: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1984" y="2660905"/>
            <a:ext cx="377952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Проклятие размерности: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71" y="1999107"/>
            <a:ext cx="5690007" cy="2860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068477"/>
            <a:ext cx="658368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Проклятие размерности: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143604"/>
            <a:ext cx="1036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увеличением количества признаков (размерностей) объем пространства данных растет экспоненциально, чем больше признаков, тем больше «пустоты» между объектами.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564789"/>
            <a:ext cx="10302240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9767" y="2276856"/>
            <a:ext cx="3535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Семантическая близость слов: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54" y="1793367"/>
            <a:ext cx="5690007" cy="32712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6851"/>
            <a:ext cx="73152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Семантическая близость слов: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42664"/>
            <a:ext cx="10241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 того, насколько близки два слова или фразы по смыслу, а не по написанию или не только по написанию.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363163"/>
            <a:ext cx="1021811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7927" y="2660905"/>
            <a:ext cx="256032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714" y="1560195"/>
            <a:ext cx="5690007" cy="3736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72338"/>
            <a:ext cx="85344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699995"/>
            <a:ext cx="1011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080"/>
              </a:lnSpc>
            </a:pPr>
            <a:r>
              <a:rPr lang="en-US" sz="434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слово представляется как вектор из нулей и одной единицы. Размерность вектора равна размеру словаря.</a:t>
            </a:r>
            <a:endParaRPr lang="en-US" sz="434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120494"/>
            <a:ext cx="1003523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7927" y="2276856"/>
            <a:ext cx="2560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Pair Encoding (BPE)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714" y="1829029"/>
            <a:ext cx="5690007" cy="3200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47090"/>
            <a:ext cx="89001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Pair Encoding (BPE)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022903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659"/>
              </a:lnSpc>
            </a:pPr>
            <a:r>
              <a:rPr lang="en-US" sz="332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Итеративно объединяет самые частые пары токенов в новые токены. Это позволяет разбивать редкие слова на известные подслова.</a:t>
            </a:r>
            <a:endParaRPr lang="en-US" sz="3328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443402"/>
            <a:ext cx="10210800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6665" y="2983231"/>
            <a:ext cx="35356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WordPiece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655" y="857251"/>
            <a:ext cx="5143805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14858"/>
            <a:ext cx="499872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WordPiece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742515"/>
            <a:ext cx="1024128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Схож с BPE, но выбирает пары для объединения на основе наибольшего увеличения правдоподобия обучающих данных: проверяет различные комбинации символов (или подслов) и объединяет ту пару, которая дает наибольший прирост качества (вероятности) языковой модели на обучающем корпусе.  При обработке нового текста алгоритм ищет самое длинное подслово, которое есть в его словаре, а остальную часть слова продолжает делить дальше.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163014"/>
            <a:ext cx="1018763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8534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Сегментация текста и токенизация.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P.S.: для языков без пробелов (японский, китайский) до сих пор используют словарные методы (максимальное сопоставление).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4169664"/>
            <a:ext cx="853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 ключевым словам и regex - извлечение email, дат, телефонов из текстов.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5495316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Орфографическая коррекция - n-граммные модели на основе токенов могут быстро предлагать исправления опечаток.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6775" y="6821652"/>
            <a:ext cx="999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текстов (спам-фильтры, распределение обращений в поддержку), например, Bag-of-Words или TF-IDF с SVM быстро работают и легко интерпретируются.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66775" y="8604732"/>
            <a:ext cx="1011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тональности коротких отзывов: простая модель на униграммах (одно слово) может дать достаточную точность на маленьком датасете.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4169665"/>
            <a:ext cx="91440" cy="45742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495317"/>
            <a:ext cx="91440" cy="45742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6821653"/>
            <a:ext cx="91440" cy="45742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5" y="8604732"/>
            <a:ext cx="91440" cy="45742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53"/>
              </a:lnSpc>
            </a:pPr>
            <a:r>
              <a:rPr lang="en-US" sz="46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Классические языковые модели</a:t>
            </a:r>
            <a:endParaRPr lang="en-US" sz="468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72871" y="2291258"/>
            <a:ext cx="9144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637"/>
              </a:lnSpc>
            </a:pPr>
            <a:r>
              <a:rPr lang="en-US" sz="2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Основаны на концепции дистрибутивной семантики: "слово характеризуется его окружением".</a:t>
            </a:r>
            <a:endParaRPr lang="en-US" sz="2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72871" y="3685489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637"/>
              </a:lnSpc>
            </a:pPr>
            <a:r>
              <a:rPr lang="en-US" sz="2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</a:t>
            </a:r>
            <a:endParaRPr lang="en-US" sz="2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72871" y="45886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637"/>
              </a:lnSpc>
            </a:pPr>
            <a:r>
              <a:rPr lang="en-US" sz="2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Рекуррентные нейронные сети</a:t>
            </a:r>
            <a:endParaRPr lang="en-US" sz="2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72871" y="5491887"/>
            <a:ext cx="353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637"/>
              </a:lnSpc>
            </a:pPr>
            <a:r>
              <a:rPr lang="en-US" sz="2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242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291258"/>
            <a:ext cx="98755" cy="491719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685490"/>
            <a:ext cx="98755" cy="491719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4588689"/>
            <a:ext cx="98755" cy="491719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5491887"/>
            <a:ext cx="98755" cy="4917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3152" y="2983231"/>
            <a:ext cx="3413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159" y="1916811"/>
            <a:ext cx="5690007" cy="30243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3657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38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двухслойную нейронную сеть для получения плотных векторов слов.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3712236"/>
            <a:ext cx="938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"Skip-gram с Negative Sampling": модель выбирает центральное слово, например, и учится предсказывать слова его контекста.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5495317"/>
            <a:ext cx="3901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712237"/>
            <a:ext cx="91440" cy="4574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495317"/>
            <a:ext cx="91440" cy="4574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916811"/>
            <a:ext cx="10316871" cy="2077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269105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X_ij - частота, с которой слово j встречается в контексте слова i.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w_i и ~w_j - векторы слов.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f(X_ij) - ограничивает влияние слишком частых пар слов (например, предлогов).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6288100"/>
            <a:ext cx="938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 стремится, чтобы скалярное произведение векторов слов приближало логарифм их совместной встречаемости.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6288100"/>
            <a:ext cx="114605" cy="5335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869"/>
              </a:lnSpc>
            </a:pPr>
            <a:r>
              <a:rPr lang="en-US" sz="49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Рекуррентные нейронные сети</a:t>
            </a:r>
            <a:endParaRPr lang="en-US" sz="49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33777"/>
            <a:ext cx="975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Обрабатывают последовательности, где порядок слов имеет значение (RNN, LSTM, Seq2Seq).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12363"/>
            <a:ext cx="853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 (Sequence-to-Sequence) с механизмом Внимания.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33777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12363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181634"/>
            <a:ext cx="10316871" cy="3153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609261"/>
            <a:ext cx="902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 (Sequence-to-Sequence) с механизмом Внимания.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 (Sequence-to-Se...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состоит из энкодера, сжимающего входную последовательность в вектор контекста, и декодера, к...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Внимания (Bahdanau Attention): позволяет декодеру на каждом шаге генерации "смотреть" на все...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2663" y="2217192"/>
            <a:ext cx="10241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587"/>
              </a:lnSpc>
            </a:pPr>
            <a:r>
              <a:rPr lang="en-US" sz="23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состоит из энкодера, сжимающего входную последовательность в вектор контекста, и декодера, который из этого вектора генерирует выходную. Проблема в том, что один вектор контекста - "бутылочное горлышко" для длинных текстов.</a:t>
            </a:r>
            <a:endParaRPr lang="en-US" sz="23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675" y="1722044"/>
            <a:ext cx="10241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Внимания (Bahdanau Attention): позволяет декодеру на каждом шаге генерации "смотреть" на все скрытые состояния кодера, а не только на последнее, решая проблему "забвения".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99897"/>
            <a:ext cx="1024128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Внимания (Bahdanau Attention...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075024"/>
            <a:ext cx="1024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Bahdanau Attention: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6599"/>
              </a:lnSpc>
            </a:pPr>
            <a:r>
              <a:rPr lang="en-US" sz="50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(Query) — запрос (текущее ...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496209"/>
            <a:ext cx="10210800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857251"/>
            <a:ext cx="10316871" cy="20539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3185541"/>
            <a:ext cx="103632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Bahdanau Attention: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(Query) — запрос (текущее состояние декодера). 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K(Keys) и V(Values) - ключи и значения (состояния кодера). Вычисляются "веса внимания" через softmax, которые показывают, на какие части входного предложения нужно обратить внимание при генерации следующего слова. 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d_k - размерность ключей, используется для масштабирования.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8534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99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последовательной разметки (POS-теггинг, NER): однослойный LSTM с CRF на выходе может быть в сотни раз компактнее и быстрее трансформера, работая на CPU в реальном времени.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4169664"/>
            <a:ext cx="1011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сигналов в реальном времени: распознавание речи на устройстве - RNN обрабатывает семпл за семплом, не требуя полного контекста.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5952744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Языковое моделирование на малых масштабах: для генерации текстов в системах с очень ограниченной памятью (микроконтроллеры) используют легковесные LSTM-модели.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6775" y="7735824"/>
            <a:ext cx="963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на сверхмалых данных: когда выборка состоит из сотен примеров, простая рекуррентная сеть может обобщить лучше, чем склонный к переобучению трансформер.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4169665"/>
            <a:ext cx="91440" cy="45742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952745"/>
            <a:ext cx="91440" cy="45742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7735824"/>
            <a:ext cx="91440" cy="4574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Поколение больших язык...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Трансформеры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451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Дообучение (Fine-Tuning)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178" y="857251"/>
            <a:ext cx="7673645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36720" y="5417820"/>
            <a:ext cx="377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Трансформеры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5852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Трансформеры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слой трансформера состоит из двух основных подслоёв с остаточными связями (residual connections...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преимущество - параллельная обработка всей последовательности слов. Трансформер состоит из ко...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343068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Encoder-only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628810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72331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(Full)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343068"/>
            <a:ext cx="114605" cy="53355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6288100"/>
            <a:ext cx="114605" cy="53355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6" y="7233132"/>
            <a:ext cx="114605" cy="53355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8537" y="1722044"/>
            <a:ext cx="10363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слой трансформера состоит из двух основных подслоёв с остаточными связями (residual connections): механизма внимания и полносвязной сети (Feed-Forward Network, FFN).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119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слой трансформ...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Полносвязный слой: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Резидуальный слой: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276649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Внимание - математический механизм, который позволяет модели динамически определять, какие сло...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276649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8819" y="2660905"/>
            <a:ext cx="377952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Полносвязный слой: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26" y="1565682"/>
            <a:ext cx="5690007" cy="37266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792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Полносвязный слой: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нейрон текущего слоя математически связан с каждым нейроном предыдущего слоя, объединяет изв...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97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6023" y="1722044"/>
            <a:ext cx="9753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нейрон текущего слоя математически связан с каждым нейроном предыдущего слоя, объединяет извлеченные признаки для принятия итогового решения.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894969"/>
            <a:ext cx="10316871" cy="41216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5290947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8327" y="2660905"/>
            <a:ext cx="377952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Резидуальный слой: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14" y="1888009"/>
            <a:ext cx="5690007" cy="30826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051"/>
            <a:ext cx="999744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Резидуальный слой: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689022"/>
            <a:ext cx="938784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96"/>
              </a:lnSpc>
            </a:pPr>
            <a:r>
              <a:rPr lang="en-US" sz="34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Отличается наличием «пропускной связи» (skip connection). Она передает входные данные слоя напрямую дальше, позволяя сети избегать проблем с затуханием градиента при обучении.</a:t>
            </a:r>
            <a:endParaRPr lang="en-US" sz="34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110207"/>
            <a:ext cx="9982809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8537" y="1988820"/>
            <a:ext cx="10363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Внимание - математический механизм, который позволяет модели динамически определять, какие слова (или части данных) во входном тексте наиболее важны друг для друга, заставляет фокусироваться на нужном контексте.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Внимание - математическ...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умножает вектор Запроса одного слова на вектор Ключа всех остальных слов. Чем больше полу...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Многоголовое внимание (Multi-Head Attention) - позволяет нейросети разбивать задачу обработки текс...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6288100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Маскированное внимание - алгоритмический фильтр в нейросетях-трансформерах, который принудительно з...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6288100"/>
            <a:ext cx="114605" cy="5335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9987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2624" y="2386584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76"/>
              </a:lnSpc>
            </a:pPr>
            <a:r>
              <a:rPr lang="en-US" sz="265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(Query, Q): То, что слово «спрашивает» или ищет в остальном тексте.</a:t>
            </a:r>
            <a:endParaRPr lang="en-US" sz="26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2624" y="3872712"/>
            <a:ext cx="707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76"/>
              </a:lnSpc>
            </a:pPr>
            <a:r>
              <a:rPr lang="en-US" sz="265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 (Key, K): «Тэг» или категория слова.</a:t>
            </a:r>
            <a:endParaRPr lang="en-US" sz="26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2624" y="4821175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76"/>
              </a:lnSpc>
            </a:pPr>
            <a:r>
              <a:rPr lang="en-US" sz="265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 (Value, V): Изначальный смысл или информация, которую слово передает дальше, если запрос подошел.</a:t>
            </a:r>
            <a:endParaRPr lang="en-US" sz="265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07289" cy="53698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72712"/>
            <a:ext cx="107289" cy="53698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21175"/>
            <a:ext cx="107289" cy="53698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4816" y="2983231"/>
            <a:ext cx="1706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QKV: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87552" y="1728216"/>
            <a:ext cx="609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defTabSz="1219170">
              <a:lnSpc>
                <a:spcPts val="5685"/>
              </a:lnSpc>
            </a:pPr>
            <a:r>
              <a:rPr lang="en-US" sz="40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(Query, Q): То,...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58077" y="3044952"/>
            <a:ext cx="48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69187" y="436168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defTabSz="1219170">
              <a:lnSpc>
                <a:spcPts val="5685"/>
              </a:lnSpc>
            </a:pPr>
            <a:r>
              <a:rPr lang="en-US" sz="40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 (Value, V): ...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2593" y="857251"/>
            <a:ext cx="1087527" cy="25909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2593" y="3429001"/>
            <a:ext cx="1087527" cy="25717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5139" y="2983231"/>
            <a:ext cx="1706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QKV: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146" y="1355142"/>
            <a:ext cx="5690007" cy="41477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045" y="1733016"/>
            <a:ext cx="10363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умножает вектор Запроса одного слова на вектор Ключа всех остальных слов. Чем больше получившееся число, тем сильнее связь (больше вес внимания). Затем эти веса умножаются на Вектор Значений и суммируются - так формируется итоговый результат.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8537" y="1851660"/>
            <a:ext cx="10363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92"/>
              </a:lnSpc>
            </a:pPr>
            <a:r>
              <a:rPr lang="en-US" sz="259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Многоголовое внимание (Multi-Head Attention) - позволяет нейросети разбивать задачу обработки текста на несколько независимых потоков, благодаря этому модель может одновременно фокусироваться на разных типах связей в предложении (например, грамматике, смысле или интонации) для более точного понимания контекста.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9511" y="1748791"/>
            <a:ext cx="1036320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45"/>
              </a:lnSpc>
            </a:pPr>
            <a:r>
              <a:rPr lang="en-US" sz="27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Маскированное внимание - алгоритмический фильтр в нейросетях-трансформерах, который принудительно запрещает модели смотреть в будущее: перед вычислением важности слов алгоритм накладывает математическую «маску» (обнуляет веса) для всех позиций, находящихся справа от текущего слова.</a:t>
            </a:r>
            <a:endParaRPr lang="en-US" sz="27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143" y="2217192"/>
            <a:ext cx="1011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587"/>
              </a:lnSpc>
            </a:pPr>
            <a:r>
              <a:rPr lang="en-US" sz="23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преимущество - параллельная обработка всей последовательности слов. Трансформер состоит из кодера и декодера, но используется по-разному в зависимости от задачи: только кодер (BERT), только декодер (GPT) или и то, и другое (T5).</a:t>
            </a:r>
            <a:endParaRPr lang="en-US" sz="23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876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Encoder-only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5063" y="2386584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энкодер. Анализирует текст в обоих направлениях. Нужен для задач понимания смысла и контекста.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5063" y="3895344"/>
            <a:ext cx="829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(Bidirectional Encoder Representations from Transformers):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5063" y="5404104"/>
            <a:ext cx="390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4"/>
            <a:ext cx="109728" cy="5486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895344"/>
            <a:ext cx="109728" cy="54864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404104"/>
            <a:ext cx="109728" cy="548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5161" y="1412749"/>
            <a:ext cx="3779520" cy="404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(Bidirectional Encoder Representations from Transformers):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69" y="1167233"/>
            <a:ext cx="5690007" cy="45242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(Bidirectional Encod...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только энкодерную часть Трансформера. Это "понимающая" модель, которая анализирует текст...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5754548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6699580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регуляризации: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754548"/>
            <a:ext cx="114605" cy="53355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6" y="6699580"/>
            <a:ext cx="114605" cy="53355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1209" y="1908582"/>
            <a:ext cx="1024128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501"/>
              </a:lnSpc>
            </a:pPr>
            <a:r>
              <a:rPr lang="en-US" sz="321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только энкодерную часть Трансформера. Это "понимающая" модель, которая анализирует текст в обоих направлениях (слева направо и наоборот), что позволяет улавливать полный контекст слова. </a:t>
            </a:r>
            <a:endParaRPr lang="en-US" sz="321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023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Language Model (MLM): 15% слов в тексте случайно заменяются на маску, и модель учится пред...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Sentence Prediction (NSP): Модели даются два предложения, и она учится предсказывать, является л...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343068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Дообучение (Fine-tuning): Предобученный BERT адаптируется под конкретную задачу (например, клас...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343068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3817" y="2336520"/>
            <a:ext cx="963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43"/>
              </a:lnSpc>
            </a:pPr>
            <a:r>
              <a:rPr lang="en-US" sz="2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Language Model (MLM): 15% слов в тексте случайно заменяются на маску, и модель учится предсказывать эти слова по окружающему контексту с обеих сторон.</a:t>
            </a:r>
            <a:endParaRPr lang="en-US" sz="28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0147" y="1722044"/>
            <a:ext cx="9631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Sentence Prediction (NSP): Модели даются два предложения, и она учится предсказывать, является ли второе предложение следующим за первым в исходном тексте.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9977" y="1783080"/>
            <a:ext cx="1011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Дообучение (Fine-tuning): Предобученный BERT адаптируется под конкретную задачу (например, классификацию текста). Для этого над энкодером надстраивается дополнительный классификационный слой, инициализируемый случайно, и вся модель дообучается на целевом датасете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9987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1011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Self-Attention: Это "двунаправленное" внимание, которое не использует маскирования, чтобы токены могли взаимодействовать друг с другом в обе стороны.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4169664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Norm: Остаточная связь (сложение входа и выхода подслоя) и Layer Normalization.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5495316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Network (FFN): Та самая полносвязная сеть, описанная выше.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6775" y="6821653"/>
            <a:ext cx="9387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Norm: Ещё одна операция суммирования и нормализации.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66775" y="7689876"/>
            <a:ext cx="1011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конце стека энкодеров формируется финальное представление для каждого токена, которое уже впитало в себя контекст всего предложения.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4169665"/>
            <a:ext cx="91440" cy="45742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495317"/>
            <a:ext cx="91440" cy="45742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6821653"/>
            <a:ext cx="91440" cy="45742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5" y="7689876"/>
            <a:ext cx="91440" cy="45742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431264"/>
            <a:ext cx="10316871" cy="30483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75465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144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регуляризации: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Dropout: Случайное "выключение" нейронов с вероятностью (обычно p=0.1) во всех слоях: после эмбеддингов, внутри слоя внимания и после FFN.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4169664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Normalization: Стабилизирует и ускоряет обучение, нормализуя активации по размерности скрытого слоя.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4169665"/>
            <a:ext cx="91440" cy="4574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9171" y="2991461"/>
            <a:ext cx="70713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475"/>
              </a:lnSpc>
            </a:pPr>
            <a:r>
              <a:rPr lang="en-US" sz="4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462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84" y="2209649"/>
            <a:ext cx="2438400" cy="2438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8534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текста (анализ тональности, определение тематики).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1011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Извлечение именованных сущностей (NER) - модель определяет, какие слова относятся к именам, локациям, датам и т.п.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876620"/>
            <a:ext cx="999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Извлечение ответов на вопросы (Extractive QA) - предсказывает начальную и конечную позиции ответа в тексте.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7888072"/>
            <a:ext cx="975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поиск и кластеризация - векторы предложений используются для сравнения по смыслу.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876620"/>
            <a:ext cx="114605" cy="53355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7888072"/>
            <a:ext cx="114605" cy="5335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876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декодер. Читает текст слева направо, предсказывая следующее слово. Нужен для генерации.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(Generative Pre-trained Transformer):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1696" y="1892809"/>
            <a:ext cx="36576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(Generative Pre-trained Transformer):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609" y="857251"/>
            <a:ext cx="399288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(Generative Pre-traine...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только декодерную часть Трансформера. Это генерирующая модель. Она читает текст только с...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Обучение: на большом корпусе текстов для предсказания следующего слова. После предобучени...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343068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6288100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72331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обучения: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8177479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Регуляризация: в основе те же механизмы, что и у BERT (Dropout и Layer Normalization), но с поправкой н...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343068"/>
            <a:ext cx="114605" cy="533552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6288100"/>
            <a:ext cx="114605" cy="533552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6" y="7233132"/>
            <a:ext cx="114605" cy="53355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7566" y="8177479"/>
            <a:ext cx="114605" cy="53355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5853" y="1775537"/>
            <a:ext cx="1036320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96"/>
              </a:lnSpc>
            </a:pPr>
            <a:r>
              <a:rPr lang="en-US" sz="349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только декодерную часть Трансформера. Это генерирующая модель. Она читает текст только слева направо и учится предсказывать следующее слово в последовательности (авторегрессивно).</a:t>
            </a:r>
            <a:endParaRPr lang="en-US" sz="349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1689" y="1962074"/>
            <a:ext cx="10241280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343"/>
              </a:lnSpc>
            </a:pPr>
            <a:r>
              <a:rPr lang="en-US" sz="310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Обучение: на большом корпусе текстов для предсказания следующего слова. После предобучения модель можно дообучить (fine-tune) на конкретной задаче, добавив небольшой слой сверху, без изменения всей архитектуры.</a:t>
            </a:r>
            <a:endParaRPr lang="en-US" sz="3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9987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9213" y="2386584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Multi-Head Self-Attention: Ключевое отличие от BERT! Используется каузальная (треугольная) маска, которая запрещает ...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9213" y="3735553"/>
            <a:ext cx="463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Norm: Аналогично BERT.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9213" y="4615434"/>
            <a:ext cx="7071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Network (FFN): Стандартный блок.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9213" y="5495317"/>
            <a:ext cx="463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Norm: Аналогично BERT.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5"/>
            <a:ext cx="93879" cy="468401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735553"/>
            <a:ext cx="93879" cy="46840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615434"/>
            <a:ext cx="93879" cy="46840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495317"/>
            <a:ext cx="93879" cy="4684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775537"/>
            <a:ext cx="1036320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96"/>
              </a:lnSpc>
            </a:pPr>
            <a:r>
              <a:rPr lang="en-US" sz="349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Multi-Head Self-Attention: Ключевое отличие от BERT! Используется каузальная (треугольная) маска, которая запрещает токену "смотреть" на будущие токены, обеспечивая авторегрессионное свойство.</a:t>
            </a:r>
            <a:endParaRPr lang="en-US" sz="349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529335"/>
            <a:ext cx="10316871" cy="2853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656583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7071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обучения: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Предобучение (Pre-training): Задача - Causal Language Modeling (CLM). Модель обучается предсказывать сле...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потерь (Loss Function): Используется кросс-энтропия (cross-entropy loss). Она измеряет разницу м...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" y="1722044"/>
            <a:ext cx="10119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Предобучение (Pre-training): Задача - Causal Language Modeling (CLM). Модель обучается предсказывать следующий токен в последовательности, получая на каждом шаге весь предыдущий контекст.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5347" y="1908582"/>
            <a:ext cx="1024128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501"/>
              </a:lnSpc>
            </a:pPr>
            <a:r>
              <a:rPr lang="en-US" sz="321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потерь (Loss Function): Используется кросс-энтропия (cross-entropy loss). Она измеряет разницу между предсказанным моделью распределением вероятностей и истинным следующим словом.</a:t>
            </a:r>
            <a:endParaRPr lang="en-US" sz="321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043102"/>
            <a:ext cx="987552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потерь (Loss Function): Ис...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118915"/>
            <a:ext cx="1024128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Кросс-энтропия (перекрёстная энтропия) - измеряет расхождение между истинным распределением меток и предсказанным распределением вероятностей.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539414"/>
            <a:ext cx="1021811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45" y="857251"/>
            <a:ext cx="7620000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0045" y="5417820"/>
            <a:ext cx="8778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Кросс-энтропия (перекрёстная энтропия) - измеряет расхождение между истинным распределением меток и предсказанным распределением вероятностей.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6333" y="1829029"/>
            <a:ext cx="1024128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Регуляризация: в основе те же механизмы, что и у BERT (Dropout и Layer Normalization), но с поправкой на архитектуру. В современных LLM также активно применяется Weight Decay (L2-регуляризация), которая добавляет штраф за большие значения весов и предотвращает переобучение (L1 - зануляет).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9171" y="2991461"/>
            <a:ext cx="70713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475"/>
              </a:lnSpc>
            </a:pPr>
            <a:r>
              <a:rPr lang="en-US" sz="4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462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84" y="2189761"/>
            <a:ext cx="2438400" cy="2479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8534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597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Диалоговые системы и чат-боты.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текстов (статьи, отчёты, презентации, посты и т.д.).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Завершение кода (Code Completion и Inline Code Completion), автодополнение строки или метода.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6288100"/>
            <a:ext cx="999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логических задач (Reasoning-задачи, Chain-of-Thought), когда модель рассуждает «вслух» шаг за шагом.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6288100"/>
            <a:ext cx="114605" cy="5335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8412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(Full)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99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энкодер, и декодер. Кодер читает вход, декодер пишет выход. Стандарт для задач трансформации последовательностей (seq2seq).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3712237"/>
            <a:ext cx="5242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(Text-to-Text Transfer Transformer):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4581145"/>
            <a:ext cx="3291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712237"/>
            <a:ext cx="91440" cy="4574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4581145"/>
            <a:ext cx="91440" cy="4574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0259" y="2276856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(Text-to-Text Transfer Transformer):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6" y="1604087"/>
            <a:ext cx="5690007" cy="36498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(Text-to-Text Transfer Tr...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9213" y="2386584"/>
            <a:ext cx="926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Унифицированная модель, которая приводит все NLP-задачи к формату "текст-в-текст".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9213" y="3735553"/>
            <a:ext cx="1950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9213" y="4615434"/>
            <a:ext cx="4023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9213" y="5495317"/>
            <a:ext cx="2682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обучения: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5"/>
            <a:ext cx="93879" cy="468401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735553"/>
            <a:ext cx="93879" cy="46840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615434"/>
            <a:ext cx="93879" cy="46840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495317"/>
            <a:ext cx="93879" cy="4684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9987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Энкодер: Полностью идентичен BERT. Это стек блоков с обычным, двунаправленным вниманием.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Декодер: Аналогичен GPT, но с одной важной добавкой. Это стек блоков, каждый из которых содержит маскир...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343068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Embeddings: Использует относительное позиционное кодирование, где к матрице внимания до...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343068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195" y="1783080"/>
            <a:ext cx="1036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Декодер: Аналогичен GPT, но с одной важной добавкой. Это стек блоков, каждый из которых содержит маскированное самовнимание (как у GPT), а после него - блок перекрестного внимания (Cross-Attention), который позволяет декодеру "подсматривать" в выход энкодера на каждом шаге генерации.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387" y="1748791"/>
            <a:ext cx="1036320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Embeddings: Использует относительное позиционное кодирование, где к матрице внимания добавляется обучаемое смещение в зависимости от расстояния между токенами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865377"/>
            <a:ext cx="10316871" cy="21808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3205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737"/>
            <a:ext cx="67056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37864"/>
            <a:ext cx="9875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Relative Positional Embeddings): вместо абсолютных синусоидальных эмбеддингов T5 добавляет скалярный вес к логитам внимания, что улучшает обработку длинных последовательностей.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359049"/>
            <a:ext cx="976091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7071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обучения: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Предобучение: Использует задачу Span Corruption ("порча отрезков") - продвинутый вариант MLM. Из текста удаляются целые отрезки токе...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3712236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Адаптация под задачи: T5 не требует архитектурных изменений. Для любой задачи (перевод, суммаризация) на вход просто подается тек...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5038572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регуляризации: T5 использует те же механизмы, что и BERT/GPT (Dropout, Layer Normalization, Weight Decay). Уникальной ...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712237"/>
            <a:ext cx="91440" cy="4574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038573"/>
            <a:ext cx="91440" cy="4574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988820"/>
            <a:ext cx="10363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Предобучение: Использует задачу Span Corruption ("порча отрезков") - продвинутый вариант MLM. Из текста удаляются целые отрезки токенов, и модель учится восстанавливать их как единую последовательность.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703" y="1962074"/>
            <a:ext cx="10363200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343"/>
              </a:lnSpc>
            </a:pPr>
            <a:r>
              <a:rPr lang="en-US" sz="310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Адаптация под задачи: T5 не требует архитектурных изменений. Для любой задачи (перевод, суммаризация) на вход просто подается текст с префиксом (например, summarize), и модель генерирует ответ как текст.</a:t>
            </a:r>
            <a:endParaRPr lang="en-US" sz="3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1209" y="1817371"/>
            <a:ext cx="1024128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76"/>
              </a:lnSpc>
            </a:pPr>
            <a:r>
              <a:rPr lang="en-US" sz="265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регуляризации: T5 использует те же механизмы, что и BERT/GPT (Dropout, Layer Normalization, Weight Decay). Уникальной особенностью является применение label smoothing в функции потерь (сглаживание "истинных" меток), чтобы модель не становилась слишком самоуверенной в своих предсказаниях.</a:t>
            </a:r>
            <a:endParaRPr lang="en-US" sz="26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9171" y="2991461"/>
            <a:ext cx="70713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475"/>
              </a:lnSpc>
            </a:pPr>
            <a:r>
              <a:rPr lang="en-US" sz="4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462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84" y="2209649"/>
            <a:ext cx="2438400" cy="2438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8534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Выполняемые задачи: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5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Машинный перевод.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3255493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Суммаризация (сжатое переложение длинного текста).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4123717"/>
            <a:ext cx="9997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Трансформация стиля текста (переписывание текста в другом стиле).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6775" y="4992624"/>
            <a:ext cx="938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Text-to-SQL, Text-to-Code и другие преобразования естественного текстового запроса в формализованный текст. 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255493"/>
            <a:ext cx="91440" cy="45742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4123717"/>
            <a:ext cx="91440" cy="45742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4992625"/>
            <a:ext cx="91440" cy="4574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3904" y="2660905"/>
            <a:ext cx="35356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Дообучение (Fine-Tuning)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91" y="1818742"/>
            <a:ext cx="5690007" cy="32198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631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Дообучение (Fine-Tuning)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353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Fine-Tuning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682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Parameter-Efficient Fine-Tuning (PEFT)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276649"/>
            <a:ext cx="682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 (aka Continuous Pre-training)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276649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051"/>
            <a:ext cx="963168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Fine-Tuning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689022"/>
            <a:ext cx="975360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96"/>
              </a:lnSpc>
            </a:pPr>
            <a:r>
              <a:rPr lang="en-US" sz="34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Классический подход, при котором все веса предобученной модели обновляются на целевом наборе данных. Дает хорошие результаты, но требует больших вычислительных ресурсов и памяти.</a:t>
            </a:r>
            <a:endParaRPr lang="en-US" sz="34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110207"/>
            <a:ext cx="968532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Parameter-Efficient Fine-T...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02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методов, позволяющих адаптировать LLM, дообучая лишь долю от исходных параметров.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(Low-Rank Adaptation)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452524"/>
            <a:ext cx="10316871" cy="30065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733392"/>
            <a:ext cx="670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(Low-Rank Adaptation)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6851"/>
            <a:ext cx="780288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(Low-Rank Adaptation)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42664"/>
            <a:ext cx="10241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из самых популярных методов PEFT. В его основе лежит идея низкоранговой декомпозиции.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363163"/>
            <a:ext cx="1020348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068477"/>
            <a:ext cx="987552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 (aka Continuous Pre-trai...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143604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045"/>
              </a:lnSpc>
            </a:pPr>
            <a:r>
              <a:rPr lang="en-US" sz="20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продолжения обучения LLM на новых, часто узкоспециализированных данных (медицинских, юридических). В отличие от fine-tuning, здесь не меняется "поведение" модели под конкретную инструкцию, а расширяется её фундаментальное понимание предметной области.</a:t>
            </a:r>
            <a:endParaRPr lang="en-US" sz="203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564789"/>
            <a:ext cx="1018763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Модификация языковых 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9213" y="2386585"/>
            <a:ext cx="5242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аугментации данных в NLP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9213" y="3266466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Промпт-инжиниринг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9213" y="4147033"/>
            <a:ext cx="5608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(Retrieval-Augmented Generation)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9213" y="5026915"/>
            <a:ext cx="999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с подкреплением на основе человеческой обратной связи - RLHF (Reinforcement Learning from Human Feedback)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5"/>
            <a:ext cx="93879" cy="468401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266466"/>
            <a:ext cx="93879" cy="46840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147033"/>
            <a:ext cx="93879" cy="46840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026916"/>
            <a:ext cx="93879" cy="4684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аугментации дан...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Замена слов на синонимы (с использованием WordNet или BERT), случайная вставка, удаление или перестановка слов. Это повышает устойчивость модели к опечаткам и разным формулировкам.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4169664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Обратный перевод (Back-translation): Текст переводится на иностранный язык, а затем обратно на исходный. Это создает семан...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5495316"/>
            <a:ext cx="1011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данных: Использование более слабых моделей или самого LLM для создания дополнительных обучающих примеров для целевого домена.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4169665"/>
            <a:ext cx="91440" cy="4574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495317"/>
            <a:ext cx="91440" cy="4574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1689" y="1935328"/>
            <a:ext cx="10241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421"/>
              </a:lnSpc>
            </a:pPr>
            <a:r>
              <a:rPr lang="en-US" sz="315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Обратный перевод (Back-translation): Текст переводится на иностранный язык, а затем обратно на исходный. Это создает семантически идентичный, но грамматически и лексически разнообразный текст ("парафраз").</a:t>
            </a:r>
            <a:endParaRPr lang="en-US" sz="315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128827"/>
            <a:ext cx="97536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Промпт-инжиниринг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955799"/>
            <a:ext cx="1024128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05"/>
              </a:lnSpc>
            </a:pPr>
            <a:r>
              <a:rPr lang="en-US" sz="29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Engineering: Искусство составления инструкций (промптов) для LLM, чтобы получить желаемый ответ без изменения весов модели. Включает few-shot (несколько примеров в промпте) и chain-of-thought (побуждение модели рассуждать "шаг за шагом").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76983"/>
            <a:ext cx="10210800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(Retrieval-Augmente...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Фреймворк, который подключает LLM к внешнему хранилищу знаний (базе данных, корпусу документов)...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6333" y="1628775"/>
            <a:ext cx="10241280" cy="3634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Фреймворк, который подключает LLM к внешнему хранилищу знаний (базе данных, корпусу документов). При получении запроса RAG сначала ищет релевантные документы, а затем передает их вместе с запросом в LLM. Это позволяет модели давать ответы, основанные на фактах, не раздувая её размер и решая проблему "галлюцинаций"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3901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Пользовательский запрос подается в компонент-ретривер.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890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Ретривер ищет во внешней базе знаний наиболее релевантные фрагменты.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34306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Найденные фрагменты и исходный запрос объединяются в расширенный промпт.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6821652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генерирует ответ, опираясь на предоставленный контекст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343068"/>
            <a:ext cx="114605" cy="53355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6821652"/>
            <a:ext cx="114605" cy="5335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119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с подкреплени...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38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Трехэтапный метод тонкой настройки для согласования модели с человеческими предпочтениями (полезность, честность, безвредность)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4169664"/>
            <a:ext cx="975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Fine-Tuning (SFT): Модель дообучается на качественных ответах, написанных людьми.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5495316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модели вознаграждения (Reward Model): Генерируется несколько ответов модели на один промпт. Люди ранжируют их от лу...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6775" y="6821652"/>
            <a:ext cx="963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Proximal Policy Optimization (PPO): Основная LLM оптимизируется с помощью алгоритма PPO так, чтобы генерировать ответы, максимизирующие вознаграждение от модели из п.2.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4169665"/>
            <a:ext cx="91440" cy="45742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495317"/>
            <a:ext cx="91440" cy="45742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6821653"/>
            <a:ext cx="91440" cy="4574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703" y="1733016"/>
            <a:ext cx="10363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модели вознаграждения (Reward Model): Генерируется несколько ответов модели на один промпт. Люди ранжируют их от лучшего к худшему. На этих данных учится отдельная модель, предсказывающая "вознаграждение" (рейтинг) для ответа.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12557" y="1722044"/>
            <a:ext cx="2560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оценки качества языковых моделей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63" y="1337312"/>
            <a:ext cx="5690007" cy="4184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оценки качества...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Стандартные метрики классификации: Accuracy, Precision, Recall, F1 и т.п. (требуют эталонной разметки класса ответа).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4398036"/>
            <a:ext cx="121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343068"/>
            <a:ext cx="524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(Перплексия, PPL):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6288100"/>
            <a:ext cx="682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(Bilingual Evaluation Understudy)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7233132"/>
            <a:ext cx="207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BERTScore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4398036"/>
            <a:ext cx="114605" cy="533552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343068"/>
            <a:ext cx="114605" cy="53355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6288100"/>
            <a:ext cx="114605" cy="53355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6" y="7233132"/>
            <a:ext cx="114605" cy="53355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86" y="857251"/>
            <a:ext cx="8716061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9485" y="5417820"/>
            <a:ext cx="10119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Стандартные метрики классификации: Accuracy, Precision, Recall, F1 и т.п. (требуют эталонной разметки класса ответа).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279" y="857251"/>
            <a:ext cx="8652663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0" y="5417820"/>
            <a:ext cx="158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72338"/>
            <a:ext cx="30480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699995"/>
            <a:ext cx="9753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080"/>
              </a:lnSpc>
            </a:pPr>
            <a:r>
              <a:rPr lang="en-US" sz="434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Оценивает важность слова в контексте конкретного документа относительно целой коллекции или корпуса текстов.</a:t>
            </a:r>
            <a:endParaRPr lang="en-US" sz="434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120494"/>
            <a:ext cx="968532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2256969"/>
            <a:ext cx="10316871" cy="1397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392894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(Перплексия, PPL):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818"/>
              </a:lnSpc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(Перплексия, PPL):</a:t>
            </a:r>
            <a:endParaRPr lang="en-US" sz="52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0185" y="2326920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92"/>
              </a:lnSpc>
            </a:pPr>
            <a:r>
              <a:rPr lang="en-US" sz="259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Экспонента от средней кросс-энтропии. Измеряет, насколько хорошо модель предсказывает следующий токен.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0185" y="3790416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92"/>
              </a:lnSpc>
            </a:pPr>
            <a:r>
              <a:rPr lang="en-US" sz="259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3892"/>
              </a:lnSpc>
            </a:pPr>
            <a:r>
              <a:rPr lang="en-US" sz="259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pθ(w_i∣w&lt;i) - вероятность, которую модель присвоила прав...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26920"/>
            <a:ext cx="104851" cy="52600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790416"/>
            <a:ext cx="104851" cy="5260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525" y="1775537"/>
            <a:ext cx="1024128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96"/>
              </a:lnSpc>
            </a:pPr>
            <a:r>
              <a:rPr lang="en-US" sz="349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349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4896"/>
              </a:lnSpc>
            </a:pPr>
            <a:r>
              <a:rPr lang="en-US" sz="349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pθ(w_i∣w&lt;i) - вероятность, которую модель присвоила правильному слову w_i.</a:t>
            </a:r>
            <a:endParaRPr lang="en-US" sz="349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4896"/>
              </a:lnSpc>
            </a:pPr>
            <a:r>
              <a:rPr lang="en-US" sz="349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P.S.: Чем ниже перплексия, тем лучше модель предсказывает текст.</a:t>
            </a:r>
            <a:endParaRPr lang="en-US" sz="349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957274"/>
            <a:ext cx="10316871" cy="19970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228643"/>
            <a:ext cx="926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(Bilingual Evaluation Understudy)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(Bilingual Evaluatio...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72871" y="2386585"/>
            <a:ext cx="5608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637"/>
              </a:lnSpc>
            </a:pPr>
            <a:r>
              <a:rPr lang="en-US" sz="2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425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3637"/>
              </a:lnSpc>
            </a:pPr>
            <a:r>
              <a:rPr lang="en-US" sz="2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- максимальная длина n-грамм; ...</a:t>
            </a:r>
            <a:endParaRPr lang="en-US" sz="2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72871" y="3780817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637"/>
              </a:lnSpc>
            </a:pPr>
            <a:r>
              <a:rPr lang="en-US" sz="2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Оценивает качество машинного перевода, сравнивая машинный перевод с одним или несколькими эталонными человеческими ...</a:t>
            </a:r>
            <a:endParaRPr lang="en-US" sz="2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72871" y="5175732"/>
            <a:ext cx="1011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637"/>
              </a:lnSpc>
            </a:pPr>
            <a:r>
              <a:rPr lang="en-US" sz="2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METEOR (Metric for Evaluation of Translation with Explicit ORdering)</a:t>
            </a:r>
            <a:endParaRPr lang="en-US" sz="242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8755" cy="49171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780817"/>
            <a:ext cx="98755" cy="491719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175733"/>
            <a:ext cx="98755" cy="4917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7773" y="1733016"/>
            <a:ext cx="10119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- максимальная длина n-грамм; 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w_{n} - веса для каждой n-граммы. 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P.S.: в базовой реализации они равны друг другу, например: w_n = 1/N (для N=4) вес каждой составляет 0.25.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737"/>
            <a:ext cx="1024128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- максимальная д...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37864"/>
            <a:ext cx="1036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045"/>
              </a:lnSpc>
            </a:pPr>
            <a:r>
              <a:rPr lang="en-US" sz="20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Модифицированная точность n-грамм (p_n) - определяет долю n-грамм (последовательностей из n слов), которые присутствуют как в тексте-кандидате, так и в эталоне, чтобы избежать завышения оценки из-за повторения одного и того же слова, количество совпадений ограничивается максимальным числом вхождений этого слова в эталон.</a:t>
            </a:r>
            <a:endParaRPr lang="en-US" sz="203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359049"/>
            <a:ext cx="10302240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2459965"/>
            <a:ext cx="103632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587"/>
              </a:lnSpc>
            </a:pPr>
            <a:r>
              <a:rPr lang="en-US" sz="23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Оценивает качество машинного перевода, сравнивая машинный перевод с одним или несколькими эталонными человеческими переводами на основе точности n-грамм. Имеет штраф за слишком короткие переводы (brevity penalty)</a:t>
            </a:r>
            <a:endParaRPr lang="en-US" sz="23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119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Оценивает качество маш...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719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Штраф за краткость (Brevity Penalty, BP)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делит текст на «n-граммы» - последовательности из n слов. Он проверяет совпаде...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628775"/>
            <a:ext cx="10316871" cy="26547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557141"/>
            <a:ext cx="975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Штраф за краткость (Brevity Penalty, BP)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737"/>
            <a:ext cx="97536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Штраф за краткость (Brevity Penalty, BP)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37864"/>
            <a:ext cx="9875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3807"/>
              </a:lnSpc>
            </a:pPr>
            <a:r>
              <a:rPr lang="en-US" sz="253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- длина переведенного текста (количество слов в гипотезе);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3807"/>
              </a:lnSpc>
            </a:pPr>
            <a:r>
              <a:rPr lang="en-US" sz="253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- эффективная длина эталонного текста (длина наиболее близкого по длине эталона).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359049"/>
            <a:ext cx="983772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880" y="1851660"/>
            <a:ext cx="10363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92"/>
              </a:lnSpc>
            </a:pPr>
            <a:r>
              <a:rPr lang="en-US" sz="259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делит текст на «n-граммы» - последовательности из n слов. Он проверяет совпадения по словам (1-граммы), по парам слов (2-граммы) и более длинным фразам, рассчитывая Precision (какая доля слов и фраз из машинного перевода присутствует в эталонном тексте). Выражается в числе от 0 до 1 (иногда от 0 до 100).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507" y="857251"/>
            <a:ext cx="7224979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43507" y="54178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METEOR (Metric for Evaluation of Translation with Explicit ORdering)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95097"/>
            <a:ext cx="999744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METEOR (Metric for Evaluation of Transl...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070910"/>
            <a:ext cx="10241280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421"/>
              </a:lnSpc>
            </a:pPr>
            <a:r>
              <a:rPr lang="en-US" sz="315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Улучшенная версия BLEU, которая дополнительно учитывает синонимы, морфологию и порядок слов. Лучше коррелирует с человеческими суждениями.</a:t>
            </a:r>
            <a:endParaRPr lang="en-US" sz="315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491409"/>
            <a:ext cx="10210800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7847" y="2983231"/>
            <a:ext cx="37795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BERTScore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1829029"/>
            <a:ext cx="5690007" cy="3200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267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BERTScore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38605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n-грамм сравнивает контекстные эмбеддинги слов из модели BERT, что позволяет оценивать семан...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1" y="2462709"/>
            <a:ext cx="381609" cy="3813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865169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4675" y="1628775"/>
            <a:ext cx="9753600" cy="3634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n-грамм сравнивает контекстные эмбеддинги слов из модели BERT, что позволяет оценивать семантическое сходство, а не просто лексические совпадения. Выполняет вычисления сходства с использованием контекстуализированных векторных представлений токенов, которые эффективны для обнаружения логического следования.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5529" y="1714501"/>
            <a:ext cx="342595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3901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Контекстные векторные представления: эталоны и кандидаты представляются с использованием контекс...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Косинусное сходство: между контекстными векторными представлениями эталонного и потенциального предл...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343068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Сопоставление токенов для точности и полноты: каждый токен в предложении-кандидате сопоставляет...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6821652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Взвешивание по важности: важность редких слов учитывается с помощью обратной частоты документа 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8299552"/>
            <a:ext cx="975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Базовое масштабирование: значения BERTScore масштабируются линейно для улучшения читаемости.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343068"/>
            <a:ext cx="114605" cy="53355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6821652"/>
            <a:ext cx="114605" cy="53355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6" y="8299552"/>
            <a:ext cx="114605" cy="53355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" y="1733016"/>
            <a:ext cx="10119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Контекстные векторные представления: эталоны и кандидаты представляются с использованием контекстных векторных представлений, основанных на окружающих словах, вычисленных такими моделями, как BERT, Roberta, XLNET и XLM.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8537" y="1722044"/>
            <a:ext cx="10363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Косинусное сходство: между контекстными векторными представлениями эталонного и потенциального предложений измеряется с помощью косинусного сходства.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937" y="1733016"/>
            <a:ext cx="9997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Сопоставление токенов для точности и полноты: каждый токен в предложении-кандидате сопоставляется с наиболее похожим токеном в эталонном предложении и наоборот, чтобы вычислить полноту и точность, которые затем объединяются для расчета показателя F1.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387" y="1962074"/>
            <a:ext cx="10363200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343"/>
              </a:lnSpc>
            </a:pPr>
            <a:r>
              <a:rPr lang="en-US" sz="310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Взвешивание по важности: важность редких слов учитывается с помощью обратной частоты документа (IDF), которая может быть включена в уравнения BERTScore, хотя это необязательно и зависит от предметной области.</a:t>
            </a:r>
            <a:endParaRPr lang="en-US" sz="3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4633</Words>
  <Application>Microsoft Office PowerPoint</Application>
  <PresentationFormat>Широкоэкранный</PresentationFormat>
  <Paragraphs>598</Paragraphs>
  <Slides>136</Slides>
  <Notes>136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136</vt:i4>
      </vt:variant>
    </vt:vector>
  </HeadingPairs>
  <TitlesOfParts>
    <vt:vector size="141" baseType="lpstr">
      <vt:lpstr>Arial</vt:lpstr>
      <vt:lpstr>Calibri</vt:lpstr>
      <vt:lpstr>Calibri Light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Владислав Холмогоров</dc:creator>
  <cp:lastModifiedBy>Владислав Холмогоров</cp:lastModifiedBy>
  <cp:revision>1</cp:revision>
  <dcterms:created xsi:type="dcterms:W3CDTF">2026-06-16T10:46:32Z</dcterms:created>
  <dcterms:modified xsi:type="dcterms:W3CDTF">2026-06-16T10:48:36Z</dcterms:modified>
</cp:coreProperties>
</file>
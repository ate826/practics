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5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29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0.pn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34.png"/><Relationship Id="rId7" Type="http://schemas.openxmlformats.org/officeDocument/2006/relationships/image" Target="../media/image46.sv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11" Type="http://schemas.openxmlformats.org/officeDocument/2006/relationships/image" Target="../media/image1.png"/><Relationship Id="rId5" Type="http://schemas.openxmlformats.org/officeDocument/2006/relationships/image" Target="../media/image44.svg"/><Relationship Id="rId10" Type="http://schemas.openxmlformats.org/officeDocument/2006/relationships/image" Target="../media/image49.svg"/><Relationship Id="rId4" Type="http://schemas.openxmlformats.org/officeDocument/2006/relationships/image" Target="../media/image35.svg"/><Relationship Id="rId9" Type="http://schemas.openxmlformats.org/officeDocument/2006/relationships/image" Target="../media/image4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10" Type="http://schemas.openxmlformats.org/officeDocument/2006/relationships/image" Target="../media/image2.svg"/><Relationship Id="rId4" Type="http://schemas.openxmlformats.org/officeDocument/2006/relationships/image" Target="../media/image51.svg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6.svg"/><Relationship Id="rId4" Type="http://schemas.openxmlformats.org/officeDocument/2006/relationships/image" Target="../media/image5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svg"/><Relationship Id="rId11" Type="http://schemas.openxmlformats.org/officeDocument/2006/relationships/image" Target="../media/image2.svg"/><Relationship Id="rId5" Type="http://schemas.openxmlformats.org/officeDocument/2006/relationships/image" Target="../media/image52.svg"/><Relationship Id="rId10" Type="http://schemas.openxmlformats.org/officeDocument/2006/relationships/image" Target="../media/image1.png"/><Relationship Id="rId4" Type="http://schemas.openxmlformats.org/officeDocument/2006/relationships/image" Target="../media/image51.svg"/><Relationship Id="rId9" Type="http://schemas.openxmlformats.org/officeDocument/2006/relationships/image" Target="../media/image59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0.pn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Relationship Id="rId9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2.svg"/><Relationship Id="rId3" Type="http://schemas.openxmlformats.org/officeDocument/2006/relationships/image" Target="../media/image50.png"/><Relationship Id="rId7" Type="http://schemas.openxmlformats.org/officeDocument/2006/relationships/image" Target="../media/image54.sv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68.svg"/><Relationship Id="rId5" Type="http://schemas.openxmlformats.org/officeDocument/2006/relationships/image" Target="../media/image52.svg"/><Relationship Id="rId10" Type="http://schemas.openxmlformats.org/officeDocument/2006/relationships/image" Target="../media/image67.svg"/><Relationship Id="rId4" Type="http://schemas.openxmlformats.org/officeDocument/2006/relationships/image" Target="../media/image51.svg"/><Relationship Id="rId9" Type="http://schemas.openxmlformats.org/officeDocument/2006/relationships/image" Target="../media/image6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1867605"/>
            <a:ext cx="76809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5211"/>
              </a:lnSpc>
              <a:buNone/>
            </a:pP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</a:t>
            </a:r>
            <a:r>
              <a:rPr lang="en-US" sz="3722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интеллектуальные</a:t>
            </a: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722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r>
              <a:rPr lang="ru-RU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лекция 1</a:t>
            </a:r>
            <a:endParaRPr lang="en-US" sz="372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907" y="2070259"/>
            <a:ext cx="2011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571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034" y="2231765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034"/>
              </a:lnSpc>
              <a:buNone/>
            </a:pPr>
            <a:r>
              <a:rPr lang="en-US" sz="35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Подготовка данных и модели</a:t>
            </a:r>
            <a:endParaRPr lang="en-US" sz="359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1806397"/>
            <a:ext cx="7772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64"/>
              </a:lnSpc>
              <a:buNone/>
            </a:pPr>
            <a:r>
              <a:rPr lang="en-US" sz="43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Генеративные свойства дискриминативных ИА</a:t>
            </a:r>
            <a:endParaRPr lang="en-US" sz="4357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7163" y="1769364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Обзор современных генеративных ИА</a:t>
            </a:r>
            <a:endParaRPr lang="en-US" sz="4568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2255939"/>
            <a:ext cx="7772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678"/>
              </a:lnSpc>
              <a:buNone/>
            </a:pPr>
            <a:r>
              <a:rPr lang="en-US" sz="33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Классические генеративные ИА</a:t>
            </a:r>
            <a:endParaRPr lang="en-US" sz="3342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59540"/>
            <a:ext cx="76809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619"/>
              </a:lnSpc>
              <a:buNone/>
            </a:pPr>
            <a:r>
              <a:rPr lang="en-US" sz="32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Модели генерация изображений</a:t>
            </a:r>
            <a:endParaRPr lang="en-US" sz="3299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50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Модели генерации текста</a:t>
            </a:r>
            <a:endParaRPr lang="en-US" sz="4103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" y="2070259"/>
            <a:ext cx="7223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Генерация звука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1873263"/>
            <a:ext cx="77724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69"/>
              </a:lnSpc>
              <a:buNone/>
            </a:pPr>
            <a:r>
              <a:rPr lang="en-US" sz="39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Другие интеллектуальные алгоритмы.</a:t>
            </a:r>
            <a:endParaRPr lang="en-US" sz="397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3657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547" y="1707642"/>
            <a:ext cx="292608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интеллектуа...</a:t>
            </a:r>
            <a:endParaRPr lang="en-US" sz="3046" dirty="0"/>
          </a:p>
        </p:txBody>
      </p:sp>
      <p:sp>
        <p:nvSpPr>
          <p:cNvPr id="3" name="Text 1"/>
          <p:cNvSpPr/>
          <p:nvPr/>
        </p:nvSpPr>
        <p:spPr>
          <a:xfrm>
            <a:off x="4595774" y="781812"/>
            <a:ext cx="24688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 ИИ</a:t>
            </a:r>
            <a:endParaRPr lang="en-US" sz="2284" dirty="0"/>
          </a:p>
        </p:txBody>
      </p:sp>
      <p:sp>
        <p:nvSpPr>
          <p:cNvPr id="4" name="Text 2"/>
          <p:cNvSpPr/>
          <p:nvPr/>
        </p:nvSpPr>
        <p:spPr>
          <a:xfrm>
            <a:off x="6110021" y="3497580"/>
            <a:ext cx="24688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дис...</a:t>
            </a:r>
            <a:endParaRPr lang="en-US" sz="2284" dirty="0"/>
          </a:p>
        </p:txBody>
      </p:sp>
      <p:sp>
        <p:nvSpPr>
          <p:cNvPr id="5" name="Text 3"/>
          <p:cNvSpPr/>
          <p:nvPr/>
        </p:nvSpPr>
        <p:spPr>
          <a:xfrm>
            <a:off x="7715707" y="781812"/>
            <a:ext cx="237744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генеративные ...</a:t>
            </a:r>
            <a:endParaRPr lang="en-US" sz="2284" dirty="0"/>
          </a:p>
        </p:txBody>
      </p:sp>
      <p:sp>
        <p:nvSpPr>
          <p:cNvPr id="6" name="Text 4"/>
          <p:cNvSpPr/>
          <p:nvPr/>
        </p:nvSpPr>
        <p:spPr>
          <a:xfrm>
            <a:off x="9190634" y="3497580"/>
            <a:ext cx="256032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искусственные ...</a:t>
            </a:r>
            <a:endParaRPr lang="en-US" sz="2284" dirty="0"/>
          </a:p>
        </p:txBody>
      </p:sp>
      <p:sp>
        <p:nvSpPr>
          <p:cNvPr id="7" name="Text 5"/>
          <p:cNvSpPr/>
          <p:nvPr/>
        </p:nvSpPr>
        <p:spPr>
          <a:xfrm>
            <a:off x="10762488" y="781812"/>
            <a:ext cx="24688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разделы искусственного...</a:t>
            </a:r>
            <a:endParaRPr lang="en-US" sz="2284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981" y="1748790"/>
            <a:ext cx="22860" cy="8229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3488" y="2571750"/>
            <a:ext cx="22860" cy="82296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7968" y="1748790"/>
            <a:ext cx="22860" cy="82296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0561" y="2571750"/>
            <a:ext cx="22860" cy="82296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5041" y="1748790"/>
            <a:ext cx="22860" cy="82296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44261" y="2514657"/>
            <a:ext cx="114300" cy="114186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87768" y="2514657"/>
            <a:ext cx="114300" cy="114186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42248" y="2514657"/>
            <a:ext cx="114300" cy="114186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84841" y="2514657"/>
            <a:ext cx="114300" cy="114186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39321" y="2514657"/>
            <a:ext cx="114300" cy="114186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34994" y="2554776"/>
            <a:ext cx="11504066" cy="344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50221"/>
            <a:ext cx="74066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типо...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8041234" y="10474223"/>
            <a:ext cx="73152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дискри...</a:t>
            </a:r>
            <a:endParaRPr lang="en-US" sz="3807" dirty="0"/>
          </a:p>
        </p:txBody>
      </p:sp>
      <p:sp>
        <p:nvSpPr>
          <p:cNvPr id="4" name="Text 2"/>
          <p:cNvSpPr/>
          <p:nvPr/>
        </p:nvSpPr>
        <p:spPr>
          <a:xfrm>
            <a:off x="18328234" y="850221"/>
            <a:ext cx="70408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генеративн...</a:t>
            </a:r>
            <a:endParaRPr lang="en-US" sz="3807" dirty="0"/>
          </a:p>
        </p:txBody>
      </p:sp>
      <p:sp>
        <p:nvSpPr>
          <p:cNvPr id="5" name="Text 3"/>
          <p:cNvSpPr/>
          <p:nvPr/>
        </p:nvSpPr>
        <p:spPr>
          <a:xfrm>
            <a:off x="25666294" y="10474223"/>
            <a:ext cx="71323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искусствен...</a:t>
            </a:r>
            <a:endParaRPr lang="en-US" sz="380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121" y="5939199"/>
            <a:ext cx="114300" cy="11418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2266" y="5939199"/>
            <a:ext cx="114300" cy="114186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19266" y="5939199"/>
            <a:ext cx="114300" cy="11418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57326" y="5939199"/>
            <a:ext cx="114300" cy="11418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5979319"/>
            <a:ext cx="32770267" cy="34461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0841" y="1884578"/>
            <a:ext cx="22860" cy="41148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07262" y="2238966"/>
            <a:ext cx="283464" cy="400164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7262" y="3050610"/>
            <a:ext cx="283464" cy="400164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07262" y="3861740"/>
            <a:ext cx="283464" cy="4001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858061" y="223896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2115" dirty="0"/>
          </a:p>
        </p:txBody>
      </p:sp>
      <p:sp>
        <p:nvSpPr>
          <p:cNvPr id="16" name="Text 5"/>
          <p:cNvSpPr/>
          <p:nvPr/>
        </p:nvSpPr>
        <p:spPr>
          <a:xfrm>
            <a:off x="1858061" y="305061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2115" dirty="0"/>
          </a:p>
        </p:txBody>
      </p:sp>
      <p:sp>
        <p:nvSpPr>
          <p:cNvPr id="17" name="Text 6"/>
          <p:cNvSpPr/>
          <p:nvPr/>
        </p:nvSpPr>
        <p:spPr>
          <a:xfrm>
            <a:off x="1858061" y="38617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модели</a:t>
            </a:r>
            <a:endParaRPr lang="en-US" sz="211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7394" y="1995678"/>
            <a:ext cx="182880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1349140"/>
            <a:ext cx="4267505" cy="2445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754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81482" y="1789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2"/>
              </a:lnSpc>
              <a:buNone/>
            </a:pPr>
            <a:r>
              <a:rPr lang="en-US" sz="18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формула (часто взвешенная) - формальное описание процесса, объекта или явления предметной области.</a:t>
            </a:r>
            <a:endParaRPr lang="en-US" sz="1861" dirty="0"/>
          </a:p>
        </p:txBody>
      </p:sp>
      <p:sp>
        <p:nvSpPr>
          <p:cNvPr id="4" name="Text 2"/>
          <p:cNvSpPr/>
          <p:nvPr/>
        </p:nvSpPr>
        <p:spPr>
          <a:xfrm>
            <a:off x="881482" y="2853099"/>
            <a:ext cx="7040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2"/>
              </a:lnSpc>
              <a:buNone/>
            </a:pPr>
            <a:r>
              <a:rPr lang="en-US" sz="18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- последовательность действия, направленная на достижение результата.</a:t>
            </a:r>
            <a:endParaRPr lang="en-US" sz="186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75895" cy="37701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53099"/>
            <a:ext cx="75895" cy="3770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формул...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4066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системы (формализмы) - абстрагирование от смысла с чёткой структурой (важен не смысл, а форма).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2784177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 - часть реального мира (или сфера деятельности, знаний), которая подлежит изучению, моделированию или автоматизации.</a:t>
            </a:r>
            <a:endParaRPr lang="en-US" sz="169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784177"/>
            <a:ext cx="68580" cy="343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037958"/>
            <a:ext cx="7737653" cy="21592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402425"/>
            <a:ext cx="69494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1"/>
              </a:lnSpc>
              <a:buNone/>
            </a:pPr>
            <a:r>
              <a:rPr lang="en-US" sz="173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системы (формализмы) - абстрагирование от смысла с чёткой структурой (важен не смысл, а форма).</a:t>
            </a:r>
            <a:endParaRPr lang="en-US" sz="1734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6742" y="1059561"/>
            <a:ext cx="5212080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 - часть реального мира (или сфера деятельности, знаний), которая подлежит изучению, моделированию или автоматизации.</a:t>
            </a:r>
            <a:endParaRPr lang="en-US" sz="2665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038" y="1642320"/>
            <a:ext cx="1828800" cy="185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3385" y="2271884"/>
            <a:ext cx="2834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41"/>
              </a:lnSpc>
              <a:buNone/>
            </a:pPr>
            <a:r>
              <a:rPr lang="en-US" sz="31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317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" y="920172"/>
            <a:ext cx="4267505" cy="33036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50437"/>
            <a:ext cx="47548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120665"/>
            <a:ext cx="777240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5"/>
              </a:lnSpc>
              <a:buNone/>
            </a:pPr>
            <a:r>
              <a:rPr lang="en-US" sz="300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Свойство качественного изменения результата работы модели за счёт изменения собственных параметров или структуры и вида изначальных данных.</a:t>
            </a:r>
            <a:endParaRPr lang="en-US" sz="300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686554"/>
            <a:ext cx="7737653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7238" y="1419606"/>
            <a:ext cx="246888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модели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1455096"/>
            <a:ext cx="4267505" cy="223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040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(Data collection) - процесс поиска релевантных, правдивых и структурированных данных для обучения модели, а также методы обеспечения и контроля качества.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127248"/>
            <a:ext cx="7315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данных (Data Cleaning) - выявление и исправление ошибок или несоответствий в данных, таких как пропущенные значения, выбросы и дубликаты.</a:t>
            </a:r>
            <a:endParaRPr lang="en-US" sz="1692" dirty="0"/>
          </a:p>
        </p:txBody>
      </p:sp>
      <p:sp>
        <p:nvSpPr>
          <p:cNvPr id="5" name="Text 3"/>
          <p:cNvSpPr/>
          <p:nvPr/>
        </p:nvSpPr>
        <p:spPr>
          <a:xfrm>
            <a:off x="875081" y="4464558"/>
            <a:ext cx="67665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 - объединение данных из нескольких источников для создания единого набора данных.</a:t>
            </a:r>
            <a:endParaRPr lang="en-US" sz="1692" dirty="0"/>
          </a:p>
        </p:txBody>
      </p:sp>
      <p:sp>
        <p:nvSpPr>
          <p:cNvPr id="6" name="Text 4"/>
          <p:cNvSpPr/>
          <p:nvPr/>
        </p:nvSpPr>
        <p:spPr>
          <a:xfrm>
            <a:off x="875081" y="5458797"/>
            <a:ext cx="69494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Transformation) - преобразование данных в подходящий для анализа формат.</a:t>
            </a:r>
            <a:endParaRPr lang="en-US" sz="1692" dirty="0"/>
          </a:p>
        </p:txBody>
      </p:sp>
      <p:sp>
        <p:nvSpPr>
          <p:cNvPr id="7" name="Text 5"/>
          <p:cNvSpPr/>
          <p:nvPr/>
        </p:nvSpPr>
        <p:spPr>
          <a:xfrm>
            <a:off x="875081" y="6453549"/>
            <a:ext cx="70408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 - предполагает уменьшение размера набора данных при сохранении важной информации.</a:t>
            </a:r>
            <a:endParaRPr lang="en-US" sz="1692" dirty="0"/>
          </a:p>
        </p:txBody>
      </p:sp>
      <p:sp>
        <p:nvSpPr>
          <p:cNvPr id="8" name="Text 6"/>
          <p:cNvSpPr/>
          <p:nvPr/>
        </p:nvSpPr>
        <p:spPr>
          <a:xfrm>
            <a:off x="875081" y="7447788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 - создание новых данных на основе уже существующих (изменением существующих, либо изучением законо...</a:t>
            </a:r>
            <a:endParaRPr lang="en-US" sz="1692" dirty="0"/>
          </a:p>
        </p:txBody>
      </p:sp>
      <p:sp>
        <p:nvSpPr>
          <p:cNvPr id="9" name="Text 7"/>
          <p:cNvSpPr/>
          <p:nvPr/>
        </p:nvSpPr>
        <p:spPr>
          <a:xfrm>
            <a:off x="875081" y="8442027"/>
            <a:ext cx="74980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 - создание абсолютно новых данных на основе некоторых правил, статистических методов и генеративных интелле...</a:t>
            </a:r>
            <a:endParaRPr lang="en-US" sz="1692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127248"/>
            <a:ext cx="68580" cy="343071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464558"/>
            <a:ext cx="68580" cy="343071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5458797"/>
            <a:ext cx="68580" cy="343071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6453549"/>
            <a:ext cx="68580" cy="34307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7447788"/>
            <a:ext cx="68580" cy="343071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8442027"/>
            <a:ext cx="68580" cy="34307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589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(Data collec...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классу источника: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сбора данных: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проблемы: 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качества (quality assurance) данных представляет собой комплекс действий, выполняемы...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(quality control) представляет собой комплекс действий, направленных на наблюдение и и...</a:t>
            </a:r>
            <a:endParaRPr lang="en-US" sz="211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1264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классу источника: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Первичные - собранные напрямую </a:t>
            </a:r>
            <a:r>
              <a:rPr lang="en-US" sz="211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</a:t>
            </a: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1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r>
              <a:rPr lang="ru-RU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или от респондента.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Вторичные - собранные другими лицами, в том числе и для других целей.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Вторичные - собранные 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(данные, сами модели и учебные материалы);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(данные, сами модели и учебные материалы);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Datasets;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Machine Learning Repository;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Dataset Search;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733459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Azure.</a:t>
            </a:r>
            <a:endParaRPr lang="en-US" sz="211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733459"/>
            <a:ext cx="85954" cy="4001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69"/>
              </a:lnSpc>
              <a:buNone/>
            </a:pPr>
            <a:r>
              <a:rPr lang="en-US" sz="39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сбора данных:</a:t>
            </a:r>
            <a:endParaRPr lang="en-US" sz="3976" dirty="0"/>
          </a:p>
        </p:txBody>
      </p:sp>
      <p:sp>
        <p:nvSpPr>
          <p:cNvPr id="3" name="Text 1"/>
          <p:cNvSpPr/>
          <p:nvPr/>
        </p:nvSpPr>
        <p:spPr>
          <a:xfrm>
            <a:off x="888797" y="1752905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6"/>
              </a:lnSpc>
              <a:buNone/>
            </a:pPr>
            <a:r>
              <a:rPr lang="en-US" sz="2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Опросы (личные, онлайн, ассоциативные и телефонные).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888797" y="247299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6"/>
              </a:lnSpc>
              <a:buNone/>
            </a:pPr>
            <a:r>
              <a:rPr lang="en-US" sz="2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Ролевые игры.</a:t>
            </a:r>
            <a:endParaRPr lang="en-US" sz="2030" dirty="0"/>
          </a:p>
        </p:txBody>
      </p:sp>
      <p:sp>
        <p:nvSpPr>
          <p:cNvPr id="5" name="Text 3"/>
          <p:cNvSpPr/>
          <p:nvPr/>
        </p:nvSpPr>
        <p:spPr>
          <a:xfrm>
            <a:off x="888797" y="3193085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6"/>
              </a:lnSpc>
              <a:buNone/>
            </a:pPr>
            <a:r>
              <a:rPr lang="en-US" sz="2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Наблюдения.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888797" y="3913175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6"/>
              </a:lnSpc>
              <a:buNone/>
            </a:pPr>
            <a:r>
              <a:rPr lang="en-US" sz="2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Датчики и телеметрия.</a:t>
            </a:r>
            <a:endParaRPr lang="en-US" sz="203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52905"/>
            <a:ext cx="82296" cy="4114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72995"/>
            <a:ext cx="82296" cy="4114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193085"/>
            <a:ext cx="82296" cy="41148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3175"/>
            <a:ext cx="82296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1264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проблемы: 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Противоречия в данных.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простоя данных.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Неоднозначность данных.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Дублирующие данные.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данные.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Неточные данные.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Скрытые данные.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Релевантные данные.</a:t>
            </a:r>
            <a:endParaRPr lang="en-US" sz="211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610" y="1491615"/>
            <a:ext cx="768096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качества (quality assurance) данных представляет собой комплекс действий, выполняемый перед сбором данных и направленный на создание универсального протокола сбора данных (единая профилактика).</a:t>
            </a:r>
            <a:endParaRPr lang="en-US" sz="2284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983" y="1337310"/>
            <a:ext cx="7589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6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(quality control) представляет собой комплекс действий, направленных на наблюдение и исправление ошибок сбора данных, которые заключаются в документировании процессов сбора, мониторинге, действиях по исправлению ошибок при сборе данных и минимизации будущих ошибок.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491615"/>
            <a:ext cx="768096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 - создание новых данных на основе уже существующих (изменением существующих, либо изучением закономерности), в условиях малого количества данных или существовании дисбаланса классов.</a:t>
            </a:r>
            <a:endParaRPr lang="en-US" sz="2284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1388745"/>
            <a:ext cx="7772400" cy="2366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9"/>
              </a:lnSpc>
              <a:buNone/>
            </a:pPr>
            <a:r>
              <a:rPr lang="en-US" sz="19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 - создание абсолютно новых данных на основе некоторых правил, статистических методов и генеративных интеллектуальных моделей, если нет нужного набора данных, либо его невозможно собрать, но известен определённый закон, алгоритм или какая-либа закономерность, по которой их можно воспроизвести.</a:t>
            </a:r>
            <a:endParaRPr lang="en-US" sz="194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820</Words>
  <Application>Microsoft Office PowerPoint</Application>
  <PresentationFormat>Экран (16:9)</PresentationFormat>
  <Paragraphs>134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Владислав Холмогоров</cp:lastModifiedBy>
  <cp:revision>4</cp:revision>
  <dcterms:created xsi:type="dcterms:W3CDTF">2026-02-20T08:00:30Z</dcterms:created>
  <dcterms:modified xsi:type="dcterms:W3CDTF">2026-03-06T12:11:31Z</dcterms:modified>
</cp:coreProperties>
</file>
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5"/>
  </p:notesMasterIdLst>
  <p:sldIdLst>
    <p:sldId id="256" r:id="rId2"/>
    <p:sldId id="257" r:id="rId3"/>
    <p:sldId id="258" r:id="rId4"/>
    <p:sldId id="266" r:id="rId5"/>
    <p:sldId id="267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299" r:id="rId29"/>
    <p:sldId id="300" r:id="rId30"/>
    <p:sldId id="301" r:id="rId31"/>
    <p:sldId id="302" r:id="rId32"/>
    <p:sldId id="303" r:id="rId33"/>
    <p:sldId id="304" r:id="rId34"/>
    <p:sldId id="305" r:id="rId35"/>
    <p:sldId id="306" r:id="rId36"/>
    <p:sldId id="307" r:id="rId37"/>
    <p:sldId id="308" r:id="rId38"/>
    <p:sldId id="309" r:id="rId39"/>
    <p:sldId id="310" r:id="rId40"/>
    <p:sldId id="311" r:id="rId41"/>
    <p:sldId id="312" r:id="rId42"/>
    <p:sldId id="313" r:id="rId43"/>
    <p:sldId id="314" r:id="rId44"/>
    <p:sldId id="315" r:id="rId45"/>
    <p:sldId id="316" r:id="rId46"/>
    <p:sldId id="317" r:id="rId47"/>
    <p:sldId id="318" r:id="rId48"/>
    <p:sldId id="319" r:id="rId49"/>
    <p:sldId id="320" r:id="rId50"/>
    <p:sldId id="321" r:id="rId51"/>
    <p:sldId id="322" r:id="rId52"/>
    <p:sldId id="323" r:id="rId53"/>
    <p:sldId id="324" r:id="rId54"/>
    <p:sldId id="325" r:id="rId55"/>
    <p:sldId id="326" r:id="rId56"/>
    <p:sldId id="327" r:id="rId57"/>
    <p:sldId id="328" r:id="rId58"/>
    <p:sldId id="329" r:id="rId59"/>
    <p:sldId id="330" r:id="rId60"/>
    <p:sldId id="331" r:id="rId61"/>
    <p:sldId id="332" r:id="rId62"/>
    <p:sldId id="333" r:id="rId63"/>
    <p:sldId id="334" r:id="rId64"/>
    <p:sldId id="335" r:id="rId65"/>
    <p:sldId id="336" r:id="rId66"/>
    <p:sldId id="337" r:id="rId67"/>
    <p:sldId id="338" r:id="rId68"/>
    <p:sldId id="339" r:id="rId69"/>
    <p:sldId id="340" r:id="rId70"/>
    <p:sldId id="341" r:id="rId71"/>
    <p:sldId id="342" r:id="rId72"/>
    <p:sldId id="343" r:id="rId73"/>
    <p:sldId id="344" r:id="rId7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5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1436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5" Type="http://schemas.openxmlformats.org/officeDocument/2006/relationships/image" Target="../media/image13.sv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svg"/><Relationship Id="rId3" Type="http://schemas.openxmlformats.org/officeDocument/2006/relationships/image" Target="../media/image8.png"/><Relationship Id="rId7" Type="http://schemas.openxmlformats.org/officeDocument/2006/relationships/image" Target="../media/image19.sv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11" Type="http://schemas.openxmlformats.org/officeDocument/2006/relationships/image" Target="../media/image23.svg"/><Relationship Id="rId5" Type="http://schemas.openxmlformats.org/officeDocument/2006/relationships/image" Target="../media/image17.svg"/><Relationship Id="rId15" Type="http://schemas.openxmlformats.org/officeDocument/2006/relationships/image" Target="../media/image27.svg"/><Relationship Id="rId10" Type="http://schemas.openxmlformats.org/officeDocument/2006/relationships/image" Target="../media/image22.png"/><Relationship Id="rId4" Type="http://schemas.openxmlformats.org/officeDocument/2006/relationships/image" Target="../media/image16.svg"/><Relationship Id="rId9" Type="http://schemas.openxmlformats.org/officeDocument/2006/relationships/image" Target="../media/image21.svg"/><Relationship Id="rId14" Type="http://schemas.openxmlformats.org/officeDocument/2006/relationships/image" Target="../media/image2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svg"/><Relationship Id="rId12" Type="http://schemas.openxmlformats.org/officeDocument/2006/relationships/image" Target="../media/image3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svg"/><Relationship Id="rId11" Type="http://schemas.openxmlformats.org/officeDocument/2006/relationships/image" Target="../media/image29.png"/><Relationship Id="rId5" Type="http://schemas.openxmlformats.org/officeDocument/2006/relationships/image" Target="../media/image33.svg"/><Relationship Id="rId10" Type="http://schemas.openxmlformats.org/officeDocument/2006/relationships/image" Target="../media/image38.svg"/><Relationship Id="rId4" Type="http://schemas.openxmlformats.org/officeDocument/2006/relationships/image" Target="../media/image32.svg"/><Relationship Id="rId9" Type="http://schemas.openxmlformats.org/officeDocument/2006/relationships/image" Target="../media/image3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4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4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4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4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5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55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58.svg"/><Relationship Id="rId3" Type="http://schemas.openxmlformats.org/officeDocument/2006/relationships/image" Target="../media/image8.png"/><Relationship Id="rId7" Type="http://schemas.openxmlformats.org/officeDocument/2006/relationships/image" Target="../media/image19.sv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11" Type="http://schemas.openxmlformats.org/officeDocument/2006/relationships/image" Target="../media/image57.svg"/><Relationship Id="rId5" Type="http://schemas.openxmlformats.org/officeDocument/2006/relationships/image" Target="../media/image17.svg"/><Relationship Id="rId10" Type="http://schemas.openxmlformats.org/officeDocument/2006/relationships/image" Target="../media/image56.png"/><Relationship Id="rId4" Type="http://schemas.openxmlformats.org/officeDocument/2006/relationships/image" Target="../media/image16.svg"/><Relationship Id="rId9" Type="http://schemas.openxmlformats.org/officeDocument/2006/relationships/image" Target="../media/image21.svg"/><Relationship Id="rId14" Type="http://schemas.openxmlformats.org/officeDocument/2006/relationships/image" Target="../media/image59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13" Type="http://schemas.openxmlformats.org/officeDocument/2006/relationships/image" Target="../media/image67.svg"/><Relationship Id="rId3" Type="http://schemas.openxmlformats.org/officeDocument/2006/relationships/image" Target="../media/image60.png"/><Relationship Id="rId7" Type="http://schemas.openxmlformats.org/officeDocument/2006/relationships/image" Target="../media/image31.png"/><Relationship Id="rId12" Type="http://schemas.openxmlformats.org/officeDocument/2006/relationships/image" Target="../media/image66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svg"/><Relationship Id="rId11" Type="http://schemas.openxmlformats.org/officeDocument/2006/relationships/image" Target="../media/image65.svg"/><Relationship Id="rId5" Type="http://schemas.openxmlformats.org/officeDocument/2006/relationships/image" Target="../media/image62.png"/><Relationship Id="rId15" Type="http://schemas.openxmlformats.org/officeDocument/2006/relationships/image" Target="../media/image30.svg"/><Relationship Id="rId10" Type="http://schemas.openxmlformats.org/officeDocument/2006/relationships/image" Target="../media/image64.svg"/><Relationship Id="rId4" Type="http://schemas.openxmlformats.org/officeDocument/2006/relationships/image" Target="../media/image61.svg"/><Relationship Id="rId9" Type="http://schemas.openxmlformats.org/officeDocument/2006/relationships/image" Target="../media/image33.svg"/><Relationship Id="rId1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68.svg"/><Relationship Id="rId4" Type="http://schemas.openxmlformats.org/officeDocument/2006/relationships/image" Target="../media/image32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72.svg"/><Relationship Id="rId4" Type="http://schemas.openxmlformats.org/officeDocument/2006/relationships/image" Target="../media/image71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31.png"/><Relationship Id="rId7" Type="http://schemas.openxmlformats.org/officeDocument/2006/relationships/image" Target="../media/image74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svg"/><Relationship Id="rId5" Type="http://schemas.openxmlformats.org/officeDocument/2006/relationships/image" Target="../media/image68.svg"/><Relationship Id="rId4" Type="http://schemas.openxmlformats.org/officeDocument/2006/relationships/image" Target="../media/image32.svg"/><Relationship Id="rId9" Type="http://schemas.openxmlformats.org/officeDocument/2006/relationships/image" Target="../media/image30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svg"/><Relationship Id="rId3" Type="http://schemas.openxmlformats.org/officeDocument/2006/relationships/image" Target="../media/image31.png"/><Relationship Id="rId7" Type="http://schemas.openxmlformats.org/officeDocument/2006/relationships/image" Target="../media/image74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svg"/><Relationship Id="rId11" Type="http://schemas.openxmlformats.org/officeDocument/2006/relationships/image" Target="../media/image30.svg"/><Relationship Id="rId5" Type="http://schemas.openxmlformats.org/officeDocument/2006/relationships/image" Target="../media/image68.svg"/><Relationship Id="rId10" Type="http://schemas.openxmlformats.org/officeDocument/2006/relationships/image" Target="../media/image29.png"/><Relationship Id="rId4" Type="http://schemas.openxmlformats.org/officeDocument/2006/relationships/image" Target="../media/image32.svg"/><Relationship Id="rId9" Type="http://schemas.openxmlformats.org/officeDocument/2006/relationships/image" Target="../media/image76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78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svg"/><Relationship Id="rId3" Type="http://schemas.openxmlformats.org/officeDocument/2006/relationships/image" Target="../media/image79.png"/><Relationship Id="rId7" Type="http://schemas.openxmlformats.org/officeDocument/2006/relationships/image" Target="../media/image81.svg"/><Relationship Id="rId12" Type="http://schemas.openxmlformats.org/officeDocument/2006/relationships/image" Target="../media/image30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svg"/><Relationship Id="rId11" Type="http://schemas.openxmlformats.org/officeDocument/2006/relationships/image" Target="../media/image29.png"/><Relationship Id="rId5" Type="http://schemas.openxmlformats.org/officeDocument/2006/relationships/image" Target="../media/image70.png"/><Relationship Id="rId10" Type="http://schemas.openxmlformats.org/officeDocument/2006/relationships/image" Target="../media/image84.svg"/><Relationship Id="rId4" Type="http://schemas.openxmlformats.org/officeDocument/2006/relationships/image" Target="../media/image80.svg"/><Relationship Id="rId9" Type="http://schemas.openxmlformats.org/officeDocument/2006/relationships/image" Target="../media/image83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80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80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80.sv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svg"/><Relationship Id="rId3" Type="http://schemas.openxmlformats.org/officeDocument/2006/relationships/image" Target="../media/image31.png"/><Relationship Id="rId7" Type="http://schemas.openxmlformats.org/officeDocument/2006/relationships/image" Target="../media/image74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svg"/><Relationship Id="rId11" Type="http://schemas.openxmlformats.org/officeDocument/2006/relationships/image" Target="../media/image30.svg"/><Relationship Id="rId5" Type="http://schemas.openxmlformats.org/officeDocument/2006/relationships/image" Target="../media/image68.svg"/><Relationship Id="rId10" Type="http://schemas.openxmlformats.org/officeDocument/2006/relationships/image" Target="../media/image29.png"/><Relationship Id="rId4" Type="http://schemas.openxmlformats.org/officeDocument/2006/relationships/image" Target="../media/image32.svg"/><Relationship Id="rId9" Type="http://schemas.openxmlformats.org/officeDocument/2006/relationships/image" Target="../media/image76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gi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70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svg"/><Relationship Id="rId5" Type="http://schemas.openxmlformats.org/officeDocument/2006/relationships/image" Target="../media/image72.svg"/><Relationship Id="rId4" Type="http://schemas.openxmlformats.org/officeDocument/2006/relationships/image" Target="../media/image71.sv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3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svg"/><Relationship Id="rId5" Type="http://schemas.openxmlformats.org/officeDocument/2006/relationships/image" Target="../media/image68.svg"/><Relationship Id="rId4" Type="http://schemas.openxmlformats.org/officeDocument/2006/relationships/image" Target="../media/image32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87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89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91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70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svg"/><Relationship Id="rId5" Type="http://schemas.openxmlformats.org/officeDocument/2006/relationships/image" Target="../media/image72.svg"/><Relationship Id="rId4" Type="http://schemas.openxmlformats.org/officeDocument/2006/relationships/image" Target="../media/image71.sv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31.png"/><Relationship Id="rId7" Type="http://schemas.openxmlformats.org/officeDocument/2006/relationships/image" Target="../media/image74.sv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svg"/><Relationship Id="rId5" Type="http://schemas.openxmlformats.org/officeDocument/2006/relationships/image" Target="../media/image68.svg"/><Relationship Id="rId4" Type="http://schemas.openxmlformats.org/officeDocument/2006/relationships/image" Target="../media/image32.svg"/><Relationship Id="rId9" Type="http://schemas.openxmlformats.org/officeDocument/2006/relationships/image" Target="../media/image30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95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97.sv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99.sv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101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gi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3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3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74.sv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svg"/><Relationship Id="rId11" Type="http://schemas.openxmlformats.org/officeDocument/2006/relationships/image" Target="../media/image30.svg"/><Relationship Id="rId5" Type="http://schemas.openxmlformats.org/officeDocument/2006/relationships/image" Target="../media/image68.svg"/><Relationship Id="rId10" Type="http://schemas.openxmlformats.org/officeDocument/2006/relationships/image" Target="../media/image29.png"/><Relationship Id="rId4" Type="http://schemas.openxmlformats.org/officeDocument/2006/relationships/image" Target="../media/image32.svg"/><Relationship Id="rId9" Type="http://schemas.openxmlformats.org/officeDocument/2006/relationships/image" Target="../media/image104.sv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gi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70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svg"/><Relationship Id="rId5" Type="http://schemas.openxmlformats.org/officeDocument/2006/relationships/image" Target="../media/image72.svg"/><Relationship Id="rId4" Type="http://schemas.openxmlformats.org/officeDocument/2006/relationships/image" Target="../media/image71.sv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31.png"/><Relationship Id="rId7" Type="http://schemas.openxmlformats.org/officeDocument/2006/relationships/image" Target="../media/image65.sv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3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Relationship Id="rId9" Type="http://schemas.openxmlformats.org/officeDocument/2006/relationships/image" Target="../media/image30.sv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107.sv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109.sv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111.sv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113.sv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gif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3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3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sv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svg"/><Relationship Id="rId11" Type="http://schemas.openxmlformats.org/officeDocument/2006/relationships/image" Target="../media/image30.svg"/><Relationship Id="rId5" Type="http://schemas.openxmlformats.org/officeDocument/2006/relationships/image" Target="../media/image33.svg"/><Relationship Id="rId10" Type="http://schemas.openxmlformats.org/officeDocument/2006/relationships/image" Target="../media/image29.png"/><Relationship Id="rId4" Type="http://schemas.openxmlformats.org/officeDocument/2006/relationships/image" Target="../media/image32.svg"/><Relationship Id="rId9" Type="http://schemas.openxmlformats.org/officeDocument/2006/relationships/image" Target="../media/image37.sv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116.sv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95.sv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118.sv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120.sv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122.sv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97.sv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3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3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sv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24.png"/><Relationship Id="rId7" Type="http://schemas.openxmlformats.org/officeDocument/2006/relationships/image" Target="../media/image128.sv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7.svg"/><Relationship Id="rId5" Type="http://schemas.openxmlformats.org/officeDocument/2006/relationships/image" Target="../media/image126.svg"/><Relationship Id="rId4" Type="http://schemas.openxmlformats.org/officeDocument/2006/relationships/image" Target="../media/image125.svg"/><Relationship Id="rId9" Type="http://schemas.openxmlformats.org/officeDocument/2006/relationships/image" Target="../media/image30.sv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130.sv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132.sv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134.sv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13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7006" y="1867605"/>
            <a:ext cx="768096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5211"/>
              </a:lnSpc>
              <a:buNone/>
            </a:pPr>
            <a:r>
              <a:rPr lang="en-US" sz="37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Генеративные </a:t>
            </a:r>
            <a:r>
              <a:rPr lang="en-US" sz="3722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интеллектуальные</a:t>
            </a:r>
            <a:r>
              <a:rPr lang="en-US" sz="37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722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алгоритмы</a:t>
            </a:r>
            <a:r>
              <a:rPr lang="ru-RU" sz="37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лекция 2</a:t>
            </a:r>
            <a:endParaRPr lang="en-US" sz="372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547" y="1707642"/>
            <a:ext cx="2926080" cy="174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Генеративные интеллектуа...</a:t>
            </a:r>
            <a:endParaRPr lang="en-US" sz="3046" dirty="0"/>
          </a:p>
        </p:txBody>
      </p:sp>
      <p:sp>
        <p:nvSpPr>
          <p:cNvPr id="3" name="Text 1"/>
          <p:cNvSpPr/>
          <p:nvPr/>
        </p:nvSpPr>
        <p:spPr>
          <a:xfrm>
            <a:off x="4595774" y="781812"/>
            <a:ext cx="2468880" cy="874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8"/>
              </a:lnSpc>
              <a:buNone/>
            </a:pPr>
            <a:r>
              <a:rPr lang="en-US" sz="228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 ИИ</a:t>
            </a:r>
            <a:endParaRPr lang="en-US" sz="2284" dirty="0"/>
          </a:p>
        </p:txBody>
      </p:sp>
      <p:sp>
        <p:nvSpPr>
          <p:cNvPr id="4" name="Text 2"/>
          <p:cNvSpPr/>
          <p:nvPr/>
        </p:nvSpPr>
        <p:spPr>
          <a:xfrm>
            <a:off x="6110021" y="3497580"/>
            <a:ext cx="2468880" cy="874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8"/>
              </a:lnSpc>
              <a:buNone/>
            </a:pPr>
            <a:r>
              <a:rPr lang="en-US" sz="228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дис...</a:t>
            </a:r>
            <a:endParaRPr lang="en-US" sz="2284" dirty="0"/>
          </a:p>
        </p:txBody>
      </p:sp>
      <p:sp>
        <p:nvSpPr>
          <p:cNvPr id="5" name="Text 3"/>
          <p:cNvSpPr/>
          <p:nvPr/>
        </p:nvSpPr>
        <p:spPr>
          <a:xfrm>
            <a:off x="7715707" y="781812"/>
            <a:ext cx="2377440" cy="874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8"/>
              </a:lnSpc>
              <a:buNone/>
            </a:pPr>
            <a:r>
              <a:rPr lang="en-US" sz="228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Классические генеративные ...</a:t>
            </a:r>
            <a:endParaRPr lang="en-US" sz="2284" dirty="0"/>
          </a:p>
        </p:txBody>
      </p:sp>
      <p:sp>
        <p:nvSpPr>
          <p:cNvPr id="6" name="Text 4"/>
          <p:cNvSpPr/>
          <p:nvPr/>
        </p:nvSpPr>
        <p:spPr>
          <a:xfrm>
            <a:off x="9190634" y="3497580"/>
            <a:ext cx="2560320" cy="874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8"/>
              </a:lnSpc>
              <a:buNone/>
            </a:pPr>
            <a:r>
              <a:rPr lang="en-US" sz="228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Генеративные искусственные ...</a:t>
            </a:r>
            <a:endParaRPr lang="en-US" sz="2284" dirty="0"/>
          </a:p>
        </p:txBody>
      </p:sp>
      <p:sp>
        <p:nvSpPr>
          <p:cNvPr id="7" name="Text 5"/>
          <p:cNvSpPr/>
          <p:nvPr/>
        </p:nvSpPr>
        <p:spPr>
          <a:xfrm>
            <a:off x="10762488" y="781812"/>
            <a:ext cx="2468880" cy="874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8"/>
              </a:lnSpc>
              <a:buNone/>
            </a:pPr>
            <a:r>
              <a:rPr lang="en-US" sz="228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Другие разделы искусственного...</a:t>
            </a:r>
            <a:endParaRPr lang="en-US" sz="2284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89981" y="1748790"/>
            <a:ext cx="22860" cy="82296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33488" y="2571750"/>
            <a:ext cx="22860" cy="822960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87968" y="1748790"/>
            <a:ext cx="22860" cy="822960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30561" y="2571750"/>
            <a:ext cx="22860" cy="822960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985041" y="1748790"/>
            <a:ext cx="22860" cy="822960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744261" y="2514657"/>
            <a:ext cx="114300" cy="114186"/>
          </a:xfrm>
          <a:prstGeom prst="rect">
            <a:avLst/>
          </a:prstGeom>
        </p:spPr>
      </p:pic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287768" y="2514657"/>
            <a:ext cx="114300" cy="114186"/>
          </a:xfrm>
          <a:prstGeom prst="rect">
            <a:avLst/>
          </a:prstGeom>
        </p:spPr>
      </p:pic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842248" y="2514657"/>
            <a:ext cx="114300" cy="114186"/>
          </a:xfrm>
          <a:prstGeom prst="rect">
            <a:avLst/>
          </a:prstGeom>
        </p:spPr>
      </p:pic>
      <p:pic>
        <p:nvPicPr>
          <p:cNvPr id="16" name="Image 8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384841" y="2514657"/>
            <a:ext cx="114300" cy="114186"/>
          </a:xfrm>
          <a:prstGeom prst="rect">
            <a:avLst/>
          </a:prstGeom>
        </p:spPr>
      </p:pic>
      <p:pic>
        <p:nvPicPr>
          <p:cNvPr id="17" name="Image 9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939321" y="2514657"/>
            <a:ext cx="114300" cy="114186"/>
          </a:xfrm>
          <a:prstGeom prst="rect">
            <a:avLst/>
          </a:prstGeom>
        </p:spPr>
      </p:pic>
      <p:pic>
        <p:nvPicPr>
          <p:cNvPr id="18" name="Image 10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834994" y="2554776"/>
            <a:ext cx="11504066" cy="344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850221"/>
            <a:ext cx="740664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4949"/>
              </a:lnSpc>
              <a:buNone/>
            </a:pPr>
            <a:r>
              <a:rPr lang="en-US" sz="38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типо...</a:t>
            </a:r>
            <a:endParaRPr lang="en-US" sz="3807" dirty="0"/>
          </a:p>
        </p:txBody>
      </p:sp>
      <p:sp>
        <p:nvSpPr>
          <p:cNvPr id="3" name="Text 1"/>
          <p:cNvSpPr/>
          <p:nvPr/>
        </p:nvSpPr>
        <p:spPr>
          <a:xfrm>
            <a:off x="8041234" y="10474223"/>
            <a:ext cx="731520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4949"/>
              </a:lnSpc>
              <a:buNone/>
            </a:pPr>
            <a:r>
              <a:rPr lang="en-US" sz="38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дискри...</a:t>
            </a:r>
            <a:endParaRPr lang="en-US" sz="3807" dirty="0"/>
          </a:p>
        </p:txBody>
      </p:sp>
      <p:sp>
        <p:nvSpPr>
          <p:cNvPr id="4" name="Text 2"/>
          <p:cNvSpPr/>
          <p:nvPr/>
        </p:nvSpPr>
        <p:spPr>
          <a:xfrm>
            <a:off x="18328234" y="850221"/>
            <a:ext cx="704088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4949"/>
              </a:lnSpc>
              <a:buNone/>
            </a:pPr>
            <a:r>
              <a:rPr lang="en-US" sz="38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Классические генеративн...</a:t>
            </a:r>
            <a:endParaRPr lang="en-US" sz="3807" dirty="0"/>
          </a:p>
        </p:txBody>
      </p:sp>
      <p:sp>
        <p:nvSpPr>
          <p:cNvPr id="5" name="Text 3"/>
          <p:cNvSpPr/>
          <p:nvPr/>
        </p:nvSpPr>
        <p:spPr>
          <a:xfrm>
            <a:off x="25666294" y="10474223"/>
            <a:ext cx="713232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4949"/>
              </a:lnSpc>
              <a:buNone/>
            </a:pPr>
            <a:r>
              <a:rPr lang="en-US" sz="38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Генеративные искусствен...</a:t>
            </a:r>
            <a:endParaRPr lang="en-US" sz="3807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121" y="5939199"/>
            <a:ext cx="114300" cy="114186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32266" y="5939199"/>
            <a:ext cx="114300" cy="114186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819266" y="5939199"/>
            <a:ext cx="114300" cy="114186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157326" y="5939199"/>
            <a:ext cx="114300" cy="114186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0" y="5979319"/>
            <a:ext cx="32770267" cy="34461"/>
          </a:xfrm>
          <a:prstGeom prst="rect">
            <a:avLst/>
          </a:prstGeom>
        </p:spPr>
      </p:pic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40841" y="1884578"/>
            <a:ext cx="22860" cy="4114800"/>
          </a:xfrm>
          <a:prstGeom prst="rect">
            <a:avLst/>
          </a:prstGeom>
        </p:spPr>
      </p:pic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407262" y="2238966"/>
            <a:ext cx="283464" cy="400164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407262" y="3050610"/>
            <a:ext cx="283464" cy="400164"/>
          </a:xfrm>
          <a:prstGeom prst="rect">
            <a:avLst/>
          </a:prstGeom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407262" y="3861740"/>
            <a:ext cx="283464" cy="400164"/>
          </a:xfrm>
          <a:prstGeom prst="rect">
            <a:avLst/>
          </a:prstGeom>
        </p:spPr>
      </p:pic>
      <p:sp>
        <p:nvSpPr>
          <p:cNvPr id="15" name="Text 4"/>
          <p:cNvSpPr/>
          <p:nvPr/>
        </p:nvSpPr>
        <p:spPr>
          <a:xfrm>
            <a:off x="1858061" y="223896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Наличие модели</a:t>
            </a:r>
            <a:endParaRPr lang="en-US" sz="2115" dirty="0"/>
          </a:p>
        </p:txBody>
      </p:sp>
      <p:sp>
        <p:nvSpPr>
          <p:cNvPr id="16" name="Text 5"/>
          <p:cNvSpPr/>
          <p:nvPr/>
        </p:nvSpPr>
        <p:spPr>
          <a:xfrm>
            <a:off x="1858061" y="305061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Обучаемость</a:t>
            </a:r>
            <a:endParaRPr lang="en-US" sz="2115" dirty="0"/>
          </a:p>
        </p:txBody>
      </p:sp>
      <p:sp>
        <p:nvSpPr>
          <p:cNvPr id="17" name="Text 6"/>
          <p:cNvSpPr/>
          <p:nvPr/>
        </p:nvSpPr>
        <p:spPr>
          <a:xfrm>
            <a:off x="1858061" y="386174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Подготовка данных для обучения модели</a:t>
            </a:r>
            <a:endParaRPr lang="en-US" sz="211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87238" y="1419606"/>
            <a:ext cx="2468880" cy="2314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Подготовка данных для обучения модели</a:t>
            </a:r>
            <a:endParaRPr lang="en-US" sz="3046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742" y="1455096"/>
            <a:ext cx="4267505" cy="22333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77724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Подготовка данных для о...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Сбор данных (Data collection) - процесс поиска релевантных, правдивых и структурированных данны...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898877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Очистка данных (Data Cleaning)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3607137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Интеграция данных (Data Integration)</a:t>
            </a:r>
            <a:endParaRPr lang="en-US" sz="2115" dirty="0"/>
          </a:p>
        </p:txBody>
      </p:sp>
      <p:sp>
        <p:nvSpPr>
          <p:cNvPr id="6" name="Text 4"/>
          <p:cNvSpPr/>
          <p:nvPr/>
        </p:nvSpPr>
        <p:spPr>
          <a:xfrm>
            <a:off x="891540" y="4315911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Преобразование данных (Data Transformation)</a:t>
            </a:r>
            <a:endParaRPr lang="en-US" sz="2115" dirty="0"/>
          </a:p>
        </p:txBody>
      </p:sp>
      <p:sp>
        <p:nvSpPr>
          <p:cNvPr id="7" name="Text 5"/>
          <p:cNvSpPr/>
          <p:nvPr/>
        </p:nvSpPr>
        <p:spPr>
          <a:xfrm>
            <a:off x="891540" y="5024685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Сокращение данных (Data Reduction)</a:t>
            </a:r>
            <a:endParaRPr lang="en-US" sz="2115" dirty="0"/>
          </a:p>
        </p:txBody>
      </p:sp>
      <p:sp>
        <p:nvSpPr>
          <p:cNvPr id="8" name="Text 6"/>
          <p:cNvSpPr/>
          <p:nvPr/>
        </p:nvSpPr>
        <p:spPr>
          <a:xfrm>
            <a:off x="891540" y="5733459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Аугментация данных</a:t>
            </a:r>
            <a:endParaRPr lang="en-US" sz="2115" dirty="0"/>
          </a:p>
        </p:txBody>
      </p:sp>
      <p:sp>
        <p:nvSpPr>
          <p:cNvPr id="9" name="Text 7"/>
          <p:cNvSpPr/>
          <p:nvPr/>
        </p:nvSpPr>
        <p:spPr>
          <a:xfrm>
            <a:off x="891540" y="6441719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Генерация данных</a:t>
            </a:r>
            <a:endParaRPr lang="en-US" sz="2115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3174" y="2898877"/>
            <a:ext cx="85954" cy="400164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607137"/>
            <a:ext cx="85954" cy="400164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3174" y="4315911"/>
            <a:ext cx="85954" cy="400164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3174" y="5024685"/>
            <a:ext cx="85954" cy="400164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3174" y="5733459"/>
            <a:ext cx="85954" cy="400164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3174" y="6441719"/>
            <a:ext cx="85954" cy="400164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973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722147"/>
            <a:ext cx="5943600" cy="190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Очистка данных (Data Cleaning)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3029007"/>
            <a:ext cx="777240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35"/>
              </a:lnSpc>
              <a:buNone/>
            </a:pPr>
            <a:r>
              <a:rPr lang="en-US" sz="245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Выявление и исправление ошибок или несоответствий в данных, таких как пропущенные значения, выбросы, аномалии и дубликаты.</a:t>
            </a:r>
            <a:endParaRPr lang="en-US" sz="245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594381"/>
            <a:ext cx="7732166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973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52821" y="1707642"/>
            <a:ext cx="2743200" cy="174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Интеграция данных (Data Integration)</a:t>
            </a:r>
            <a:endParaRPr lang="en-US" sz="3046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326" y="1181976"/>
            <a:ext cx="4267505" cy="27800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827075"/>
            <a:ext cx="7132320" cy="190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Интеграция данных (Data Integration)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3133420"/>
            <a:ext cx="7772400" cy="1183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19"/>
              </a:lnSpc>
              <a:buNone/>
            </a:pPr>
            <a:r>
              <a:rPr lang="en-US" sz="194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Объединение данных из нескольких источников для создания единого набора данных: слияния данных, сопоставление схем данных и связывание однородных записей.</a:t>
            </a:r>
            <a:endParaRPr lang="en-US" sz="1946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699309"/>
            <a:ext cx="7686446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973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96128" y="1531734"/>
            <a:ext cx="2834640" cy="2108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49"/>
              </a:lnSpc>
              <a:buNone/>
            </a:pPr>
            <a:r>
              <a:rPr lang="en-US" sz="274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Преобразование данных (Data Transformation)</a:t>
            </a:r>
            <a:endParaRPr lang="en-US" sz="2749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18" y="1077049"/>
            <a:ext cx="4267505" cy="29899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50138"/>
            <a:ext cx="7772400" cy="190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Преобразование данных (Data Transf...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56998"/>
            <a:ext cx="749808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90"/>
              </a:lnSpc>
              <a:buNone/>
            </a:pPr>
            <a:r>
              <a:rPr lang="en-US" sz="27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Преобразование данных в подходящий для анализа формат: нормализация, стандартизация и дискретизация.</a:t>
            </a:r>
            <a:endParaRPr lang="en-US" sz="2707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522372"/>
            <a:ext cx="7709306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973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52821" y="1707642"/>
            <a:ext cx="2743200" cy="174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Сокращение данных (Data Reduction)</a:t>
            </a:r>
            <a:endParaRPr lang="en-US" sz="3046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326" y="1371771"/>
            <a:ext cx="4267505" cy="24004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806501"/>
            <a:ext cx="7406640" cy="190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Сокращение данных (Data Reduction)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3112846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20"/>
              </a:lnSpc>
              <a:buNone/>
            </a:pPr>
            <a:r>
              <a:rPr lang="en-US" sz="215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Предполагает уменьшение размера набора данных при сохранении важной информации: выбор признаков, извлечение признаков, сэмплинг, сжатие данных.</a:t>
            </a:r>
            <a:endParaRPr lang="en-US" sz="2157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678735"/>
            <a:ext cx="7606894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973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82082" y="1995678"/>
            <a:ext cx="2743200" cy="1183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Аугментация данных</a:t>
            </a:r>
            <a:endParaRPr lang="en-US" sz="3046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371771"/>
            <a:ext cx="4267505" cy="24004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6538"/>
            <a:ext cx="768096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Аугментация данных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016766"/>
            <a:ext cx="7589520" cy="2520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72"/>
              </a:lnSpc>
              <a:buNone/>
            </a:pPr>
            <a:r>
              <a:rPr lang="en-US" sz="262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новых данных на основе уже существующих (изменением существующих, либо изучением закономерности), в условиях малого количества данных или существовании дисбаланса классов.</a:t>
            </a:r>
            <a:endParaRPr lang="en-US" sz="262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1582655"/>
            <a:ext cx="7595006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973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36285" y="1995678"/>
            <a:ext cx="2194560" cy="1183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Генерация данных</a:t>
            </a:r>
            <a:endParaRPr lang="en-US" sz="3046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75" y="1385145"/>
            <a:ext cx="4267505" cy="23737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52196"/>
            <a:ext cx="676656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Генерация данных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022424"/>
            <a:ext cx="7406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46"/>
              </a:lnSpc>
              <a:buNone/>
            </a:pPr>
            <a:r>
              <a:rPr lang="en-US" sz="20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абсолютно новых данных на основе некоторых правил, статистических методов и генеративных интеллектуальных моделей, если нет нужного набора данных, либо его невозможно собрать, но известен определённый закон, алгоритм или какая-либа закономерность, по которой их можно воспроизвести.</a:t>
            </a:r>
            <a:endParaRPr lang="en-US" sz="203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1588313"/>
            <a:ext cx="7343546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973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8660" y="1883550"/>
            <a:ext cx="7772400" cy="1388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93"/>
              </a:lnSpc>
              <a:buNone/>
            </a:pPr>
            <a:r>
              <a:rPr lang="en-US" sz="363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дискриминативные технологии</a:t>
            </a:r>
            <a:endParaRPr lang="en-US" sz="3638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6634886" y="-6405201"/>
            <a:ext cx="740664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4949"/>
              </a:lnSpc>
              <a:buNone/>
            </a:pPr>
            <a:r>
              <a:rPr lang="en-US" sz="38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типо...</a:t>
            </a:r>
            <a:endParaRPr lang="en-US" sz="3807" dirty="0"/>
          </a:p>
        </p:txBody>
      </p:sp>
      <p:sp>
        <p:nvSpPr>
          <p:cNvPr id="3" name="Text 1"/>
          <p:cNvSpPr/>
          <p:nvPr/>
        </p:nvSpPr>
        <p:spPr>
          <a:xfrm>
            <a:off x="703174" y="3218802"/>
            <a:ext cx="731520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4949"/>
              </a:lnSpc>
              <a:buNone/>
            </a:pPr>
            <a:r>
              <a:rPr lang="en-US" sz="38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дискри...</a:t>
            </a:r>
            <a:endParaRPr lang="en-US" sz="3807" dirty="0"/>
          </a:p>
        </p:txBody>
      </p:sp>
      <p:sp>
        <p:nvSpPr>
          <p:cNvPr id="4" name="Text 2"/>
          <p:cNvSpPr/>
          <p:nvPr/>
        </p:nvSpPr>
        <p:spPr>
          <a:xfrm>
            <a:off x="10990174" y="-6405201"/>
            <a:ext cx="704088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4949"/>
              </a:lnSpc>
              <a:buNone/>
            </a:pPr>
            <a:r>
              <a:rPr lang="en-US" sz="38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Классические генеративн...</a:t>
            </a:r>
            <a:endParaRPr lang="en-US" sz="3807" dirty="0"/>
          </a:p>
        </p:txBody>
      </p:sp>
      <p:sp>
        <p:nvSpPr>
          <p:cNvPr id="5" name="Text 3"/>
          <p:cNvSpPr/>
          <p:nvPr/>
        </p:nvSpPr>
        <p:spPr>
          <a:xfrm>
            <a:off x="18328234" y="3218802"/>
            <a:ext cx="713232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4949"/>
              </a:lnSpc>
              <a:buNone/>
            </a:pPr>
            <a:r>
              <a:rPr lang="en-US" sz="38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Генеративные искусствен...</a:t>
            </a:r>
            <a:endParaRPr lang="en-US" sz="3807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6142939" y="-1315707"/>
            <a:ext cx="114300" cy="114186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95121" y="-1315707"/>
            <a:ext cx="114300" cy="114186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82121" y="-1315707"/>
            <a:ext cx="114300" cy="114186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819266" y="-1315707"/>
            <a:ext cx="114300" cy="114186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7338060" y="-1276102"/>
            <a:ext cx="32770267" cy="34461"/>
          </a:xfrm>
          <a:prstGeom prst="rect">
            <a:avLst/>
          </a:prstGeom>
        </p:spPr>
      </p:pic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40841" y="-1261701"/>
            <a:ext cx="22860" cy="4114800"/>
          </a:xfrm>
          <a:prstGeom prst="rect">
            <a:avLst/>
          </a:prstGeom>
        </p:spPr>
      </p:pic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407262" y="2099062"/>
            <a:ext cx="283464" cy="400164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407262" y="1287418"/>
            <a:ext cx="283464" cy="400164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1858061" y="209906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 работы - моделирование P(Y|X)</a:t>
            </a:r>
            <a:endParaRPr lang="en-US" sz="2115" dirty="0"/>
          </a:p>
        </p:txBody>
      </p:sp>
      <p:sp>
        <p:nvSpPr>
          <p:cNvPr id="15" name="Text 5"/>
          <p:cNvSpPr/>
          <p:nvPr/>
        </p:nvSpPr>
        <p:spPr>
          <a:xfrm>
            <a:off x="1858061" y="128741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Алгоритмы:</a:t>
            </a:r>
            <a:endParaRPr lang="en-US" sz="211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749808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 работы - модел...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Общая концепция: учатся моделировать границы принятия решений - разделяют и объединяют точки да...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1228954" y="2898877"/>
            <a:ext cx="7406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 прямому правилу принятия решения, которое сопоставляет входные данные X с выходными данными Y.</a:t>
            </a:r>
            <a:endParaRPr lang="en-US" sz="2115" dirty="0"/>
          </a:p>
        </p:txBody>
      </p:sp>
      <p:pic>
        <p:nvPicPr>
          <p:cNvPr id="5" name="Image 0" descr="file:///C:/Users/Hvv13/AppData/Local/Programs/Xmind/resources/app.asar/static/snowbird/resource/markers/symbolMarkers/symbol-lightning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1540" y="2955969"/>
            <a:ext cx="286207" cy="28597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28954" y="4407465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Предсказание условной вероятности метки y с учетом набора характеристик x.</a:t>
            </a:r>
            <a:endParaRPr lang="en-US" sz="2115" dirty="0"/>
          </a:p>
        </p:txBody>
      </p:sp>
      <p:pic>
        <p:nvPicPr>
          <p:cNvPr id="7" name="Image 1" descr="file:///C:/Users/Hvv13/AppData/Local/Programs/Xmind/resources/app.asar/static/snowbird/resource/markers/symbolMarkers/symbol-lightning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1540" y="4464558"/>
            <a:ext cx="286207" cy="28597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28954" y="5515889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Предсказание непрерывной величины y при наборе характеристик x.</a:t>
            </a:r>
            <a:endParaRPr lang="en-US" sz="2115" dirty="0"/>
          </a:p>
        </p:txBody>
      </p:sp>
      <p:pic>
        <p:nvPicPr>
          <p:cNvPr id="9" name="Image 2" descr="file:///C:/Users/Hvv13/AppData/Local/Programs/Xmind/resources/app.asar/static/snowbird/resource/markers/symbolMarkers/symbol-lightning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1540" y="5573497"/>
            <a:ext cx="286207" cy="28597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28954" y="6624828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Определение сходства характеристик объекта x относительно объекта y.</a:t>
            </a:r>
            <a:endParaRPr lang="en-US" sz="2115" dirty="0"/>
          </a:p>
        </p:txBody>
      </p:sp>
      <p:pic>
        <p:nvPicPr>
          <p:cNvPr id="11" name="Image 3" descr="file:///C:/Users/Hvv13/AppData/Local/Programs/Xmind/resources/app.asar/static/snowbird/resource/markers/symbolMarkers/symbol-lightning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1540" y="6681921"/>
            <a:ext cx="286207" cy="28597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28954" y="7733767"/>
            <a:ext cx="7406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Обычно обучаются для разделения страт или для минимизации ошибки прогнозирования при выбранной функции потерь.</a:t>
            </a:r>
            <a:endParaRPr lang="en-US" sz="2115" dirty="0"/>
          </a:p>
        </p:txBody>
      </p:sp>
      <p:pic>
        <p:nvPicPr>
          <p:cNvPr id="13" name="Image 4" descr="file:///C:/Users/Hvv13/AppData/Local/Programs/Xmind/resources/app.asar/static/snowbird/resource/markers/symbolMarkers/symbol-idea.sv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1540" y="7790859"/>
            <a:ext cx="286207" cy="285979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3174" y="2898877"/>
            <a:ext cx="85954" cy="400164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3174" y="4407465"/>
            <a:ext cx="85954" cy="400164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03174" y="5515889"/>
            <a:ext cx="85954" cy="400164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03174" y="6624828"/>
            <a:ext cx="85954" cy="400164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03174" y="7733767"/>
            <a:ext cx="85954" cy="400164"/>
          </a:xfrm>
          <a:prstGeom prst="rect">
            <a:avLst/>
          </a:prstGeom>
        </p:spPr>
      </p:pic>
      <p:sp>
        <p:nvSpPr>
          <p:cNvPr id="20" name="Text 7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21" name="Image 11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371771"/>
            <a:ext cx="7772400" cy="2417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53"/>
              </a:lnSpc>
              <a:buNone/>
            </a:pPr>
            <a:r>
              <a:rPr lang="en-US" sz="253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Общая концепция: учатся моделировать границы принятия решений - разделяют и объединяют точки данных, не предоставляя модели того, как эти точки были созданы, но учитывая взаимозависимость признаков.</a:t>
            </a:r>
            <a:endParaRPr lang="en-US" sz="2538" dirty="0"/>
          </a:p>
        </p:txBody>
      </p:sp>
      <p:sp>
        <p:nvSpPr>
          <p:cNvPr id="3" name="Text 1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347472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Алгоритмы: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способу разделения: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выполняемым задачам:</a:t>
            </a:r>
            <a:endParaRPr lang="en-US" sz="2115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409" y="642938"/>
            <a:ext cx="6718097" cy="32146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82926" y="4063365"/>
            <a:ext cx="43891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способу разделения:</a:t>
            </a:r>
            <a:endParaRPr lang="en-US" sz="2665" dirty="0"/>
          </a:p>
        </p:txBody>
      </p:sp>
      <p:sp>
        <p:nvSpPr>
          <p:cNvPr id="4" name="Text 1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694944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способу разделения: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75081" y="1789938"/>
            <a:ext cx="68580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8"/>
              </a:lnSpc>
              <a:buNone/>
            </a:pPr>
            <a:r>
              <a:rPr lang="en-US" sz="169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Детерминированные - при одинаковых входных данных детерминированная модель всегда будет выдавать одинаковый результат.</a:t>
            </a:r>
            <a:endParaRPr lang="en-US" sz="1692" dirty="0"/>
          </a:p>
        </p:txBody>
      </p:sp>
      <p:sp>
        <p:nvSpPr>
          <p:cNvPr id="4" name="Text 2"/>
          <p:cNvSpPr/>
          <p:nvPr/>
        </p:nvSpPr>
        <p:spPr>
          <a:xfrm>
            <a:off x="875081" y="3127248"/>
            <a:ext cx="69494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8"/>
              </a:lnSpc>
              <a:buNone/>
            </a:pPr>
            <a:r>
              <a:rPr lang="en-US" sz="169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Стохастические - присваивают вероятности различным исходам, предоставляя распределение возможных результатов, а не одно детерминированное значение.</a:t>
            </a:r>
            <a:endParaRPr lang="en-US" sz="1692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1789938"/>
            <a:ext cx="68580" cy="343071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3174" y="3127248"/>
            <a:ext cx="68580" cy="34307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768096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Детерминированные - пр...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Линейная регрессия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Логистическая регрессия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3207487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 опорных векторов (SVM)</a:t>
            </a:r>
            <a:endParaRPr lang="en-US" sz="2115" dirty="0"/>
          </a:p>
        </p:txBody>
      </p:sp>
      <p:sp>
        <p:nvSpPr>
          <p:cNvPr id="6" name="Text 4"/>
          <p:cNvSpPr/>
          <p:nvPr/>
        </p:nvSpPr>
        <p:spPr>
          <a:xfrm>
            <a:off x="891540" y="3915747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Деревья решений</a:t>
            </a:r>
            <a:endParaRPr lang="en-US" sz="2115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207487"/>
            <a:ext cx="85954" cy="400164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3174" y="3915747"/>
            <a:ext cx="85954" cy="40016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749808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Стохастические - присва...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Байесовские модели и сети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Гауссовские модели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3207487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Случайный лес (Random Forest)</a:t>
            </a:r>
            <a:endParaRPr lang="en-US" sz="2115" dirty="0"/>
          </a:p>
        </p:txBody>
      </p:sp>
      <p:sp>
        <p:nvSpPr>
          <p:cNvPr id="6" name="Text 4"/>
          <p:cNvSpPr/>
          <p:nvPr/>
        </p:nvSpPr>
        <p:spPr>
          <a:xfrm>
            <a:off x="891540" y="3915747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Градиентный бустинг (Gradient Boosting Machines, GBM)</a:t>
            </a:r>
            <a:endParaRPr lang="en-US" sz="2115" dirty="0"/>
          </a:p>
        </p:txBody>
      </p:sp>
      <p:sp>
        <p:nvSpPr>
          <p:cNvPr id="7" name="Text 5"/>
          <p:cNvSpPr/>
          <p:nvPr/>
        </p:nvSpPr>
        <p:spPr>
          <a:xfrm>
            <a:off x="891540" y="4624521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Искусственные нейронные сети</a:t>
            </a:r>
            <a:endParaRPr lang="en-US" sz="2115" dirty="0"/>
          </a:p>
        </p:txBody>
      </p:sp>
      <p:sp>
        <p:nvSpPr>
          <p:cNvPr id="8" name="Text 6"/>
          <p:cNvSpPr/>
          <p:nvPr/>
        </p:nvSpPr>
        <p:spPr>
          <a:xfrm>
            <a:off x="891540" y="5333295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Скрытые марковские модел</a:t>
            </a:r>
            <a:endParaRPr lang="en-US" sz="2115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207487"/>
            <a:ext cx="85954" cy="400164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3174" y="3915747"/>
            <a:ext cx="85954" cy="400164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3174" y="4624521"/>
            <a:ext cx="85954" cy="400164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3174" y="5333295"/>
            <a:ext cx="85954" cy="40016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64301" y="1491615"/>
            <a:ext cx="2286000" cy="2160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198"/>
              </a:lnSpc>
              <a:buNone/>
            </a:pPr>
            <a:r>
              <a:rPr lang="en-US" sz="22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Часто встречающееся, но не совсем корректное р...</a:t>
            </a:r>
            <a:endParaRPr lang="en-US" sz="2284" dirty="0"/>
          </a:p>
        </p:txBody>
      </p:sp>
      <p:sp>
        <p:nvSpPr>
          <p:cNvPr id="3" name="Text 1"/>
          <p:cNvSpPr/>
          <p:nvPr/>
        </p:nvSpPr>
        <p:spPr>
          <a:xfrm>
            <a:off x="781812" y="2283714"/>
            <a:ext cx="37490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4264"/>
              </a:lnSpc>
              <a:buNone/>
            </a:pPr>
            <a:r>
              <a:rPr lang="en-US" sz="304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способу разде...</a:t>
            </a:r>
            <a:endParaRPr lang="en-US" sz="3046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13478" y="642938"/>
            <a:ext cx="1527962" cy="38576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9750" y="1979733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382"/>
              </a:lnSpc>
              <a:buNone/>
            </a:pPr>
            <a:r>
              <a:rPr lang="en-US" sz="31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Часто встречающееся, но не совсем корректное разделение, так как:</a:t>
            </a:r>
            <a:endParaRPr lang="en-US" sz="3130" dirty="0"/>
          </a:p>
        </p:txBody>
      </p:sp>
      <p:sp>
        <p:nvSpPr>
          <p:cNvPr id="3" name="Text 1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77724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Часто встречающееся, но...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1154887" y="1789938"/>
            <a:ext cx="749808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8"/>
              </a:lnSpc>
              <a:buNone/>
            </a:pPr>
            <a:r>
              <a:rPr lang="en-US" sz="169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Машинное обучение по своей сути стохастично, так как обучения может включать случайную инициализацию, стохастическое обновл...</a:t>
            </a:r>
            <a:endParaRPr lang="en-US" sz="1692" dirty="0"/>
          </a:p>
        </p:txBody>
      </p:sp>
      <p:pic>
        <p:nvPicPr>
          <p:cNvPr id="4" name="Image 0" descr="file:///C:/Users/Hvv13/AppData/Local/Programs/Xmind/resources/app.asar/static/snowbird/resource/markers/symbolMarkers/symbol-exclam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5081" y="1847031"/>
            <a:ext cx="228600" cy="22837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4887" y="2784177"/>
            <a:ext cx="68580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8"/>
              </a:lnSpc>
              <a:buNone/>
            </a:pPr>
            <a:r>
              <a:rPr lang="en-US" sz="169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все модели, принятые относить к машинному обучению, являются интеллектуальными, что относится к многим моделям классификации и регрессии.</a:t>
            </a:r>
            <a:endParaRPr lang="en-US" sz="1692" dirty="0"/>
          </a:p>
        </p:txBody>
      </p:sp>
      <p:pic>
        <p:nvPicPr>
          <p:cNvPr id="6" name="Image 1" descr="file:///C:/Users/Hvv13/AppData/Local/Programs/Xmind/resources/app.asar/static/snowbird/resource/markers/symbolMarkers/symbol-exclam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5081" y="2841269"/>
            <a:ext cx="228600" cy="22837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54887" y="4121487"/>
            <a:ext cx="68580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8"/>
              </a:lnSpc>
              <a:buNone/>
            </a:pPr>
            <a:r>
              <a:rPr lang="en-US" sz="169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Даже результат стохастических моделей может быть предсказуемым (в том числе даже ответ языковой модели из-за генерации токенов по наиболее вероятной цепочке событий).</a:t>
            </a:r>
            <a:endParaRPr lang="en-US" sz="1692" dirty="0"/>
          </a:p>
        </p:txBody>
      </p:sp>
      <p:pic>
        <p:nvPicPr>
          <p:cNvPr id="8" name="Image 2" descr="file:///C:/Users/Hvv13/AppData/Local/Programs/Xmind/resources/app.asar/static/snowbird/resource/markers/symbolMarkers/symbol-exclam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5081" y="4178579"/>
            <a:ext cx="228600" cy="22837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54887" y="5458797"/>
            <a:ext cx="758952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8"/>
              </a:lnSpc>
              <a:buNone/>
            </a:pPr>
            <a:r>
              <a:rPr lang="en-US" sz="169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Даже детерминированная изначально модель может иметь недетерминированный результат (например, в системе продукционн...</a:t>
            </a:r>
            <a:endParaRPr lang="en-US" sz="1692" dirty="0"/>
          </a:p>
        </p:txBody>
      </p:sp>
      <p:pic>
        <p:nvPicPr>
          <p:cNvPr id="10" name="Image 3" descr="file:///C:/Users/Hvv13/AppData/Local/Programs/Xmind/resources/app.asar/static/snowbird/resource/markers/symbolMarkers/symbol-exclam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5081" y="5515889"/>
            <a:ext cx="228600" cy="22837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4887" y="6453549"/>
            <a:ext cx="749808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8"/>
              </a:lnSpc>
              <a:buNone/>
            </a:pPr>
            <a:r>
              <a:rPr lang="en-US" sz="169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Часто стохастическими называют не вероятностные модели, а модели, которые трудно вычислимы или интерпретируемы (даже не...</a:t>
            </a:r>
            <a:endParaRPr lang="en-US" sz="1692" dirty="0"/>
          </a:p>
        </p:txBody>
      </p:sp>
      <p:pic>
        <p:nvPicPr>
          <p:cNvPr id="12" name="Image 4" descr="file:///C:/Users/Hvv13/AppData/Local/Programs/Xmind/resources/app.asar/static/snowbird/resource/markers/symbolMarkers/symbol-exclam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5081" y="6510642"/>
            <a:ext cx="228600" cy="228371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1789938"/>
            <a:ext cx="68580" cy="343071"/>
          </a:xfrm>
          <a:prstGeom prst="rect">
            <a:avLst/>
          </a:prstGeom>
        </p:spPr>
      </p:pic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3174" y="2784177"/>
            <a:ext cx="68580" cy="343071"/>
          </a:xfrm>
          <a:prstGeom prst="rect">
            <a:avLst/>
          </a:prstGeom>
        </p:spPr>
      </p:pic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3174" y="4121487"/>
            <a:ext cx="68580" cy="343071"/>
          </a:xfrm>
          <a:prstGeom prst="rect">
            <a:avLst/>
          </a:prstGeom>
        </p:spPr>
      </p:pic>
      <p:pic>
        <p:nvPicPr>
          <p:cNvPr id="16" name="Image 8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3174" y="5458797"/>
            <a:ext cx="68580" cy="343071"/>
          </a:xfrm>
          <a:prstGeom prst="rect">
            <a:avLst/>
          </a:prstGeom>
        </p:spPr>
      </p:pic>
      <p:pic>
        <p:nvPicPr>
          <p:cNvPr id="17" name="Image 9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3174" y="6453549"/>
            <a:ext cx="68580" cy="343071"/>
          </a:xfrm>
          <a:prstGeom prst="rect">
            <a:avLst/>
          </a:prstGeom>
        </p:spPr>
      </p:pic>
      <p:sp>
        <p:nvSpPr>
          <p:cNvPr id="18" name="Text 6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5860" y="1431436"/>
            <a:ext cx="7680960" cy="2314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76"/>
              </a:lnSpc>
              <a:buNone/>
            </a:pPr>
            <a:r>
              <a:rPr lang="en-US" sz="24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Машинное обучение по своей сути стохастично, так как обучения может включать случайную инициализацию, стохастическое обновление, случайное перетасовывание данных или стохастическую регуляризацию.</a:t>
            </a:r>
            <a:endParaRPr lang="en-US" sz="2411" dirty="0"/>
          </a:p>
        </p:txBody>
      </p:sp>
      <p:pic>
        <p:nvPicPr>
          <p:cNvPr id="3" name="Image 0" descr="file:///C:/Users/Hvv13/AppData/Local/Programs/Xmind/resources/app.asar/static/snowbird/resource/markers/symbolMarkers/symbol-exclam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7006" y="1496759"/>
            <a:ext cx="325526" cy="3255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91463" y="1431436"/>
            <a:ext cx="7680960" cy="2314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76"/>
              </a:lnSpc>
              <a:buNone/>
            </a:pPr>
            <a:r>
              <a:rPr lang="en-US" sz="24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Даже детерминированная изначально модель может иметь недетерминированный результат (например, в системе продукционных правил на выходном слое может находится генератор случайных чисел).</a:t>
            </a:r>
            <a:endParaRPr lang="en-US" sz="2411" dirty="0"/>
          </a:p>
        </p:txBody>
      </p:sp>
      <p:pic>
        <p:nvPicPr>
          <p:cNvPr id="3" name="Image 0" descr="file:///C:/Users/Hvv13/AppData/Local/Programs/Xmind/resources/app.asar/static/snowbird/resource/markers/symbolMarkers/symbol-exclam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610" y="1496759"/>
            <a:ext cx="325526" cy="3255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94206" y="1331652"/>
            <a:ext cx="7680960" cy="2520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72"/>
              </a:lnSpc>
              <a:buNone/>
            </a:pPr>
            <a:r>
              <a:rPr lang="en-US" sz="262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Часто стохастическими называют не вероятностные модели, а модели, которые трудно вычислимы или интерпретируемы (даже нейронную сеть можно обучать детерминированными оптимизаторами).</a:t>
            </a:r>
            <a:endParaRPr lang="en-US" sz="2623" dirty="0"/>
          </a:p>
        </p:txBody>
      </p:sp>
      <p:pic>
        <p:nvPicPr>
          <p:cNvPr id="3" name="Image 0" descr="file:///C:/Users/Hvv13/AppData/Local/Programs/Xmind/resources/app.asar/static/snowbird/resource/markers/symbolMarkers/symbol-exclam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7006" y="1402632"/>
            <a:ext cx="354787" cy="3543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77724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выполняемым задачам: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Предварительная обработка данных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ассоциативных правил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3207487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Кластеризация</a:t>
            </a:r>
            <a:endParaRPr lang="en-US" sz="2115" dirty="0"/>
          </a:p>
        </p:txBody>
      </p:sp>
      <p:sp>
        <p:nvSpPr>
          <p:cNvPr id="6" name="Text 4"/>
          <p:cNvSpPr/>
          <p:nvPr/>
        </p:nvSpPr>
        <p:spPr>
          <a:xfrm>
            <a:off x="891540" y="3915747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Регрессия</a:t>
            </a:r>
            <a:endParaRPr lang="en-US" sz="2115" dirty="0"/>
          </a:p>
        </p:txBody>
      </p:sp>
      <p:sp>
        <p:nvSpPr>
          <p:cNvPr id="7" name="Text 5"/>
          <p:cNvSpPr/>
          <p:nvPr/>
        </p:nvSpPr>
        <p:spPr>
          <a:xfrm>
            <a:off x="891540" y="4624521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Классификация</a:t>
            </a:r>
            <a:endParaRPr lang="en-US" sz="2115" dirty="0"/>
          </a:p>
        </p:txBody>
      </p:sp>
      <p:sp>
        <p:nvSpPr>
          <p:cNvPr id="8" name="Text 6"/>
          <p:cNvSpPr/>
          <p:nvPr/>
        </p:nvSpPr>
        <p:spPr>
          <a:xfrm>
            <a:off x="891540" y="5333295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временных рядов</a:t>
            </a:r>
            <a:endParaRPr lang="en-US" sz="2115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207487"/>
            <a:ext cx="85954" cy="400164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3174" y="3915747"/>
            <a:ext cx="85954" cy="400164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3174" y="4624521"/>
            <a:ext cx="85954" cy="400164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3174" y="5333295"/>
            <a:ext cx="85954" cy="40016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52821" y="1419606"/>
            <a:ext cx="2743200" cy="2314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Предварительная обработка данных</a:t>
            </a:r>
            <a:endParaRPr lang="en-US" sz="3046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326" y="1227239"/>
            <a:ext cx="4267505" cy="26890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740664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Предварительная обраб...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75081" y="1789938"/>
            <a:ext cx="74980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8"/>
              </a:lnSpc>
              <a:buNone/>
            </a:pPr>
            <a:r>
              <a:rPr lang="en-US" sz="169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Задача: подготовка сырых данных из различных источников путём их преобразования и объединения в единый валидный набор полезных данных</a:t>
            </a:r>
            <a:endParaRPr lang="en-US" sz="1692" dirty="0"/>
          </a:p>
        </p:txBody>
      </p:sp>
      <p:sp>
        <p:nvSpPr>
          <p:cNvPr id="4" name="Text 2"/>
          <p:cNvSpPr/>
          <p:nvPr/>
        </p:nvSpPr>
        <p:spPr>
          <a:xfrm>
            <a:off x="875081" y="3127248"/>
            <a:ext cx="758952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8"/>
              </a:lnSpc>
              <a:buNone/>
            </a:pPr>
            <a:r>
              <a:rPr lang="en-US" sz="169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алгоритмы: все методы data collection, data pre-processing и data augmentation.</a:t>
            </a:r>
            <a:endParaRPr lang="en-US" sz="1692" dirty="0"/>
          </a:p>
        </p:txBody>
      </p:sp>
      <p:sp>
        <p:nvSpPr>
          <p:cNvPr id="5" name="Text 3"/>
          <p:cNvSpPr/>
          <p:nvPr/>
        </p:nvSpPr>
        <p:spPr>
          <a:xfrm>
            <a:off x="875081" y="4121487"/>
            <a:ext cx="2377440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8"/>
              </a:lnSpc>
              <a:buNone/>
            </a:pPr>
            <a:r>
              <a:rPr lang="en-US" sz="169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Область применения:</a:t>
            </a:r>
            <a:endParaRPr lang="en-US" sz="1692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1789938"/>
            <a:ext cx="68580" cy="343071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3174" y="3127248"/>
            <a:ext cx="68580" cy="343071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4121487"/>
            <a:ext cx="68580" cy="34307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621792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Область применения: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и вывод аналитических отчётов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Подготовка данных для обучения интеллектуальных моделей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3607137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Обработка данных для хранилищ данных (в том числе для борьба с проблемой больших данных)</a:t>
            </a:r>
            <a:endParaRPr lang="en-US" sz="2115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607137"/>
            <a:ext cx="85954" cy="40016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99739" y="1995678"/>
            <a:ext cx="4846320" cy="1183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и вывод аналитических отчётов</a:t>
            </a:r>
            <a:endParaRPr lang="en-US" sz="3046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1034" y="1657236"/>
            <a:ext cx="1828800" cy="18290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6646" y="1419606"/>
            <a:ext cx="4937760" cy="2314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Подготовка данных для обучения интеллектуальных моделей</a:t>
            </a:r>
            <a:endParaRPr lang="en-US" sz="3046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7941" y="1642320"/>
            <a:ext cx="1828800" cy="18593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14039" y="1291533"/>
            <a:ext cx="45720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90"/>
              </a:lnSpc>
              <a:buNone/>
            </a:pPr>
            <a:r>
              <a:rPr lang="en-US" sz="27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Обработка данных для хранилищ данных (в том числе для борьба с проблемой больших данных)</a:t>
            </a:r>
            <a:endParaRPr lang="en-US" sz="2707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5334" y="1642320"/>
            <a:ext cx="1828800" cy="18593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95798" y="1707642"/>
            <a:ext cx="2651760" cy="174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ассоциативных правил</a:t>
            </a:r>
            <a:endParaRPr lang="en-US" sz="3046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02" y="1371257"/>
            <a:ext cx="4267505" cy="240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777240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949"/>
              </a:lnSpc>
              <a:buNone/>
            </a:pPr>
            <a:r>
              <a:rPr lang="en-US" sz="38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ассоциативных правил</a:t>
            </a:r>
            <a:endParaRPr lang="en-US" sz="3807" dirty="0"/>
          </a:p>
        </p:txBody>
      </p:sp>
      <p:sp>
        <p:nvSpPr>
          <p:cNvPr id="3" name="Text 1"/>
          <p:cNvSpPr/>
          <p:nvPr/>
        </p:nvSpPr>
        <p:spPr>
          <a:xfrm>
            <a:off x="875081" y="1723073"/>
            <a:ext cx="67665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8"/>
              </a:lnSpc>
              <a:buNone/>
            </a:pPr>
            <a:r>
              <a:rPr lang="en-US" sz="169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Задача: процесс выявления ассоциативных правил (связанных паттернов) на основе критерия частоты совместной встречи соответствующими методами.</a:t>
            </a:r>
            <a:endParaRPr lang="en-US" sz="1692" dirty="0"/>
          </a:p>
        </p:txBody>
      </p:sp>
      <p:sp>
        <p:nvSpPr>
          <p:cNvPr id="4" name="Text 2"/>
          <p:cNvSpPr/>
          <p:nvPr/>
        </p:nvSpPr>
        <p:spPr>
          <a:xfrm>
            <a:off x="875081" y="3060383"/>
            <a:ext cx="5760720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8"/>
              </a:lnSpc>
              <a:buNone/>
            </a:pPr>
            <a:r>
              <a:rPr lang="en-US" sz="169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алгоритмы: Apriori, Eclat, FP-growth, RElim.</a:t>
            </a:r>
            <a:endParaRPr lang="en-US" sz="1692" dirty="0"/>
          </a:p>
        </p:txBody>
      </p:sp>
      <p:sp>
        <p:nvSpPr>
          <p:cNvPr id="5" name="Text 3"/>
          <p:cNvSpPr/>
          <p:nvPr/>
        </p:nvSpPr>
        <p:spPr>
          <a:xfrm>
            <a:off x="875081" y="3712064"/>
            <a:ext cx="2377440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8"/>
              </a:lnSpc>
              <a:buNone/>
            </a:pPr>
            <a:r>
              <a:rPr lang="en-US" sz="169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Область применения:</a:t>
            </a:r>
            <a:endParaRPr lang="en-US" sz="1692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1723073"/>
            <a:ext cx="68580" cy="343071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3174" y="3060383"/>
            <a:ext cx="68580" cy="343071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712064"/>
            <a:ext cx="68580" cy="34307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621792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Область применения: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потребительской корзины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Медицинская аналитика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3207487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технических неполадок</a:t>
            </a:r>
            <a:endParaRPr lang="en-US" sz="2115" dirty="0"/>
          </a:p>
        </p:txBody>
      </p:sp>
      <p:sp>
        <p:nvSpPr>
          <p:cNvPr id="6" name="Text 4"/>
          <p:cNvSpPr/>
          <p:nvPr/>
        </p:nvSpPr>
        <p:spPr>
          <a:xfrm>
            <a:off x="891540" y="3915747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правил для экспертных систем</a:t>
            </a:r>
            <a:endParaRPr lang="en-US" sz="2115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207487"/>
            <a:ext cx="85954" cy="400164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3174" y="3915747"/>
            <a:ext cx="85954" cy="40016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10458" y="1995678"/>
            <a:ext cx="5212080" cy="1183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потребительской корзины</a:t>
            </a:r>
            <a:endParaRPr lang="en-US" sz="3046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2668" y="1657236"/>
            <a:ext cx="1828800" cy="18290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68396" y="2267769"/>
            <a:ext cx="53035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501"/>
              </a:lnSpc>
              <a:buNone/>
            </a:pPr>
            <a:r>
              <a:rPr lang="en-US" sz="321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Медицинская аналитика</a:t>
            </a:r>
            <a:endParaRPr lang="en-US" sz="3215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9691" y="1657236"/>
            <a:ext cx="1828800" cy="18290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19779" y="1995678"/>
            <a:ext cx="4206240" cy="1183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технических неполадок</a:t>
            </a:r>
            <a:endParaRPr lang="en-US" sz="3046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81074" y="1642320"/>
            <a:ext cx="1828800" cy="18593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8476" y="1995678"/>
            <a:ext cx="4023360" cy="1183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правил для экспертных систем</a:t>
            </a:r>
            <a:endParaRPr lang="en-US" sz="3046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9771" y="1657236"/>
            <a:ext cx="1828800" cy="18290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90642" y="1995678"/>
            <a:ext cx="2926080" cy="1183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Кластеризация</a:t>
            </a:r>
            <a:endParaRPr lang="en-US" sz="3046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971607"/>
            <a:ext cx="4267505" cy="32002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429768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Кластеризация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Задача: объединения данных на основе общих признаков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898877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алгоритмы: k-means, DBSCAN, AGNES, STING, GMM.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4007301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Область применения:</a:t>
            </a:r>
            <a:endParaRPr lang="en-US" sz="2115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3174" y="2898877"/>
            <a:ext cx="85954" cy="400164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4007301"/>
            <a:ext cx="85954" cy="40016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621792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Область применения: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Сегментация клиентов и рынков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потребительской корзины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3207487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социальных сетей и связей</a:t>
            </a:r>
            <a:endParaRPr lang="en-US" sz="2115" dirty="0"/>
          </a:p>
        </p:txBody>
      </p:sp>
      <p:sp>
        <p:nvSpPr>
          <p:cNvPr id="6" name="Text 4"/>
          <p:cNvSpPr/>
          <p:nvPr/>
        </p:nvSpPr>
        <p:spPr>
          <a:xfrm>
            <a:off x="891540" y="3915747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закономерностей и групп риска при медицинских исследованиях</a:t>
            </a:r>
            <a:endParaRPr lang="en-US" sz="2115" dirty="0"/>
          </a:p>
        </p:txBody>
      </p:sp>
      <p:sp>
        <p:nvSpPr>
          <p:cNvPr id="7" name="Text 5"/>
          <p:cNvSpPr/>
          <p:nvPr/>
        </p:nvSpPr>
        <p:spPr>
          <a:xfrm>
            <a:off x="891540" y="5024685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Инженерия данных (предобработка - обработка аномалий, шумов, группировка данных)</a:t>
            </a:r>
            <a:endParaRPr lang="en-US" sz="2115" dirty="0"/>
          </a:p>
        </p:txBody>
      </p:sp>
      <p:sp>
        <p:nvSpPr>
          <p:cNvPr id="8" name="Text 6"/>
          <p:cNvSpPr/>
          <p:nvPr/>
        </p:nvSpPr>
        <p:spPr>
          <a:xfrm>
            <a:off x="891540" y="6133109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 для классификации (требует осмысление кластеров)</a:t>
            </a:r>
            <a:endParaRPr lang="en-US" sz="2115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207487"/>
            <a:ext cx="85954" cy="400164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3174" y="3915747"/>
            <a:ext cx="85954" cy="400164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3174" y="5024685"/>
            <a:ext cx="85954" cy="400164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3174" y="6133109"/>
            <a:ext cx="85954" cy="40016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01284" y="2237423"/>
            <a:ext cx="265176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949"/>
              </a:lnSpc>
              <a:buNone/>
            </a:pPr>
            <a:r>
              <a:rPr lang="en-US" sz="38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Регрессия</a:t>
            </a:r>
            <a:endParaRPr lang="en-US" sz="3807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9" y="1149572"/>
            <a:ext cx="4267505" cy="28448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292608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Регрессия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75081" y="1789938"/>
            <a:ext cx="70408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8"/>
              </a:lnSpc>
              <a:buNone/>
            </a:pPr>
            <a:r>
              <a:rPr lang="en-US" sz="169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Задача: Поиск функциональной зависимости между зависимой/зависимыми (предсказываемыми) и независимыми переменными (известными)</a:t>
            </a:r>
            <a:endParaRPr lang="en-US" sz="1692" dirty="0"/>
          </a:p>
        </p:txBody>
      </p:sp>
      <p:sp>
        <p:nvSpPr>
          <p:cNvPr id="4" name="Text 2"/>
          <p:cNvSpPr/>
          <p:nvPr/>
        </p:nvSpPr>
        <p:spPr>
          <a:xfrm>
            <a:off x="875081" y="3127248"/>
            <a:ext cx="749808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8"/>
              </a:lnSpc>
              <a:buNone/>
            </a:pPr>
            <a:r>
              <a:rPr lang="en-US" sz="169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алгоритмы: линейная, полиномиальная, лассо-, гребневая и робуставая регрессии, Elasctic Net, k-nn, дерево решений.</a:t>
            </a:r>
            <a:endParaRPr lang="en-US" sz="1692" dirty="0"/>
          </a:p>
        </p:txBody>
      </p:sp>
      <p:sp>
        <p:nvSpPr>
          <p:cNvPr id="5" name="Text 3"/>
          <p:cNvSpPr/>
          <p:nvPr/>
        </p:nvSpPr>
        <p:spPr>
          <a:xfrm>
            <a:off x="875081" y="4121487"/>
            <a:ext cx="2377440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8"/>
              </a:lnSpc>
              <a:buNone/>
            </a:pPr>
            <a:r>
              <a:rPr lang="en-US" sz="169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Область применения:</a:t>
            </a:r>
            <a:endParaRPr lang="en-US" sz="1692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1789938"/>
            <a:ext cx="68580" cy="343071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3174" y="3127248"/>
            <a:ext cx="68580" cy="343071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4121487"/>
            <a:ext cx="68580" cy="34307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621792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Область применения: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Прогнозирования валидных показателей: прогнозирование цен, выплат и других экономических ...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898877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Прогнозирование тенденций: прогнозирование затрат и получений ресурсов на основе исторических данных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4007301"/>
            <a:ext cx="6858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Выявление и анализ рыночных рисков: поиск зависимости риска потерь и убытков от различных факторов</a:t>
            </a:r>
            <a:endParaRPr lang="en-US" sz="2115" dirty="0"/>
          </a:p>
        </p:txBody>
      </p:sp>
      <p:sp>
        <p:nvSpPr>
          <p:cNvPr id="6" name="Text 4"/>
          <p:cNvSpPr/>
          <p:nvPr/>
        </p:nvSpPr>
        <p:spPr>
          <a:xfrm>
            <a:off x="891540" y="5515889"/>
            <a:ext cx="7040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Выявление факторов медицинских рисков: анализ и прогнозирование изменения числовых медицинских показателей</a:t>
            </a:r>
            <a:endParaRPr lang="en-US" sz="2115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3174" y="2898877"/>
            <a:ext cx="85954" cy="400164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4007301"/>
            <a:ext cx="85954" cy="400164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3174" y="5515889"/>
            <a:ext cx="85954" cy="40016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56762" y="642938"/>
            <a:ext cx="4937760" cy="7509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Прогнозирования валидных показателей: прогнозирование цен, выплат и других экономических показателей в зависимости от параметров объектов (например, возраст, размер, цвет и т.п., а не от времени, как это делается в анализе временных рядов).</a:t>
            </a:r>
            <a:endParaRPr lang="en-US" sz="3046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8058" y="1657236"/>
            <a:ext cx="1828800" cy="18290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59252" y="1311593"/>
            <a:ext cx="5303520" cy="2520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Прогнозирование тенденций: прогнозирование затрат и получений ресурсов на основе исторических данных</a:t>
            </a:r>
            <a:endParaRPr lang="en-US" sz="2665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1462" y="1657236"/>
            <a:ext cx="1828800" cy="18290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96742" y="1291533"/>
            <a:ext cx="521208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90"/>
              </a:lnSpc>
              <a:buNone/>
            </a:pPr>
            <a:r>
              <a:rPr lang="en-US" sz="27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Выявление и анализ рыночных рисков: поиск зависимости риска потерь и убытков от различных факторов</a:t>
            </a:r>
            <a:endParaRPr lang="en-US" sz="2707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8038" y="1657236"/>
            <a:ext cx="1828800" cy="18290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48279" y="1291533"/>
            <a:ext cx="530352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90"/>
              </a:lnSpc>
              <a:buNone/>
            </a:pPr>
            <a:r>
              <a:rPr lang="en-US" sz="27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Выявление факторов медицинских рисков: анализ и прогнозирование изменения числовых медицинских показателей</a:t>
            </a:r>
            <a:endParaRPr lang="en-US" sz="2707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9574" y="1657236"/>
            <a:ext cx="1828800" cy="18290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970" y="642938"/>
            <a:ext cx="6429146" cy="32146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51937" y="4063365"/>
            <a:ext cx="29260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Классификация</a:t>
            </a:r>
            <a:endParaRPr lang="en-US" sz="2665" dirty="0"/>
          </a:p>
        </p:txBody>
      </p:sp>
      <p:sp>
        <p:nvSpPr>
          <p:cNvPr id="4" name="Text 1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448056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Классификация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Задача: предсказательная задача определения класса объекта, выполняемая с помощью обучения с учителе...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898877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алгоритмы: SVM, логистическая регрессия, k-nn, наивный Байес, дерево решений и случайный лес.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4007301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Область применения:</a:t>
            </a:r>
            <a:endParaRPr lang="en-US" sz="2115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3174" y="2898877"/>
            <a:ext cx="85954" cy="400164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4007301"/>
            <a:ext cx="85954" cy="40016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633" y="1351712"/>
            <a:ext cx="7772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12"/>
              </a:lnSpc>
              <a:buNone/>
            </a:pPr>
            <a:r>
              <a:rPr lang="en-US" sz="2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Задача: предсказательная задача определения класса объекта, выполняемая с помощью обучения с учителем, где в обучающем наборе данных содержаться метки классов и свойственные им признаки</a:t>
            </a:r>
            <a:endParaRPr lang="en-US" sz="2580" dirty="0"/>
          </a:p>
        </p:txBody>
      </p:sp>
      <p:sp>
        <p:nvSpPr>
          <p:cNvPr id="3" name="Text 1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621792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Область применения: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Фильтрация контента (письма, мультимедиа, комментарии и т.п.)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898877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Рекомендательные системы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3607137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рисков</a:t>
            </a:r>
            <a:endParaRPr lang="en-US" sz="2115" dirty="0"/>
          </a:p>
        </p:txBody>
      </p:sp>
      <p:sp>
        <p:nvSpPr>
          <p:cNvPr id="6" name="Text 4"/>
          <p:cNvSpPr/>
          <p:nvPr/>
        </p:nvSpPr>
        <p:spPr>
          <a:xfrm>
            <a:off x="891540" y="4315911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принадлежности к социальным группам</a:t>
            </a:r>
            <a:endParaRPr lang="en-US" sz="2115" dirty="0"/>
          </a:p>
        </p:txBody>
      </p:sp>
      <p:sp>
        <p:nvSpPr>
          <p:cNvPr id="7" name="Text 5"/>
          <p:cNvSpPr/>
          <p:nvPr/>
        </p:nvSpPr>
        <p:spPr>
          <a:xfrm>
            <a:off x="891540" y="5024685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мошеннической деятельности</a:t>
            </a:r>
            <a:endParaRPr lang="en-US" sz="2115" dirty="0"/>
          </a:p>
        </p:txBody>
      </p:sp>
      <p:sp>
        <p:nvSpPr>
          <p:cNvPr id="8" name="Text 6"/>
          <p:cNvSpPr/>
          <p:nvPr/>
        </p:nvSpPr>
        <p:spPr>
          <a:xfrm>
            <a:off x="891540" y="5733459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Медицинская диагностика.</a:t>
            </a:r>
            <a:endParaRPr lang="en-US" sz="2115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3174" y="2898877"/>
            <a:ext cx="85954" cy="400164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607137"/>
            <a:ext cx="85954" cy="400164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3174" y="4315911"/>
            <a:ext cx="85954" cy="400164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3174" y="5024685"/>
            <a:ext cx="85954" cy="400164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3174" y="5733459"/>
            <a:ext cx="85954" cy="40016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8086" y="1707642"/>
            <a:ext cx="4754880" cy="174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Фильтрация контента (письма, мультимедиа, комментарии и т.п.)</a:t>
            </a:r>
            <a:endParaRPr lang="en-US" sz="3046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9381" y="1657236"/>
            <a:ext cx="1828800" cy="18290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96589" y="1995678"/>
            <a:ext cx="4023360" cy="1183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Рекомендательные системы</a:t>
            </a:r>
            <a:endParaRPr lang="en-US" sz="3046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57884" y="1657236"/>
            <a:ext cx="1828800" cy="18290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85286" y="2237423"/>
            <a:ext cx="384048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949"/>
              </a:lnSpc>
              <a:buNone/>
            </a:pPr>
            <a:r>
              <a:rPr lang="en-US" sz="38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рисков</a:t>
            </a:r>
            <a:endParaRPr lang="en-US" sz="3807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46581" y="1657236"/>
            <a:ext cx="1828800" cy="18290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65322" y="1995678"/>
            <a:ext cx="5120640" cy="1183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принадлежности к социальным группам</a:t>
            </a:r>
            <a:endParaRPr lang="en-US" sz="3046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6618" y="1657236"/>
            <a:ext cx="1828800" cy="18290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51276" y="1995678"/>
            <a:ext cx="4937760" cy="1183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мошеннической деятельности</a:t>
            </a:r>
            <a:endParaRPr lang="en-US" sz="3046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2571" y="1657236"/>
            <a:ext cx="1828800" cy="18290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16552" y="1995678"/>
            <a:ext cx="2834640" cy="1183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Медицинская диагностика.</a:t>
            </a:r>
            <a:endParaRPr lang="en-US" sz="3046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78762" y="1657236"/>
            <a:ext cx="1828800" cy="18290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38444" y="1707642"/>
            <a:ext cx="2377440" cy="174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временных рядов</a:t>
            </a:r>
            <a:endParaRPr lang="en-US" sz="3046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49" y="1155744"/>
            <a:ext cx="4267505" cy="28325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73152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временных рядов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Задача: анализ последовательности точек данных, собранных, записанных или измеренных через послед...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898877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алгоритмы: AR, MA, ARMA, ARIMA, SARIMAX.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4007301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Область применения:</a:t>
            </a:r>
            <a:endParaRPr lang="en-US" sz="2115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3174" y="2898877"/>
            <a:ext cx="85954" cy="400164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4007301"/>
            <a:ext cx="85954" cy="40016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1754" y="1511675"/>
            <a:ext cx="7680960" cy="2160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39"/>
              </a:lnSpc>
              <a:buNone/>
            </a:pPr>
            <a:r>
              <a:rPr lang="en-US" sz="224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Задача: анализ последовательности точек данных, собранных, записанных или измеренных через последовательные, равномерно распределенные интервалы времени (тренды, сезонности, цикличности и шумы).</a:t>
            </a:r>
            <a:endParaRPr lang="en-US" sz="2242" dirty="0"/>
          </a:p>
        </p:txBody>
      </p:sp>
      <p:sp>
        <p:nvSpPr>
          <p:cNvPr id="3" name="Text 1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621792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Область применения: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79653" y="178993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28"/>
              </a:lnSpc>
              <a:buNone/>
            </a:pPr>
            <a:r>
              <a:rPr lang="en-US" sz="181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Аналитика и предсказание ценных бумаг</a:t>
            </a:r>
            <a:endParaRPr lang="en-US" sz="1819" dirty="0"/>
          </a:p>
        </p:txBody>
      </p:sp>
      <p:sp>
        <p:nvSpPr>
          <p:cNvPr id="4" name="Text 2"/>
          <p:cNvSpPr/>
          <p:nvPr/>
        </p:nvSpPr>
        <p:spPr>
          <a:xfrm>
            <a:off x="879653" y="2467337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28"/>
              </a:lnSpc>
              <a:buNone/>
            </a:pPr>
            <a:r>
              <a:rPr lang="en-US" sz="181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Предсказание стоимости товаров</a:t>
            </a:r>
            <a:endParaRPr lang="en-US" sz="1819" dirty="0"/>
          </a:p>
        </p:txBody>
      </p:sp>
      <p:sp>
        <p:nvSpPr>
          <p:cNvPr id="5" name="Text 3"/>
          <p:cNvSpPr/>
          <p:nvPr/>
        </p:nvSpPr>
        <p:spPr>
          <a:xfrm>
            <a:off x="879653" y="314422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28"/>
              </a:lnSpc>
              <a:buNone/>
            </a:pPr>
            <a:r>
              <a:rPr lang="en-US" sz="181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кредитов, инфляции и других экономических показателей</a:t>
            </a:r>
            <a:endParaRPr lang="en-US" sz="1819" dirty="0"/>
          </a:p>
        </p:txBody>
      </p:sp>
      <p:sp>
        <p:nvSpPr>
          <p:cNvPr id="6" name="Text 4"/>
          <p:cNvSpPr/>
          <p:nvPr/>
        </p:nvSpPr>
        <p:spPr>
          <a:xfrm>
            <a:off x="879653" y="3821621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28"/>
              </a:lnSpc>
              <a:buNone/>
            </a:pPr>
            <a:r>
              <a:rPr lang="en-US" sz="181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Регрессия во времени</a:t>
            </a:r>
            <a:endParaRPr lang="en-US" sz="1819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1789938"/>
            <a:ext cx="74066" cy="368789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3174" y="2467337"/>
            <a:ext cx="74066" cy="368789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144222"/>
            <a:ext cx="74066" cy="368789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3174" y="3821621"/>
            <a:ext cx="74066" cy="36878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47872" y="1707642"/>
            <a:ext cx="4572000" cy="174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Аналитика и предсказание ценных бумаг</a:t>
            </a:r>
            <a:endParaRPr lang="en-US" sz="3046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0082" y="1657236"/>
            <a:ext cx="1828800" cy="18290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25089" y="1995678"/>
            <a:ext cx="5212080" cy="1183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Предсказание стоимости товаров</a:t>
            </a:r>
            <a:endParaRPr lang="en-US" sz="3046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6384" y="1657236"/>
            <a:ext cx="1828800" cy="18290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99332" y="1419606"/>
            <a:ext cx="4023360" cy="2314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кредитов, инфляции и других экономических показателей</a:t>
            </a:r>
            <a:endParaRPr lang="en-US" sz="3046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1542" y="1642320"/>
            <a:ext cx="1828800" cy="18593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51022" y="2239480"/>
            <a:ext cx="530352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915"/>
              </a:lnSpc>
              <a:buNone/>
            </a:pPr>
            <a:r>
              <a:rPr lang="en-US" sz="35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Регрессия во времени</a:t>
            </a:r>
            <a:endParaRPr lang="en-US" sz="3511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2318" y="1642320"/>
            <a:ext cx="1828800" cy="18593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дискрим...</a:t>
            </a:r>
            <a:endParaRPr lang="en-US" sz="97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1822</Words>
  <Application>Microsoft Office PowerPoint</Application>
  <PresentationFormat>Экран (16:9)</PresentationFormat>
  <Paragraphs>320</Paragraphs>
  <Slides>73</Slides>
  <Notes>73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73</vt:i4>
      </vt:variant>
    </vt:vector>
  </HeadingPairs>
  <TitlesOfParts>
    <vt:vector size="75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Владислав Холмогоров</cp:lastModifiedBy>
  <cp:revision>3</cp:revision>
  <dcterms:created xsi:type="dcterms:W3CDTF">2026-03-06T12:09:16Z</dcterms:created>
  <dcterms:modified xsi:type="dcterms:W3CDTF">2026-03-06T12:11:19Z</dcterms:modified>
</cp:coreProperties>
</file>
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5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4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26.svg"/><Relationship Id="rId4" Type="http://schemas.openxmlformats.org/officeDocument/2006/relationships/image" Target="../media/image1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19.svg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27.svg"/><Relationship Id="rId4" Type="http://schemas.openxmlformats.org/officeDocument/2006/relationships/image" Target="../media/image1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53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26.svg"/><Relationship Id="rId4" Type="http://schemas.openxmlformats.org/officeDocument/2006/relationships/image" Target="../media/image11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5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17.sv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svg"/><Relationship Id="rId5" Type="http://schemas.openxmlformats.org/officeDocument/2006/relationships/image" Target="../media/image72.svg"/><Relationship Id="rId4" Type="http://schemas.openxmlformats.org/officeDocument/2006/relationships/image" Target="../media/image18.svg"/><Relationship Id="rId9" Type="http://schemas.openxmlformats.org/officeDocument/2006/relationships/image" Target="../media/image9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1867605"/>
            <a:ext cx="76809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5211"/>
              </a:lnSpc>
              <a:buNone/>
            </a:pP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</a:t>
            </a:r>
            <a:r>
              <a:rPr lang="en-US" sz="3722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интеллектуальные</a:t>
            </a: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722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r>
              <a:rPr lang="ru-RU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лекции 3, 4</a:t>
            </a:r>
            <a:endParaRPr lang="en-US" sz="372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78212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интеллектуальные 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85071"/>
            <a:ext cx="77724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38"/>
              </a:lnSpc>
              <a:buNone/>
            </a:pPr>
            <a:r>
              <a:rPr lang="en-US" sz="3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</a:t>
            </a:r>
            <a:endParaRPr lang="en-US" sz="3384" dirty="0"/>
          </a:p>
          <a:p>
            <a:pPr marL="0" indent="0" algn="l">
              <a:lnSpc>
                <a:spcPts val="4738"/>
              </a:lnSpc>
              <a:buNone/>
            </a:pPr>
            <a:r>
              <a:rPr lang="en-US" sz="3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генеративные модели</a:t>
            </a:r>
            <a:endParaRPr lang="en-US" sz="3384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650446"/>
            <a:ext cx="7732166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50221"/>
            <a:ext cx="53035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38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5121" y="5939199"/>
            <a:ext cx="114300" cy="11418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979319"/>
            <a:ext cx="5983834" cy="3446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0841" y="1884578"/>
            <a:ext cx="22860" cy="41148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7262" y="2238966"/>
            <a:ext cx="283464" cy="40016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7262" y="3050610"/>
            <a:ext cx="283464" cy="400164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7262" y="3861740"/>
            <a:ext cx="283464" cy="40016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858061" y="223896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- моделирование P(X, Y)</a:t>
            </a:r>
            <a:endParaRPr lang="en-US" sz="2115" dirty="0"/>
          </a:p>
        </p:txBody>
      </p:sp>
      <p:sp>
        <p:nvSpPr>
          <p:cNvPr id="10" name="Text 2"/>
          <p:cNvSpPr/>
          <p:nvPr/>
        </p:nvSpPr>
        <p:spPr>
          <a:xfrm>
            <a:off x="1858061" y="305061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endParaRPr lang="en-US" sz="2115" dirty="0"/>
          </a:p>
        </p:txBody>
      </p:sp>
      <p:sp>
        <p:nvSpPr>
          <p:cNvPr id="11" name="Text 3"/>
          <p:cNvSpPr/>
          <p:nvPr/>
        </p:nvSpPr>
        <p:spPr>
          <a:xfrm>
            <a:off x="1858061" y="38617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качества:</a:t>
            </a:r>
            <a:endParaRPr lang="en-US" sz="211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82326"/>
            <a:ext cx="7772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- моделирование P(X...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89186"/>
            <a:ext cx="77724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9"/>
              </a:lnSpc>
              <a:buNone/>
            </a:pPr>
            <a:r>
              <a:rPr lang="en-US" sz="22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концепция: позволяет найти модель генерации точек -  определяет способ создания набора данных, пытаясь понять распределение точек данных.</a:t>
            </a:r>
            <a:endParaRPr lang="en-US" sz="2242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654560"/>
            <a:ext cx="771570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2918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Продукционные правила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1323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Продукционные правила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табличных значений: 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"продукция-онтология" для создания модели представления знаний (МПЗ):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642938"/>
            <a:ext cx="7351776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7807" y="4063365"/>
            <a:ext cx="5852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табличных значений: 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98487"/>
            <a:ext cx="7772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табличных значений: 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04833"/>
            <a:ext cx="7772400" cy="149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5"/>
              </a:lnSpc>
              <a:buNone/>
            </a:pPr>
            <a:r>
              <a:rPr lang="en-US" sz="177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основе условий правил уточняются значения определённых параметров, в результате чего создаётся новое значение, например:</a:t>
            </a:r>
            <a:endParaRPr lang="en-US" sz="1777" dirty="0"/>
          </a:p>
          <a:p>
            <a:pPr marL="0" indent="0" algn="l">
              <a:lnSpc>
                <a:spcPts val="2665"/>
              </a:lnSpc>
              <a:buNone/>
            </a:pPr>
            <a:r>
              <a:rPr lang="en-US" sz="177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character_lvl &gt; 10 AND character_class == "warrior" THEN spawn(skeletons, min=5, max = 10, sweapon = "bow").</a:t>
            </a:r>
            <a:endParaRPr lang="en-US" sz="177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70721"/>
            <a:ext cx="770930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642938"/>
            <a:ext cx="5347411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4090" y="4063365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"продукция-онтология" для создания модели представления знаний (МПЗ):</a:t>
            </a:r>
            <a:endParaRPr lang="en-US" sz="211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589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"продук...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знаний - проблема на стыке когнитологии, информатики и искусственного интелле...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Преобразования Базы данных и Базы правил определённый предметной области в Базу знаний с по...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50" y="1299762"/>
            <a:ext cx="768096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9"/>
              </a:lnSpc>
              <a:buNone/>
            </a:pPr>
            <a:r>
              <a:rPr lang="en-US" sz="22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знаний - проблема на стыке когнитологии, информатики и искусственного интеллекта, решением которой являются модели, позволяющие описывать базу знаний предметной области как совокупность данных о предметной области и правил взаимодействия с ними.</a:t>
            </a:r>
            <a:endParaRPr lang="en-US" sz="2242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749808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знаний - проблема 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52120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МПЗ: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956484"/>
            <a:ext cx="74578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1264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МПЗ: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223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- подчинены законам логики, отношения между сущностями в них выражаются при помощи синтаксических знаний формальной теории.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127248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Неформальные – МПЗ, в которых нет строгих постулатов формальной теории, поэтому каждая такая модель используется для конкретной предметной области, то есть не является универсальной.</a:t>
            </a:r>
            <a:endParaRPr lang="en-US" sz="169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3127248"/>
            <a:ext cx="68580" cy="343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- подчинен...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Формальная система - система строгой абстракции от смысловой нагрузки используемого языка, причём все...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Упорядоченная четвёрка ⟨L, F, A,R⟩, где L – некоторый язык, F⊂L –множество формул,  A⊂F – множество акс...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Логические: строгие правила математической логики.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716075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Логико-математические: функциональные, нечёткая логика.</a:t>
            </a:r>
            <a:endParaRPr lang="en-US" sz="211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716075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917" y="1299762"/>
            <a:ext cx="7772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9"/>
              </a:lnSpc>
              <a:buNone/>
            </a:pPr>
            <a:r>
              <a:rPr lang="en-US" sz="22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Формальная система - система строгой абстракции от смысловой нагрузки используемого языка, причём все условия, регулирующие употребление этих слов в теории, явно высказаны посредством аксиом и правил, позволяющих вывести одну фразу из других.</a:t>
            </a:r>
            <a:endParaRPr lang="en-US" sz="2242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563" y="1291533"/>
            <a:ext cx="749808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Упорядоченная четвёрка ⟨L, F, A,R⟩, где L – некоторый язык, F⊂L –множество формул,  A⊂F – множество аксиом, а R⊂("L"^2∪"L"^3 ∪...) – множество правил вывода.</a:t>
            </a:r>
            <a:endParaRPr lang="en-US" sz="2707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Неформальные – МПЗ, в 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81482" y="178993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2"/>
              </a:lnSpc>
              <a:buNone/>
            </a:pPr>
            <a:r>
              <a:rPr lang="en-US" sz="18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Объектные модели объекты реального мира в виде абстракций</a:t>
            </a:r>
            <a:endParaRPr lang="en-US" sz="1861" dirty="0"/>
          </a:p>
        </p:txBody>
      </p:sp>
      <p:sp>
        <p:nvSpPr>
          <p:cNvPr id="4" name="Text 2"/>
          <p:cNvSpPr/>
          <p:nvPr/>
        </p:nvSpPr>
        <p:spPr>
          <a:xfrm>
            <a:off x="881482" y="2475567"/>
            <a:ext cx="6858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2"/>
              </a:lnSpc>
              <a:buNone/>
            </a:pPr>
            <a:r>
              <a:rPr lang="en-US" sz="18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Семантические сети: ориентированный граф понятий и их отношений</a:t>
            </a:r>
            <a:endParaRPr lang="en-US" sz="1861" dirty="0"/>
          </a:p>
        </p:txBody>
      </p:sp>
      <p:sp>
        <p:nvSpPr>
          <p:cNvPr id="5" name="Text 3"/>
          <p:cNvSpPr/>
          <p:nvPr/>
        </p:nvSpPr>
        <p:spPr>
          <a:xfrm>
            <a:off x="881482" y="3538728"/>
            <a:ext cx="7040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2"/>
              </a:lnSpc>
              <a:buNone/>
            </a:pPr>
            <a:r>
              <a:rPr lang="en-US" sz="18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Продукционная модель: модель правил «Если (условие), то (действие)».</a:t>
            </a:r>
            <a:endParaRPr lang="en-US" sz="1861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75895" cy="37701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75567"/>
            <a:ext cx="75895" cy="377019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538728"/>
            <a:ext cx="75895" cy="3770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" y="175239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32"/>
              </a:lnSpc>
              <a:buNone/>
            </a:pPr>
            <a:r>
              <a:rPr lang="en-US" sz="21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Преобразования Базы данных и Базы правил определённый предметной области в Базу знаний с последующим её отображением в виде Семантической сети.</a:t>
            </a:r>
            <a:endParaRPr lang="en-US" sz="216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75895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Преобразования Базы данных и Баз...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51206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сеть: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956484"/>
            <a:ext cx="75721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642938"/>
            <a:ext cx="7056425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00223" y="4063365"/>
            <a:ext cx="3749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сеть: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943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сеть: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модель предметной области, имеющая вид помеченного (вершины и дуги графа им...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&lt;V, A, L&gt;, где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8914" y="1299762"/>
            <a:ext cx="740664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9"/>
              </a:lnSpc>
              <a:buNone/>
            </a:pPr>
            <a:r>
              <a:rPr lang="en-US" sz="22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модель предметной области, имеющая вид помеченного (вершины и дуги графа имеют определённые метки) ориентированного графа, вершины которого соответствуют объектам предметной области, а дуги (рёбра) задают отношения между ними.</a:t>
            </a:r>
            <a:endParaRPr lang="en-US" sz="2242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6634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&lt;V, A, L&gt;, где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– вершины графа, являющееся определёнными понятиями ПрО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– дуги графа, являющееся отношениями между понятиями ПрО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– метки вершин и дуг графа.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6634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Сценарные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Атрибутивные</a:t>
            </a:r>
            <a:endParaRPr lang="en-US" sz="211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1498" y="2219935"/>
            <a:ext cx="29260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11"/>
              </a:lnSpc>
              <a:buNone/>
            </a:pP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Сценарные</a:t>
            </a:r>
            <a:endParaRPr lang="en-US" sz="372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" y="1384116"/>
            <a:ext cx="4267505" cy="2375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147001"/>
            <a:ext cx="41148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Сценарные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517743"/>
            <a:ext cx="6949440" cy="149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8"/>
              </a:lnSpc>
              <a:buNone/>
            </a:pPr>
            <a:r>
              <a:rPr lang="en-US" sz="260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количественные: больше, меньше, равно; пространственные: далеко, близко; временные раньше, позже и т.п.</a:t>
            </a:r>
            <a:endParaRPr lang="en-US" sz="2606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083118"/>
            <a:ext cx="68863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83653"/>
            <a:ext cx="64008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253882"/>
            <a:ext cx="7132320" cy="200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отношения «вход – выход», определяются производящим глаголом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819770"/>
            <a:ext cx="71149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3385" y="2223535"/>
            <a:ext cx="28346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52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</a:t>
            </a:r>
            <a:endParaRPr lang="en-US" sz="368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" y="1288447"/>
            <a:ext cx="4267505" cy="25666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83653"/>
            <a:ext cx="41148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253882"/>
            <a:ext cx="6858000" cy="200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подчиняющееся логическим законом, в том числе и предикатные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819770"/>
            <a:ext cx="67720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6245" y="1995678"/>
            <a:ext cx="283464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Атрибутивные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975722"/>
            <a:ext cx="4267505" cy="3192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217981"/>
            <a:ext cx="53035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Атрибутивные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588209"/>
            <a:ext cx="585216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свойства, описывающие понятия, и их значения.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154098"/>
            <a:ext cx="584667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8521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гауссовых смесей (GMM):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Networks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7141" y="1419606"/>
            <a:ext cx="219456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гауссовых смесей (GMM):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46" y="1428350"/>
            <a:ext cx="4267505" cy="22873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гауссовых смесе...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модель, предполагающая, что точки данных генерируются из смеси нескольких гауссовых (...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" y="1291533"/>
            <a:ext cx="768096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модель, предполагающая, что точки данных генерируются из смеси нескольких гауссовых (нормальных) распределений с неизвестными параметрами. </a:t>
            </a:r>
            <a:endParaRPr lang="en-US" sz="2707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22147"/>
            <a:ext cx="740664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модель, предполаг...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29007"/>
            <a:ext cx="77724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35"/>
              </a:lnSpc>
              <a:buNone/>
            </a:pPr>
            <a:r>
              <a:rPr lang="en-US" sz="245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Области применения: для оценки плотности, мягкой кластеризации и генерации синтетических данных путем выборки из обученных кластеров.</a:t>
            </a:r>
            <a:endParaRPr lang="en-US" sz="245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94381"/>
            <a:ext cx="769833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961835"/>
            <a:ext cx="7737653" cy="2509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677603"/>
            <a:ext cx="49377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758152"/>
            <a:ext cx="7737653" cy="29179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881285"/>
            <a:ext cx="822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352226"/>
            <a:ext cx="7737653" cy="14334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29914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плотности многомерного нормального распределения:</a:t>
            </a:r>
            <a:endParaRPr lang="en-US" sz="211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369714"/>
            <a:ext cx="7737653" cy="16942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269723"/>
            <a:ext cx="822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114082"/>
            <a:ext cx="7737653" cy="22610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581419"/>
            <a:ext cx="77724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16"/>
              </a:lnSpc>
              <a:buNone/>
            </a:pPr>
            <a:r>
              <a:rPr lang="en-US" sz="236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Ковариационная матрица (матрица ковариаций)</a:t>
            </a:r>
            <a:endParaRPr lang="en-US" sz="2369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610" y="1311593"/>
            <a:ext cx="7680960" cy="252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09"/>
              </a:lnSpc>
              <a:buNone/>
            </a:pPr>
            <a:r>
              <a:rPr lang="en-US" sz="20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квадратная симметричная матрица, используемая в теории вероятностей и статистике для описания взаимосвязей между элементами случайного вектора. Она показывает дисперсию каждой переменной на диагонали, а внедиагональные элементы отражают ковариацию между парами переменных. </a:t>
            </a:r>
            <a:endParaRPr lang="en-US" sz="2073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093508"/>
            <a:ext cx="7737653" cy="22461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545929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657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x, y ожидаемые величины, x', y' - их средние значения, N - количество таких значений.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 показывает направление связи (растет/падает), но зависит от масштаба данных....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1471555"/>
            <a:ext cx="7772400" cy="221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7"/>
              </a:lnSpc>
              <a:buNone/>
            </a:pPr>
            <a:r>
              <a:rPr lang="en-US" sz="23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 показывает направление связи (растет/падает), но зависит от масштаба данных.</a:t>
            </a:r>
            <a:endParaRPr lang="en-US" sz="2326" dirty="0"/>
          </a:p>
          <a:p>
            <a:pPr marL="0" indent="0" algn="l">
              <a:lnSpc>
                <a:spcPts val="3257"/>
              </a:lnSpc>
              <a:buNone/>
            </a:pPr>
            <a:r>
              <a:rPr lang="en-US" sz="23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Корреляция - нормированная ковариация (от -1 до 1), показывающая как направление, так и силу связи, не зависящая от единиц измерения.</a:t>
            </a:r>
            <a:endParaRPr lang="en-US" sz="232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642938"/>
            <a:ext cx="7149694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0594" y="4063365"/>
            <a:ext cx="3383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Networks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212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Networks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графическая модель, которая представляет набор переменных и их условные завис...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Совместное распределение вероятностей: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" y="1221581"/>
            <a:ext cx="76809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55"/>
              </a:lnSpc>
              <a:buNone/>
            </a:pPr>
            <a:r>
              <a:rPr lang="en-US" sz="19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графическая модель, которая представляет набор переменных и их условные зависимости с помощью ориентированного ациклического графа (directed acyclic graph, DAG - отсутствуют циклы), узлы графа - признаки (например, возраст, зарплата), а направленные ребра показывают, что один признак (родитель) влияет на распределение другого (потомка).</a:t>
            </a:r>
            <a:endParaRPr lang="en-US" sz="1904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393889"/>
            <a:ext cx="7737653" cy="16464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245549"/>
            <a:ext cx="777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Совместное распределение вероятностей: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75895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Совместное распределение вер...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10058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956484"/>
            <a:ext cx="75785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821417"/>
            <a:ext cx="7737653" cy="27913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818020"/>
            <a:ext cx="822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4253"/>
            <a:ext cx="1554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024996"/>
            <a:ext cx="7040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560"/>
              </a:lnSpc>
              <a:buNone/>
            </a:pPr>
            <a:r>
              <a:rPr lang="en-US" sz="325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дискретных переменных это Conditional Probability Table (CPT), для непрерывных - условное гауссовское распределение.</a:t>
            </a:r>
            <a:endParaRPr lang="en-US" sz="325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590370"/>
            <a:ext cx="696681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7598" y="1291533"/>
            <a:ext cx="521208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дискретных переменных это Conditional Probability Table (CPT), для непрерывных - условное гауссовское распределение.</a:t>
            </a:r>
            <a:endParaRPr lang="en-US" sz="27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59838"/>
            <a:ext cx="1828800" cy="423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642938"/>
            <a:ext cx="6610198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0266" y="4063365"/>
            <a:ext cx="1280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06501"/>
            <a:ext cx="24688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176729"/>
            <a:ext cx="768096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5"/>
              </a:lnSpc>
              <a:buNone/>
            </a:pPr>
            <a:r>
              <a:rPr lang="en-US" sz="177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отделяет описание зависимости между переменными от описания их индивидуальных (маргинальных) распределений, что позволяет моделировать взаимосвязи в данных, не делая предположений о форме самих распределений признаков, сама функция вида Copula описывает, как связаны между собой переменные, в то время как "поля" задают распределение каждой переменной по отдельности.</a:t>
            </a:r>
            <a:endParaRPr lang="en-US" sz="177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42618"/>
            <a:ext cx="763524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49922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отделяет описание зависимости между...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56268"/>
            <a:ext cx="704088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генерации включает два этапа:</a:t>
            </a:r>
            <a:endParaRPr lang="en-US" sz="38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622156"/>
            <a:ext cx="766998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589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генерации вклю...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2237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Генерируются значения из copula (получая значения в стандартном равномерном масштабе).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2784177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 преобразуются в исходные распределения с помощью обратных функций распределения (инверсии CDF) каждой переменной.</a:t>
            </a:r>
            <a:endParaRPr lang="en-US" sz="169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784177"/>
            <a:ext cx="68580" cy="343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657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модель GMM (BGM) 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и его модификации (Synthetic Minority Over-sampling Technique)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Distribution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932517"/>
            <a:ext cx="7737653" cy="2568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706920"/>
            <a:ext cx="594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модель GMM (BGM) 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56"/>
              </a:lnSpc>
              <a:buNone/>
            </a:pPr>
            <a:r>
              <a:rPr lang="en-US" sz="346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модель GMM (BGM) </a:t>
            </a:r>
            <a:endParaRPr lang="en-US" sz="3469" dirty="0"/>
          </a:p>
        </p:txBody>
      </p:sp>
      <p:sp>
        <p:nvSpPr>
          <p:cNvPr id="3" name="Text 1"/>
          <p:cNvSpPr/>
          <p:nvPr/>
        </p:nvSpPr>
        <p:spPr>
          <a:xfrm>
            <a:off x="891540" y="17107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версия классической модели гауссовых смесей (GMM), в отличие от GMM, где параметры мод...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191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1072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1915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835819"/>
            <a:ext cx="768096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55"/>
              </a:lnSpc>
              <a:buNone/>
            </a:pPr>
            <a:r>
              <a:rPr lang="en-US" sz="19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версия классической модели гауссовых смесей (GMM), в отличие от GMM, где параметры модели (веса, средние, ковариации) являются фиксированными числами, в BGM они сами считаются случайными величинами, для которых задаются априорные распределения (priors). Такой подход делает модель более устойчивой к переобучению и позволяет автоматически подбирать сложность модели, например, количество компонентов смеси.</a:t>
            </a:r>
            <a:endParaRPr lang="en-US" sz="1904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715461"/>
            <a:ext cx="7737653" cy="30032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923976"/>
            <a:ext cx="822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217466"/>
            <a:ext cx="7737653" cy="17030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126219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и его модификации (Synthetic Minority Over-sampling Technique)</a:t>
            </a:r>
            <a:endParaRPr lang="en-US" sz="211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и его модификац...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простого копирования примеров из меньшинства, создает новые синтетические примеры,...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371771"/>
            <a:ext cx="7680960" cy="2417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53"/>
              </a:lnSpc>
              <a:buNone/>
            </a:pPr>
            <a:r>
              <a:rPr lang="en-US" sz="25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простого копирования примеров из меньшинства, создает новые синтетические примеры, интерполируя между существующими точками (генеративный алгоритм только в широком смысле).</a:t>
            </a:r>
            <a:endParaRPr lang="en-US" sz="2538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111510"/>
            <a:ext cx="7737653" cy="22106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527927"/>
            <a:ext cx="822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914514"/>
            <a:ext cx="7737653" cy="2604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724923"/>
            <a:ext cx="48463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Distribution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7052"/>
            <a:ext cx="53035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Distribution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3398"/>
            <a:ext cx="7772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4"/>
              </a:lnSpc>
              <a:buNone/>
            </a:pPr>
            <a:r>
              <a:rPr lang="en-US" sz="152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ансамбль деревьев решений для оценки плотности распределения данных. Модель Adversarial Random Forest (ARF) работает итеративно, чередуя построение случайного леса для различения реальных и сгенерированных данных с последующим разбиением пространства признаков на области (листья), где признаки становятся почти независимыми.</a:t>
            </a:r>
            <a:endParaRPr lang="en-US" sz="152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19286"/>
            <a:ext cx="769833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7052"/>
            <a:ext cx="7772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ансамбль деревьев...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3398"/>
            <a:ext cx="72237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55"/>
              </a:lnSpc>
              <a:buNone/>
            </a:pPr>
            <a:r>
              <a:rPr lang="en-US" sz="190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новых данных: после обучения ARF получается модель FORDE (Forest Density Estimation), где каждый лист дерева представляет собой "ячейку" данных, новая строка генерируется в два этапа:</a:t>
            </a:r>
            <a:endParaRPr lang="en-US" sz="1904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19286"/>
            <a:ext cx="772668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новых данных...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лист в соответствии с его вероятностью (количеством попавших в него реальных данных).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выбранного листа сгенерировать значения признаков независимо друг от друга. Для непрерывны...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7357" y="1844973"/>
            <a:ext cx="7589520" cy="149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79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выбранного листа сгенерировать значения признаков независимо друг от друга. Для непрерывных признаков часто используется оценка плотности ядра (KDE), а для категориальных - их эмпирическое распределение в листе.</a:t>
            </a:r>
            <a:endParaRPr lang="en-US" sz="1794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212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Объективные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Субъективные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931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Объективные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TSTR (Train on Synthetic, Test on Real)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Обязательные/Запрещённые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49808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TSTR (Train on Synthetic, Test on R...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04088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валидационной выборке исходного естественного или эталонного набора данных.</a:t>
            </a:r>
            <a:endParaRPr lang="en-US" sz="27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22372"/>
            <a:ext cx="746973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74313"/>
            <a:ext cx="5486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Обязательные/Запрещённые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81173"/>
            <a:ext cx="7772400" cy="149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262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условия, явно указывающие, какие значения обязательно должны или НЕ должны быть сгенерированы моделью.</a:t>
            </a:r>
            <a:endParaRPr lang="en-US" sz="262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46547"/>
            <a:ext cx="76928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2062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Субъективные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6910" y="1789938"/>
            <a:ext cx="411480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</a:t>
            </a:r>
            <a:endParaRPr lang="en-US" sz="1734" dirty="0"/>
          </a:p>
        </p:txBody>
      </p:sp>
      <p:sp>
        <p:nvSpPr>
          <p:cNvPr id="4" name="Text 2"/>
          <p:cNvSpPr/>
          <p:nvPr/>
        </p:nvSpPr>
        <p:spPr>
          <a:xfrm>
            <a:off x="876910" y="2449849"/>
            <a:ext cx="320040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DCR (DCRBaselineProtection)</a:t>
            </a:r>
            <a:endParaRPr lang="en-US" sz="1734" dirty="0"/>
          </a:p>
        </p:txBody>
      </p:sp>
      <p:sp>
        <p:nvSpPr>
          <p:cNvPr id="5" name="Text 3"/>
          <p:cNvSpPr/>
          <p:nvPr/>
        </p:nvSpPr>
        <p:spPr>
          <a:xfrm>
            <a:off x="876910" y="3110274"/>
            <a:ext cx="128016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TabSynDex</a:t>
            </a:r>
            <a:endParaRPr lang="en-US" sz="1734" dirty="0"/>
          </a:p>
        </p:txBody>
      </p:sp>
      <p:sp>
        <p:nvSpPr>
          <p:cNvPr id="6" name="Text 4"/>
          <p:cNvSpPr/>
          <p:nvPr/>
        </p:nvSpPr>
        <p:spPr>
          <a:xfrm>
            <a:off x="876910" y="3770186"/>
            <a:ext cx="70408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1"/>
              </a:lnSpc>
              <a:buNone/>
            </a:pPr>
            <a:r>
              <a:rPr lang="en-US" sz="17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статистические метрики: корреляционный анализ, анализ мод, медиан, средних, анализ дисперсии.</a:t>
            </a:r>
            <a:endParaRPr lang="en-US" sz="1734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70409" cy="35130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49849"/>
            <a:ext cx="70409" cy="3513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110274"/>
            <a:ext cx="70409" cy="35130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770186"/>
            <a:ext cx="70409" cy="3513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279703"/>
            <a:ext cx="7737653" cy="18742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359734"/>
            <a:ext cx="6583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772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772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Проверяет, одинаково ли модель рассуждает при работе с реальными и синтетическими данными.</a:t>
            </a:r>
            <a:endParaRPr lang="en-US" sz="27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22372"/>
            <a:ext cx="772668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382573"/>
            <a:ext cx="7737653" cy="1668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256864"/>
            <a:ext cx="5212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DCR (DCRBaselineProtection)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22147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DCR (DCRBaselineProtec...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29007"/>
            <a:ext cx="77724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35"/>
              </a:lnSpc>
              <a:buNone/>
            </a:pPr>
            <a:r>
              <a:rPr lang="en-US" sz="245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Измеряет, насколько синтетические данные "близки" к реальным - высокая близость означает высокий риск переобучения и утечки данных.</a:t>
            </a:r>
            <a:endParaRPr lang="en-US" sz="245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2594381"/>
            <a:ext cx="76864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572882"/>
            <a:ext cx="7737653" cy="12879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74" y="3066555"/>
            <a:ext cx="2011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TabSynDex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108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TabSynDex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6583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Стремится дать единую, всеобъемлющую оценку качества синтетических данных, объединяя несколько аспектов в один итоговый балл.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127248"/>
            <a:ext cx="67665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S_basic - базовое статистическое сходство (среднее, медиана, стандартное отклонение).</a:t>
            </a:r>
            <a:endParaRPr lang="en-US" sz="1692" dirty="0"/>
          </a:p>
        </p:txBody>
      </p:sp>
      <p:sp>
        <p:nvSpPr>
          <p:cNvPr id="5" name="Text 3"/>
          <p:cNvSpPr/>
          <p:nvPr/>
        </p:nvSpPr>
        <p:spPr>
          <a:xfrm>
            <a:off x="875081" y="4121487"/>
            <a:ext cx="658368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S_corrl - сходство корреляционных матриц между столбцами.</a:t>
            </a:r>
            <a:endParaRPr lang="en-US" sz="1692" dirty="0"/>
          </a:p>
        </p:txBody>
      </p:sp>
      <p:sp>
        <p:nvSpPr>
          <p:cNvPr id="6" name="Text 4"/>
          <p:cNvSpPr/>
          <p:nvPr/>
        </p:nvSpPr>
        <p:spPr>
          <a:xfrm>
            <a:off x="875081" y="4773168"/>
            <a:ext cx="630936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S_pMSE - сходство совместных распределений признаков.</a:t>
            </a:r>
            <a:endParaRPr lang="en-US" sz="1692" dirty="0"/>
          </a:p>
        </p:txBody>
      </p:sp>
      <p:sp>
        <p:nvSpPr>
          <p:cNvPr id="7" name="Text 5"/>
          <p:cNvSpPr/>
          <p:nvPr/>
        </p:nvSpPr>
        <p:spPr>
          <a:xfrm>
            <a:off x="875081" y="5424849"/>
            <a:ext cx="68580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S_cr - метрика, оценивающая, насколько хорошо синтетические данные подходят для задач классификации и регрессии.</a:t>
            </a:r>
            <a:endParaRPr lang="en-US" sz="1692" dirty="0"/>
          </a:p>
        </p:txBody>
      </p:sp>
      <p:sp>
        <p:nvSpPr>
          <p:cNvPr id="8" name="Text 6"/>
          <p:cNvSpPr/>
          <p:nvPr/>
        </p:nvSpPr>
        <p:spPr>
          <a:xfrm>
            <a:off x="875081" y="6419088"/>
            <a:ext cx="630936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S_ml - оценка полезности для задач машинного обучения.</a:t>
            </a:r>
            <a:endParaRPr lang="en-US" sz="1692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3127248"/>
            <a:ext cx="68580" cy="343071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4121487"/>
            <a:ext cx="68580" cy="343071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773168"/>
            <a:ext cx="68580" cy="34307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5424849"/>
            <a:ext cx="68580" cy="343071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6419088"/>
            <a:ext cx="68580" cy="34307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642938"/>
            <a:ext cx="6429146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354" y="4063365"/>
            <a:ext cx="722376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статистические метрики: корреляционный анализ, анализ мод, медиан, средних, анализ дисперсии.</a:t>
            </a:r>
            <a:endParaRPr lang="en-US" sz="2284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2026</Words>
  <Application>Microsoft Office PowerPoint</Application>
  <PresentationFormat>Экран (16:9)</PresentationFormat>
  <Paragraphs>336</Paragraphs>
  <Slides>84</Slides>
  <Notes>84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8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Владислав Холмогоров</cp:lastModifiedBy>
  <cp:revision>2</cp:revision>
  <dcterms:created xsi:type="dcterms:W3CDTF">2026-04-10T23:25:06Z</dcterms:created>
  <dcterms:modified xsi:type="dcterms:W3CDTF">2026-04-10T23:33:04Z</dcterms:modified>
</cp:coreProperties>
</file>
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3F3CD-6ADB-47C4-87BE-DA5341DF7074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85FA7-63F8-4FDA-8009-A9418CDF65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274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68F0C4-68C9-DC53-FBFD-27EF8C4B89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FB8EB2-0664-5968-C0A5-E8A006382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7C0F0B-5DD3-1DB6-64CD-88B7E2C27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84E40-13AB-1E91-C543-963D95C30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C1B2DE-EB47-4E91-AC3D-4FE77478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294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B1440-BF39-826A-F47C-F686BB5B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4BD4FE-5DCB-EF7C-1C02-8424A9A2F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E55A27-B595-1B86-8AF6-379E9EB7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C106DA-E90C-F166-B86D-5C83F7524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F1A122-BA3B-1491-3C01-9081926A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122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84BF4-E1FA-3AAB-3AE3-9D42EE448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F0CC06-062C-7B70-A82C-C3DDC8FD8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215D29-36DD-1D49-B7EC-18B72E15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61EA2F-1AB5-02BB-1E4A-431D03B87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F9776C-E15F-93EA-EB4B-83AEE0B0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395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A1EC9-C1E7-E5E6-9096-D9CDBD1A9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F4D78B-2D4A-0DA7-E657-12160775B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F1D008-DD5C-3AE2-719F-C8BE90903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D43713-D6A3-5229-BF24-BC2695EF3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9D9DA0-A486-B172-ED5D-93BD8B8B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A72C73-5BCD-3CF3-B096-0BF74A86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914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DA364-789E-7F69-9A33-247E93C97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588EEA-5F34-D34D-95C3-1858D7D1B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5C06F5-2BFC-48D1-A8C5-D17A7DDCA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D81AC6F-AC60-19F3-088E-4AFA5FFB9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AA4E67-FF33-A3D8-34F3-E2076852A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F6434AF-93A3-6802-4D4F-05A843F92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E4D1CA1-7008-CBE6-4AE8-D31D3F63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961076-5BDD-71E1-4774-0ED64EC5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26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52847-EC6E-6966-6832-9A7F98360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3A89C0-B516-7611-C578-966D54202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1E02421-9986-275B-399B-34B1D7AE6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E29581-6969-CBC2-3179-8ACD7C8C1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509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62BF336-F19F-D7F1-BDFA-852609DAA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483C3B7-DE45-7F17-2000-516F24FE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AF90A9D-1622-662A-430A-A690317A3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78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C80F2-D991-833E-946D-DB69A8A2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B2D563-1689-9B00-9F89-546FC7F7C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070E451-63BB-E6FF-4331-8F31D551E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9D8C2D-E6BF-2D18-BB99-FA2B33CD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F811D3-2E46-3633-9529-AAD5F597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F3FE71-7CC1-9BD6-D235-570AC2CD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00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A6032-BD69-19B6-B857-BB505D7DD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F0AA50A-4DD2-9375-37CD-C24FE17B2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46C630-0625-DFB8-15FC-C4A61D78D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BC03A1-D39B-5449-6C2C-F5D67077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69C432-4544-4148-92A7-E8BB72D0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D04285-A03A-1EE4-C151-D783C316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011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906BD-1ECD-C500-5627-6DF341AC2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BFB3CB-1342-A52A-291E-69713AAE9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9E9C1A-AFBE-13EE-1ED6-C658E671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6FCA9-6B9F-6BE3-6927-982C40E11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734C41-6C72-9B3C-6A25-4E049B9F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8446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F3262A4-C5C0-D5CC-B55E-50E3852F9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C1B358-811C-211C-9274-4610BCE98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52064-1DB5-0BA1-5D90-0D423448A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2E0B89-4DA3-FB3B-D710-5B979543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C8284A-AC41-B144-92B2-F4320781E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875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565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69C94-BA4C-42BC-6EEF-80290284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BD987E-BE69-B74A-961F-A8A7F97CE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999F74-8178-6E8E-805D-61AB32CF7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2CBBD-6F4C-46B4-AAD8-C354CD91B04D}" type="datetimeFigureOut">
              <a:rPr lang="ru-RU" smtClean="0"/>
              <a:t>16.06.2026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B82930-A5A8-A842-46F1-32E3E486FA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039C05-A317-23A7-BC71-B02AEC363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59FA1-E06A-4DA8-B696-72654A5BB4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31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2599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svg"/><Relationship Id="rId4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svg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10" Type="http://schemas.openxmlformats.org/officeDocument/2006/relationships/image" Target="../media/image22.svg"/><Relationship Id="rId4" Type="http://schemas.openxmlformats.org/officeDocument/2006/relationships/image" Target="../media/image33.svg"/><Relationship Id="rId9" Type="http://schemas.openxmlformats.org/officeDocument/2006/relationships/image" Target="../media/image3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svg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9.svg"/><Relationship Id="rId9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32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11" Type="http://schemas.openxmlformats.org/officeDocument/2006/relationships/image" Target="../media/image22.svg"/><Relationship Id="rId5" Type="http://schemas.openxmlformats.org/officeDocument/2006/relationships/image" Target="../media/image40.svg"/><Relationship Id="rId10" Type="http://schemas.openxmlformats.org/officeDocument/2006/relationships/image" Target="../media/image49.svg"/><Relationship Id="rId4" Type="http://schemas.openxmlformats.org/officeDocument/2006/relationships/image" Target="../media/image39.svg"/><Relationship Id="rId9" Type="http://schemas.openxmlformats.org/officeDocument/2006/relationships/image" Target="../media/image4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2675" y="249014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defTabSz="1219170">
              <a:lnSpc>
                <a:spcPts val="6948"/>
              </a:lnSpc>
            </a:pPr>
            <a:r>
              <a:rPr lang="en-US" sz="49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</a:t>
            </a:r>
            <a:r>
              <a:rPr lang="en-US" sz="4963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интеллектуальные</a:t>
            </a:r>
            <a:r>
              <a:rPr lang="en-US" sz="496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963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</a:t>
            </a:r>
            <a:endParaRPr lang="ru-RU" sz="4963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l" defTabSz="1219170" rtl="0" eaLnBrk="1" fontAlgn="auto" latinLnBrk="0" hangingPunct="1">
              <a:lnSpc>
                <a:spcPts val="42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4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Лекция 1: </a:t>
            </a:r>
            <a:r>
              <a:rPr kumimoji="0" lang="en-US" sz="3045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Общие</a:t>
            </a:r>
            <a:r>
              <a:rPr kumimoji="0" lang="en-US" sz="304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3045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свойства</a:t>
            </a:r>
            <a:r>
              <a:rPr kumimoji="0" lang="en-US" sz="304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3045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всех</a:t>
            </a:r>
            <a:r>
              <a:rPr kumimoji="0" lang="en-US" sz="304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3045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типов</a:t>
            </a:r>
            <a:r>
              <a:rPr kumimoji="0" lang="en-US" sz="3045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ИИ</a:t>
            </a:r>
            <a:endParaRPr kumimoji="0" lang="en-US" sz="304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729" y="2276856"/>
            <a:ext cx="3901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Генеративные интеллектуа...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7699" y="1042417"/>
            <a:ext cx="32918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</a:t>
            </a:r>
            <a:r>
              <a:rPr lang="en-US" sz="304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свойства всех типов ИИ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46695" y="4663441"/>
            <a:ext cx="32918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дис...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615575" y="1042417"/>
            <a:ext cx="25603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673584" y="4663441"/>
            <a:ext cx="256032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349984" y="1042417"/>
            <a:ext cx="3291840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разделы искусственного...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9975" y="2331720"/>
            <a:ext cx="30480" cy="109728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7984" y="3429000"/>
            <a:ext cx="30480" cy="1097280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50624" y="2331720"/>
            <a:ext cx="30480" cy="109728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907415" y="3429000"/>
            <a:ext cx="30480" cy="109728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80055" y="2331720"/>
            <a:ext cx="30480" cy="109728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59015" y="3352876"/>
            <a:ext cx="152400" cy="152248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17024" y="3352876"/>
            <a:ext cx="152400" cy="152248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89664" y="3352876"/>
            <a:ext cx="152400" cy="152248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846455" y="3352876"/>
            <a:ext cx="152400" cy="152248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919095" y="3352876"/>
            <a:ext cx="152400" cy="152248"/>
          </a:xfrm>
          <a:prstGeom prst="rect">
            <a:avLst/>
          </a:prstGeom>
        </p:spPr>
      </p:pic>
      <p:pic>
        <p:nvPicPr>
          <p:cNvPr id="1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113325" y="3406369"/>
            <a:ext cx="15338755" cy="459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133629"/>
            <a:ext cx="987552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типо...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721645" y="13965631"/>
            <a:ext cx="97536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Первое поколение: дискри...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24437645" y="1133629"/>
            <a:ext cx="70713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Второе поколение:...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34221725" y="13965631"/>
            <a:ext cx="69494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defTabSz="1219170">
              <a:lnSpc>
                <a:spcPts val="6599"/>
              </a:lnSpc>
            </a:pPr>
            <a:r>
              <a:rPr lang="en-US" sz="50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Третье поколение:...</a:t>
            </a:r>
            <a:endParaRPr lang="en-US" sz="50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3495" y="7918932"/>
            <a:ext cx="152400" cy="15224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76355" y="7918932"/>
            <a:ext cx="152400" cy="15224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92355" y="7918932"/>
            <a:ext cx="152400" cy="15224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876435" y="7918932"/>
            <a:ext cx="152400" cy="152248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" y="7972425"/>
            <a:ext cx="41133369" cy="45948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4455" y="2512771"/>
            <a:ext cx="30480" cy="548640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76349" y="2985288"/>
            <a:ext cx="377952" cy="53355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6349" y="4067480"/>
            <a:ext cx="377952" cy="53355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76349" y="5148987"/>
            <a:ext cx="377952" cy="533552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2477415" y="2985288"/>
            <a:ext cx="304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Наличие модели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5"/>
          <p:cNvSpPr/>
          <p:nvPr/>
        </p:nvSpPr>
        <p:spPr>
          <a:xfrm>
            <a:off x="2477415" y="4067480"/>
            <a:ext cx="243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Обучаемость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6"/>
          <p:cNvSpPr/>
          <p:nvPr/>
        </p:nvSpPr>
        <p:spPr>
          <a:xfrm>
            <a:off x="2477415" y="5148987"/>
            <a:ext cx="743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обучения модели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9859" y="2660905"/>
            <a:ext cx="24384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Наличие модели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866" y="1798854"/>
            <a:ext cx="5690007" cy="32602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63398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Наличие модели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75309" y="2386585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723"/>
              </a:lnSpc>
            </a:pPr>
            <a:r>
              <a:rPr lang="en-US" sz="24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Математическая формула (часто взвешенная) - формальное описание процесса, объекта или явления предметной области.</a:t>
            </a:r>
            <a:endParaRPr lang="en-US" sz="248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75309" y="3804133"/>
            <a:ext cx="93878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723"/>
              </a:lnSpc>
            </a:pPr>
            <a:r>
              <a:rPr lang="en-US" sz="24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- последовательность действия, направленная на достижение результата.</a:t>
            </a:r>
            <a:endParaRPr lang="en-US" sz="248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5"/>
            <a:ext cx="101193" cy="50269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04133"/>
            <a:ext cx="101193" cy="5026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Математическая формул...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66775" y="2386584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Формальные системы (формализмы) - абстрагирование от смысла с чёткой структурой (важен не смысл, а форма).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66775" y="3712236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384"/>
              </a:lnSpc>
            </a:pPr>
            <a:r>
              <a:rPr lang="en-US" sz="225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Предметная область - часть реального мира (или сфера деятельности, знаний), которая подлежит изучению, моделированию или автоматизации.</a:t>
            </a:r>
            <a:endParaRPr lang="en-US" sz="225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86585"/>
            <a:ext cx="91440" cy="45742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712237"/>
            <a:ext cx="91440" cy="4574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566" y="1383945"/>
            <a:ext cx="10316871" cy="28789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7565" y="4536567"/>
            <a:ext cx="926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468"/>
              </a:lnSpc>
            </a:pPr>
            <a:r>
              <a:rPr lang="en-US" sz="231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Формальные системы (формализмы) - абстрагирование от смысла с чёткой структурой (важен не смысл, а форма).</a:t>
            </a:r>
            <a:endParaRPr lang="en-US" sz="2312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2323" y="1412749"/>
            <a:ext cx="6949440" cy="404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975"/>
              </a:lnSpc>
            </a:pPr>
            <a:r>
              <a:rPr lang="en-US" sz="355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Предметная область - часть реального мира (или сфера деятельности, знаний), которая подлежит изучению, моделированию или автоматизации.</a:t>
            </a:r>
            <a:endParaRPr lang="en-US" sz="3553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717" y="2189761"/>
            <a:ext cx="2438400" cy="24791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7847" y="3029179"/>
            <a:ext cx="377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921"/>
              </a:lnSpc>
            </a:pPr>
            <a:r>
              <a:rPr lang="en-US" sz="422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Обучаемость</a:t>
            </a:r>
            <a:endParaRPr lang="en-US" sz="422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1226896"/>
            <a:ext cx="5690007" cy="44048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000583"/>
            <a:ext cx="633984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Обучаемость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827554"/>
            <a:ext cx="1036320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07"/>
              </a:lnSpc>
            </a:pPr>
            <a:r>
              <a:rPr lang="en-US" sz="400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Свойство качественного изменения результата работы модели за счёт изменения собственных параметров или структуры и вида изначальных данных.</a:t>
            </a:r>
            <a:endParaRPr lang="en-US" sz="4004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248739"/>
            <a:ext cx="10316871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6317" y="1892809"/>
            <a:ext cx="3291840" cy="308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обучения модели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323" y="1940128"/>
            <a:ext cx="5690007" cy="297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данных для о...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 (Data collection) - процесс поиска релевантных, правдивых и структурированных данны...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573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данных (Data Cleaning)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данных (Data Integration)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5754548"/>
            <a:ext cx="829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данных (Data Transformation)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6699580"/>
            <a:ext cx="670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данных (Data Reduction)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7644612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Аугментация данных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8588959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данных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754548"/>
            <a:ext cx="114605" cy="533552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6699580"/>
            <a:ext cx="114605" cy="53355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566" y="7644612"/>
            <a:ext cx="114605" cy="533552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7566" y="8588959"/>
            <a:ext cx="114605" cy="53355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6009" y="1722044"/>
            <a:ext cx="9631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 (Data collection) - процесс поиска релевантных, правдивых и структурированных данных для обучения модели, а также методы обеспечения и контроля качества.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1193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данных (Data collec...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классу источника: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 сбора данных: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276649"/>
            <a:ext cx="377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проблемы: 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5220996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Обеспечение качества (quality assurance) данных представляет собой комплекс действий, выполняемы...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6699580"/>
            <a:ext cx="999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 (quality control) представляет собой комплекс действий, направленных на наблюдение и и...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276649"/>
            <a:ext cx="114605" cy="53355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220996"/>
            <a:ext cx="114605" cy="533552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6699580"/>
            <a:ext cx="114605" cy="53355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8168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классу источника: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Первичные - собранные напрямую из источника или от респондента.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865169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Вторичные - собранные другими лицами, в том числе и для других целей.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865169"/>
            <a:ext cx="114605" cy="5335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999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Вторичные - собранные ...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963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(данные, сами модели и учебные материалы);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(данные, сами модели и учебные материалы);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809516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Datasets;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575454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Machine Learning Repository;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66995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Dataset Search;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7644612"/>
            <a:ext cx="121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809516"/>
            <a:ext cx="114605" cy="533552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754548"/>
            <a:ext cx="114605" cy="533552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6699580"/>
            <a:ext cx="114605" cy="53355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566" y="7644612"/>
            <a:ext cx="114605" cy="53355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1036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6892"/>
              </a:lnSpc>
            </a:pPr>
            <a:r>
              <a:rPr lang="en-US" sz="530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 сбора данных:</a:t>
            </a:r>
            <a:endParaRPr lang="en-US" sz="53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5063" y="2337207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Опросы (личные, онлайн, ассоциативные и телефонные).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5063" y="3297327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Ролевые игры.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5063" y="4257447"/>
            <a:ext cx="231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Наблюдения.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5063" y="5217567"/>
            <a:ext cx="3901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Датчики и телеметрия.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337207"/>
            <a:ext cx="109728" cy="54864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5" y="3297327"/>
            <a:ext cx="109728" cy="54864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5" y="4257447"/>
            <a:ext cx="109728" cy="54864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5" y="5217567"/>
            <a:ext cx="109728" cy="5486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57251"/>
            <a:ext cx="8168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7258"/>
              </a:lnSpc>
            </a:pPr>
            <a:r>
              <a:rPr lang="en-US" sz="558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Типичные проблемы: </a:t>
            </a:r>
            <a:endParaRPr lang="en-US" sz="5584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88720" y="238658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Противоречия в данных.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88720" y="3331616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простоя данных.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88720" y="4276649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Неоднозначность данных.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88720" y="5220996"/>
            <a:ext cx="414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Дублирующие данные.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8720" y="6166028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Большие данные.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8720" y="7111060"/>
            <a:ext cx="341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Неточные данные.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88720" y="8056092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Скрытые данные.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9000439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948"/>
              </a:lnSpc>
            </a:pPr>
            <a:r>
              <a:rPr lang="en-US" sz="28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Релевантные данные.</a:t>
            </a:r>
            <a:endParaRPr lang="en-US" sz="282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2386584"/>
            <a:ext cx="114605" cy="533552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566" y="3331616"/>
            <a:ext cx="114605" cy="533552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566" y="4276649"/>
            <a:ext cx="114605" cy="533552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7566" y="5220996"/>
            <a:ext cx="114605" cy="533552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566" y="6166028"/>
            <a:ext cx="114605" cy="533552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7566" y="7111060"/>
            <a:ext cx="114605" cy="533552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7566" y="8056092"/>
            <a:ext cx="114605" cy="533552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7566" y="9000439"/>
            <a:ext cx="114605" cy="53355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813" y="1988820"/>
            <a:ext cx="102412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264"/>
              </a:lnSpc>
            </a:pPr>
            <a:r>
              <a:rPr lang="en-US" sz="30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Обеспечение качества (quality assurance) данных представляет собой комплекс действий, выполняемый перед сбором данных и направленный на создание универсального протокола сбора данных (единая профилактика).</a:t>
            </a:r>
            <a:endParaRPr lang="en-US" sz="3045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9977" y="1783080"/>
            <a:ext cx="1011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 (quality control) представляет собой комплекс действий, направленных на наблюдение и исправление ошибок сбора данных, которые заключаются в документировании процессов сбора, мониторинге, действиях по исправлению ошибок при сборе данных и минимизации будущих ошибок.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7095" y="2276856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данных (Data Cleaning)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2" y="1205636"/>
            <a:ext cx="5690007" cy="44474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962863"/>
            <a:ext cx="79248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Очистка данных (Data Cleaning)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038676"/>
            <a:ext cx="1036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580"/>
              </a:lnSpc>
            </a:pPr>
            <a:r>
              <a:rPr lang="en-US" sz="327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и исправление ошибок или несоответствий в данных, таких как пропущенные значения, выбросы, аномалии и дубликаты.</a:t>
            </a:r>
            <a:endParaRPr lang="en-US" sz="327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459175"/>
            <a:ext cx="1030955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7095" y="2276856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данных (Data Integration)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2" y="1575968"/>
            <a:ext cx="5690007" cy="37067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102767"/>
            <a:ext cx="950976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данных (Data Integration)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177894"/>
            <a:ext cx="103632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3892"/>
              </a:lnSpc>
            </a:pPr>
            <a:r>
              <a:rPr lang="en-US" sz="259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Объединение данных из нескольких источников для создания единого набора данных: слияния данных, сопоставление схем данных и связывание однородных записей.</a:t>
            </a:r>
            <a:endParaRPr lang="en-US" sz="259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599079"/>
            <a:ext cx="1024859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504" y="2042313"/>
            <a:ext cx="377952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132"/>
              </a:lnSpc>
            </a:pPr>
            <a:r>
              <a:rPr lang="en-US" sz="3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данных (Data Transformation)</a:t>
            </a:r>
            <a:endParaRPr lang="en-US" sz="3665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" y="1436066"/>
            <a:ext cx="5690007" cy="39865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6851"/>
            <a:ext cx="103632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данных (Data Transf...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3942664"/>
            <a:ext cx="9997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053"/>
              </a:lnSpc>
            </a:pPr>
            <a:r>
              <a:rPr lang="en-US" sz="3609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Преобразование данных в подходящий для анализа формат: нормализация, стандартизация и дискретизация.</a:t>
            </a:r>
            <a:endParaRPr lang="en-US" sz="3609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3363163"/>
            <a:ext cx="1027907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7095" y="2276856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данных (Data Reduction)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2" y="1829029"/>
            <a:ext cx="5690007" cy="3200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1075335"/>
            <a:ext cx="987552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данных (Data Reduction)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4150461"/>
            <a:ext cx="10241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27"/>
              </a:lnSpc>
            </a:pPr>
            <a:r>
              <a:rPr lang="en-US" sz="287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Предполагает уменьшение размера набора данных при сохранении важной информации: выбор признаков, извлечение признаков, сэмплинг, сжатие данных.</a:t>
            </a:r>
            <a:endParaRPr lang="en-US" sz="2876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6" y="3571647"/>
            <a:ext cx="1014252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6109" y="2660905"/>
            <a:ext cx="36576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Аугментация данных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97" y="1829029"/>
            <a:ext cx="5690007" cy="3200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2051"/>
            <a:ext cx="102412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Аугментация данных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689022"/>
            <a:ext cx="1011936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896"/>
              </a:lnSpc>
            </a:pPr>
            <a:r>
              <a:rPr lang="en-US" sz="34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новых данных на основе уже существующих (изменением существующих, либо изучением закономерности), в условиях малого количества данных или существовании дисбаланса классов.</a:t>
            </a:r>
            <a:endParaRPr lang="en-US" sz="34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110207"/>
            <a:ext cx="1012667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5047" y="2660905"/>
            <a:ext cx="292608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5685"/>
              </a:lnSpc>
            </a:pPr>
            <a:r>
              <a:rPr lang="en-US" sz="406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данных</a:t>
            </a:r>
            <a:endParaRPr lang="en-US" sz="406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834" y="1846861"/>
            <a:ext cx="5690007" cy="31649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7565" y="869595"/>
            <a:ext cx="9022080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9238"/>
              </a:lnSpc>
            </a:pPr>
            <a:r>
              <a:rPr lang="en-US" sz="710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Генерация данных</a:t>
            </a:r>
            <a:endParaRPr lang="en-US" sz="7106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7565" y="2696565"/>
            <a:ext cx="9875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4061"/>
              </a:lnSpc>
            </a:pPr>
            <a:r>
              <a:rPr lang="en-US" sz="27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абсолютно новых данных на основе некоторых правил, статистических методов и генеративных интеллектуальных моделей, если нет нужного набора данных, либо его невозможно собрать, но известен определённый закон, алгоритм или какая-либа закономерность, по которой их можно воспроизвести.</a:t>
            </a:r>
            <a:endParaRPr lang="en-US" sz="270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65" y="2117751"/>
            <a:ext cx="9791395" cy="5788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2595" y="274321"/>
            <a:ext cx="2438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defTabSz="1219170">
              <a:lnSpc>
                <a:spcPts val="1380"/>
              </a:lnSpc>
            </a:pPr>
            <a:r>
              <a:rPr lang="en-US" sz="129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свойства всех типов...</a:t>
            </a:r>
            <a:endParaRPr lang="en-US" sz="129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95" y="518466"/>
            <a:ext cx="342595" cy="30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889</Words>
  <Application>Microsoft Office PowerPoint</Application>
  <PresentationFormat>Широкоэкранный</PresentationFormat>
  <Paragraphs>148</Paragraphs>
  <Slides>32</Slides>
  <Notes>32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Владислав Холмогоров</dc:creator>
  <cp:lastModifiedBy>Владислав Холмогоров</cp:lastModifiedBy>
  <cp:revision>2</cp:revision>
  <dcterms:created xsi:type="dcterms:W3CDTF">2026-06-16T08:51:55Z</dcterms:created>
  <dcterms:modified xsi:type="dcterms:W3CDTF">2026-06-16T09:54:13Z</dcterms:modified>
</cp:coreProperties>
</file>
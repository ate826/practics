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0"/>
  </p:notesMasterIdLst>
  <p:sldIdLst>
    <p:sldId id="545" r:id="rId3"/>
    <p:sldId id="546" r:id="rId4"/>
    <p:sldId id="547" r:id="rId5"/>
    <p:sldId id="548" r:id="rId6"/>
    <p:sldId id="549" r:id="rId7"/>
    <p:sldId id="550" r:id="rId8"/>
    <p:sldId id="551" r:id="rId9"/>
    <p:sldId id="552" r:id="rId10"/>
    <p:sldId id="553" r:id="rId11"/>
    <p:sldId id="554" r:id="rId12"/>
    <p:sldId id="555" r:id="rId13"/>
    <p:sldId id="556" r:id="rId14"/>
    <p:sldId id="557" r:id="rId15"/>
    <p:sldId id="558" r:id="rId16"/>
    <p:sldId id="559" r:id="rId17"/>
    <p:sldId id="560" r:id="rId18"/>
    <p:sldId id="561" r:id="rId19"/>
    <p:sldId id="562" r:id="rId20"/>
    <p:sldId id="563" r:id="rId21"/>
    <p:sldId id="564" r:id="rId22"/>
    <p:sldId id="565" r:id="rId23"/>
    <p:sldId id="566" r:id="rId24"/>
    <p:sldId id="567" r:id="rId25"/>
    <p:sldId id="568" r:id="rId26"/>
    <p:sldId id="569" r:id="rId27"/>
    <p:sldId id="570" r:id="rId28"/>
    <p:sldId id="571" r:id="rId29"/>
    <p:sldId id="572" r:id="rId30"/>
    <p:sldId id="573" r:id="rId31"/>
    <p:sldId id="574" r:id="rId32"/>
    <p:sldId id="575" r:id="rId33"/>
    <p:sldId id="576" r:id="rId34"/>
    <p:sldId id="577" r:id="rId35"/>
    <p:sldId id="578" r:id="rId36"/>
    <p:sldId id="579" r:id="rId37"/>
    <p:sldId id="580" r:id="rId38"/>
    <p:sldId id="581" r:id="rId39"/>
    <p:sldId id="582" r:id="rId40"/>
    <p:sldId id="583" r:id="rId41"/>
    <p:sldId id="584" r:id="rId42"/>
    <p:sldId id="585" r:id="rId43"/>
    <p:sldId id="586" r:id="rId44"/>
    <p:sldId id="587" r:id="rId45"/>
    <p:sldId id="588" r:id="rId46"/>
    <p:sldId id="589" r:id="rId47"/>
    <p:sldId id="590" r:id="rId48"/>
    <p:sldId id="591" r:id="rId49"/>
    <p:sldId id="592" r:id="rId50"/>
    <p:sldId id="593" r:id="rId51"/>
    <p:sldId id="594" r:id="rId52"/>
    <p:sldId id="595" r:id="rId53"/>
    <p:sldId id="596" r:id="rId54"/>
    <p:sldId id="597" r:id="rId55"/>
    <p:sldId id="598" r:id="rId56"/>
    <p:sldId id="599" r:id="rId57"/>
    <p:sldId id="600" r:id="rId58"/>
    <p:sldId id="601" r:id="rId59"/>
    <p:sldId id="602" r:id="rId60"/>
    <p:sldId id="603" r:id="rId61"/>
    <p:sldId id="604" r:id="rId62"/>
    <p:sldId id="605" r:id="rId63"/>
    <p:sldId id="606" r:id="rId64"/>
    <p:sldId id="607" r:id="rId65"/>
    <p:sldId id="608" r:id="rId66"/>
    <p:sldId id="609" r:id="rId67"/>
    <p:sldId id="610" r:id="rId68"/>
    <p:sldId id="611" r:id="rId69"/>
    <p:sldId id="612" r:id="rId70"/>
    <p:sldId id="613" r:id="rId71"/>
    <p:sldId id="614" r:id="rId72"/>
    <p:sldId id="615" r:id="rId73"/>
    <p:sldId id="616" r:id="rId74"/>
    <p:sldId id="617" r:id="rId75"/>
    <p:sldId id="618" r:id="rId76"/>
    <p:sldId id="619" r:id="rId77"/>
    <p:sldId id="620" r:id="rId78"/>
    <p:sldId id="621" r:id="rId79"/>
    <p:sldId id="622" r:id="rId80"/>
    <p:sldId id="623" r:id="rId81"/>
    <p:sldId id="624" r:id="rId82"/>
    <p:sldId id="625" r:id="rId83"/>
    <p:sldId id="626" r:id="rId84"/>
    <p:sldId id="627" r:id="rId85"/>
    <p:sldId id="628" r:id="rId86"/>
    <p:sldId id="629" r:id="rId87"/>
    <p:sldId id="630" r:id="rId88"/>
    <p:sldId id="631" r:id="rId89"/>
    <p:sldId id="632" r:id="rId90"/>
    <p:sldId id="633" r:id="rId91"/>
    <p:sldId id="634" r:id="rId92"/>
    <p:sldId id="635" r:id="rId93"/>
    <p:sldId id="636" r:id="rId94"/>
    <p:sldId id="637" r:id="rId95"/>
    <p:sldId id="638" r:id="rId96"/>
    <p:sldId id="639" r:id="rId97"/>
    <p:sldId id="640" r:id="rId98"/>
    <p:sldId id="641" r:id="rId99"/>
    <p:sldId id="642" r:id="rId100"/>
    <p:sldId id="643" r:id="rId101"/>
    <p:sldId id="644" r:id="rId102"/>
    <p:sldId id="645" r:id="rId103"/>
    <p:sldId id="646" r:id="rId104"/>
    <p:sldId id="647" r:id="rId105"/>
    <p:sldId id="648" r:id="rId106"/>
    <p:sldId id="649" r:id="rId107"/>
    <p:sldId id="650" r:id="rId108"/>
    <p:sldId id="651" r:id="rId10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55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viewProps" Target="viewProp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theme" Target="theme/theme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6EFD4B-8C5E-47E8-945F-B8B14679CF9B}" type="datetimeFigureOut">
              <a:rPr lang="ru-RU" smtClean="0"/>
              <a:t>16.06.2026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4A290D-B5EC-40E5-8FEA-8938173031B6}" type="slidenum">
              <a:rPr lang="ru-RU" smtClean="0"/>
              <a:t>‹#›</a:t>
            </a:fld>
            <a:endParaRPr lang="ru-RU"/>
          </a:p>
        </p:txBody>
      </p:sp>
    </p:spTree>
    <p:extLst>
      <p:ext uri="{BB962C8B-B14F-4D97-AF65-F5344CB8AC3E}">
        <p14:creationId xmlns:p14="http://schemas.microsoft.com/office/powerpoint/2010/main" val="3316116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C5BB59-C5F0-8BB7-C289-072BB81E337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6A7FAC9C-1FED-B7FE-C8F1-140ECB6B9D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6E3BE397-1EE6-8538-F644-C8F29A204F1E}"/>
              </a:ext>
            </a:extLst>
          </p:cNvPr>
          <p:cNvSpPr>
            <a:spLocks noGrp="1"/>
          </p:cNvSpPr>
          <p:nvPr>
            <p:ph type="dt" sz="half" idx="10"/>
          </p:nvPr>
        </p:nvSpPr>
        <p:spPr/>
        <p:txBody>
          <a:bodyPr/>
          <a:lstStyle/>
          <a:p>
            <a:fld id="{EF4D93C8-2BF7-49AC-A0C3-6C2B8EAE6C3E}"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407204A6-0F47-57C1-4EB5-3A5D3F467D3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E80A198-7191-5EA5-2E88-3DE33E973808}"/>
              </a:ext>
            </a:extLst>
          </p:cNvPr>
          <p:cNvSpPr>
            <a:spLocks noGrp="1"/>
          </p:cNvSpPr>
          <p:nvPr>
            <p:ph type="sldNum" sz="quarter" idx="12"/>
          </p:nvPr>
        </p:nvSpPr>
        <p:spPr/>
        <p:txBody>
          <a:bodyPr/>
          <a:lstStyle/>
          <a:p>
            <a:fld id="{8DBEE81C-077B-4BAB-AFE7-A81BF3B959C1}" type="slidenum">
              <a:rPr lang="ru-RU" smtClean="0"/>
              <a:t>‹#›</a:t>
            </a:fld>
            <a:endParaRPr lang="ru-RU"/>
          </a:p>
        </p:txBody>
      </p:sp>
    </p:spTree>
    <p:extLst>
      <p:ext uri="{BB962C8B-B14F-4D97-AF65-F5344CB8AC3E}">
        <p14:creationId xmlns:p14="http://schemas.microsoft.com/office/powerpoint/2010/main" val="3645852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517E39-7C59-7E55-1AD6-5F4620B80D9E}"/>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70769A26-8D4C-541E-039E-74AF55525A04}"/>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71789EB-DE27-D90E-F2E8-94C41833823D}"/>
              </a:ext>
            </a:extLst>
          </p:cNvPr>
          <p:cNvSpPr>
            <a:spLocks noGrp="1"/>
          </p:cNvSpPr>
          <p:nvPr>
            <p:ph type="dt" sz="half" idx="10"/>
          </p:nvPr>
        </p:nvSpPr>
        <p:spPr/>
        <p:txBody>
          <a:bodyPr/>
          <a:lstStyle/>
          <a:p>
            <a:fld id="{EF4D93C8-2BF7-49AC-A0C3-6C2B8EAE6C3E}"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FDD7978D-19C6-886E-7FE8-84AB46DB4F1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4E13FC9-474A-3CA6-2C88-9B43786DD45B}"/>
              </a:ext>
            </a:extLst>
          </p:cNvPr>
          <p:cNvSpPr>
            <a:spLocks noGrp="1"/>
          </p:cNvSpPr>
          <p:nvPr>
            <p:ph type="sldNum" sz="quarter" idx="12"/>
          </p:nvPr>
        </p:nvSpPr>
        <p:spPr/>
        <p:txBody>
          <a:bodyPr/>
          <a:lstStyle/>
          <a:p>
            <a:fld id="{8DBEE81C-077B-4BAB-AFE7-A81BF3B959C1}" type="slidenum">
              <a:rPr lang="ru-RU" smtClean="0"/>
              <a:t>‹#›</a:t>
            </a:fld>
            <a:endParaRPr lang="ru-RU"/>
          </a:p>
        </p:txBody>
      </p:sp>
    </p:spTree>
    <p:extLst>
      <p:ext uri="{BB962C8B-B14F-4D97-AF65-F5344CB8AC3E}">
        <p14:creationId xmlns:p14="http://schemas.microsoft.com/office/powerpoint/2010/main" val="3902267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20BA43-9FFD-5BE6-06FA-5499936B069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9E336713-B497-0583-AC87-B5CC5E91E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76D03101-2659-E703-EA5F-48AB60CF0F49}"/>
              </a:ext>
            </a:extLst>
          </p:cNvPr>
          <p:cNvSpPr>
            <a:spLocks noGrp="1"/>
          </p:cNvSpPr>
          <p:nvPr>
            <p:ph type="dt" sz="half" idx="10"/>
          </p:nvPr>
        </p:nvSpPr>
        <p:spPr/>
        <p:txBody>
          <a:bodyPr/>
          <a:lstStyle/>
          <a:p>
            <a:fld id="{EF4D93C8-2BF7-49AC-A0C3-6C2B8EAE6C3E}"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B9C79518-4A37-2489-1002-ED876B8B3E4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8658DCA-B3EB-25FB-33D4-F3894D97970A}"/>
              </a:ext>
            </a:extLst>
          </p:cNvPr>
          <p:cNvSpPr>
            <a:spLocks noGrp="1"/>
          </p:cNvSpPr>
          <p:nvPr>
            <p:ph type="sldNum" sz="quarter" idx="12"/>
          </p:nvPr>
        </p:nvSpPr>
        <p:spPr/>
        <p:txBody>
          <a:bodyPr/>
          <a:lstStyle/>
          <a:p>
            <a:fld id="{8DBEE81C-077B-4BAB-AFE7-A81BF3B959C1}" type="slidenum">
              <a:rPr lang="ru-RU" smtClean="0"/>
              <a:t>‹#›</a:t>
            </a:fld>
            <a:endParaRPr lang="ru-RU"/>
          </a:p>
        </p:txBody>
      </p:sp>
    </p:spTree>
    <p:extLst>
      <p:ext uri="{BB962C8B-B14F-4D97-AF65-F5344CB8AC3E}">
        <p14:creationId xmlns:p14="http://schemas.microsoft.com/office/powerpoint/2010/main" val="846999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455651-5798-71C5-CCD3-6125394404CE}"/>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6F6A74F-F877-AF89-71E2-660B547A1A97}"/>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6A7ABCFC-B1A0-E6FD-8757-DC5FC222BD2B}"/>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8C47B568-DE85-CEF4-60FB-6FA93B8891F3}"/>
              </a:ext>
            </a:extLst>
          </p:cNvPr>
          <p:cNvSpPr>
            <a:spLocks noGrp="1"/>
          </p:cNvSpPr>
          <p:nvPr>
            <p:ph type="dt" sz="half" idx="10"/>
          </p:nvPr>
        </p:nvSpPr>
        <p:spPr/>
        <p:txBody>
          <a:bodyPr/>
          <a:lstStyle/>
          <a:p>
            <a:fld id="{EF4D93C8-2BF7-49AC-A0C3-6C2B8EAE6C3E}" type="datetimeFigureOut">
              <a:rPr lang="ru-RU" smtClean="0"/>
              <a:t>16.06.2026</a:t>
            </a:fld>
            <a:endParaRPr lang="ru-RU"/>
          </a:p>
        </p:txBody>
      </p:sp>
      <p:sp>
        <p:nvSpPr>
          <p:cNvPr id="6" name="Нижний колонтитул 5">
            <a:extLst>
              <a:ext uri="{FF2B5EF4-FFF2-40B4-BE49-F238E27FC236}">
                <a16:creationId xmlns:a16="http://schemas.microsoft.com/office/drawing/2014/main" id="{F65A88BE-E2DA-4763-E78C-FC955BE2F1D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D20C09E-6B8A-D34A-7469-2488CD0D1DD9}"/>
              </a:ext>
            </a:extLst>
          </p:cNvPr>
          <p:cNvSpPr>
            <a:spLocks noGrp="1"/>
          </p:cNvSpPr>
          <p:nvPr>
            <p:ph type="sldNum" sz="quarter" idx="12"/>
          </p:nvPr>
        </p:nvSpPr>
        <p:spPr/>
        <p:txBody>
          <a:bodyPr/>
          <a:lstStyle/>
          <a:p>
            <a:fld id="{8DBEE81C-077B-4BAB-AFE7-A81BF3B959C1}" type="slidenum">
              <a:rPr lang="ru-RU" smtClean="0"/>
              <a:t>‹#›</a:t>
            </a:fld>
            <a:endParaRPr lang="ru-RU"/>
          </a:p>
        </p:txBody>
      </p:sp>
    </p:spTree>
    <p:extLst>
      <p:ext uri="{BB962C8B-B14F-4D97-AF65-F5344CB8AC3E}">
        <p14:creationId xmlns:p14="http://schemas.microsoft.com/office/powerpoint/2010/main" val="448657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0412C2-878C-02ED-4A55-EF73F70BB72F}"/>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B0AC82BA-C9EB-8C3B-3915-4AFB4A752D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8003AF5-7F82-A904-D5D6-B7E152D2C166}"/>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6EDC06C6-36ED-D656-9F83-94B487109A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0926E695-31AC-80ED-6B6C-E1464055FC21}"/>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D5BF97CA-B040-F3E9-57BE-55B761C80E9B}"/>
              </a:ext>
            </a:extLst>
          </p:cNvPr>
          <p:cNvSpPr>
            <a:spLocks noGrp="1"/>
          </p:cNvSpPr>
          <p:nvPr>
            <p:ph type="dt" sz="half" idx="10"/>
          </p:nvPr>
        </p:nvSpPr>
        <p:spPr/>
        <p:txBody>
          <a:bodyPr/>
          <a:lstStyle/>
          <a:p>
            <a:fld id="{EF4D93C8-2BF7-49AC-A0C3-6C2B8EAE6C3E}" type="datetimeFigureOut">
              <a:rPr lang="ru-RU" smtClean="0"/>
              <a:t>16.06.2026</a:t>
            </a:fld>
            <a:endParaRPr lang="ru-RU"/>
          </a:p>
        </p:txBody>
      </p:sp>
      <p:sp>
        <p:nvSpPr>
          <p:cNvPr id="8" name="Нижний колонтитул 7">
            <a:extLst>
              <a:ext uri="{FF2B5EF4-FFF2-40B4-BE49-F238E27FC236}">
                <a16:creationId xmlns:a16="http://schemas.microsoft.com/office/drawing/2014/main" id="{C42A6053-EF71-556B-3C30-B5D51AC24057}"/>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E7B842AE-9313-EF38-3199-E076BF3F334E}"/>
              </a:ext>
            </a:extLst>
          </p:cNvPr>
          <p:cNvSpPr>
            <a:spLocks noGrp="1"/>
          </p:cNvSpPr>
          <p:nvPr>
            <p:ph type="sldNum" sz="quarter" idx="12"/>
          </p:nvPr>
        </p:nvSpPr>
        <p:spPr/>
        <p:txBody>
          <a:bodyPr/>
          <a:lstStyle/>
          <a:p>
            <a:fld id="{8DBEE81C-077B-4BAB-AFE7-A81BF3B959C1}" type="slidenum">
              <a:rPr lang="ru-RU" smtClean="0"/>
              <a:t>‹#›</a:t>
            </a:fld>
            <a:endParaRPr lang="ru-RU"/>
          </a:p>
        </p:txBody>
      </p:sp>
    </p:spTree>
    <p:extLst>
      <p:ext uri="{BB962C8B-B14F-4D97-AF65-F5344CB8AC3E}">
        <p14:creationId xmlns:p14="http://schemas.microsoft.com/office/powerpoint/2010/main" val="1685116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6C7679-5B87-8322-DF58-4175018A138B}"/>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FB71EBE5-2022-F8E0-ACBA-D966C838C4E9}"/>
              </a:ext>
            </a:extLst>
          </p:cNvPr>
          <p:cNvSpPr>
            <a:spLocks noGrp="1"/>
          </p:cNvSpPr>
          <p:nvPr>
            <p:ph type="dt" sz="half" idx="10"/>
          </p:nvPr>
        </p:nvSpPr>
        <p:spPr/>
        <p:txBody>
          <a:bodyPr/>
          <a:lstStyle/>
          <a:p>
            <a:fld id="{EF4D93C8-2BF7-49AC-A0C3-6C2B8EAE6C3E}" type="datetimeFigureOut">
              <a:rPr lang="ru-RU" smtClean="0"/>
              <a:t>16.06.2026</a:t>
            </a:fld>
            <a:endParaRPr lang="ru-RU"/>
          </a:p>
        </p:txBody>
      </p:sp>
      <p:sp>
        <p:nvSpPr>
          <p:cNvPr id="4" name="Нижний колонтитул 3">
            <a:extLst>
              <a:ext uri="{FF2B5EF4-FFF2-40B4-BE49-F238E27FC236}">
                <a16:creationId xmlns:a16="http://schemas.microsoft.com/office/drawing/2014/main" id="{C99D458C-54CE-D05E-838C-CE80F8EB13B0}"/>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ED3DFCF-BAAB-4748-66E1-E139F12D0E34}"/>
              </a:ext>
            </a:extLst>
          </p:cNvPr>
          <p:cNvSpPr>
            <a:spLocks noGrp="1"/>
          </p:cNvSpPr>
          <p:nvPr>
            <p:ph type="sldNum" sz="quarter" idx="12"/>
          </p:nvPr>
        </p:nvSpPr>
        <p:spPr/>
        <p:txBody>
          <a:bodyPr/>
          <a:lstStyle/>
          <a:p>
            <a:fld id="{8DBEE81C-077B-4BAB-AFE7-A81BF3B959C1}" type="slidenum">
              <a:rPr lang="ru-RU" smtClean="0"/>
              <a:t>‹#›</a:t>
            </a:fld>
            <a:endParaRPr lang="ru-RU"/>
          </a:p>
        </p:txBody>
      </p:sp>
    </p:spTree>
    <p:extLst>
      <p:ext uri="{BB962C8B-B14F-4D97-AF65-F5344CB8AC3E}">
        <p14:creationId xmlns:p14="http://schemas.microsoft.com/office/powerpoint/2010/main" val="268933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1AEB398-6633-FC1A-EAC4-27E1628343A1}"/>
              </a:ext>
            </a:extLst>
          </p:cNvPr>
          <p:cNvSpPr>
            <a:spLocks noGrp="1"/>
          </p:cNvSpPr>
          <p:nvPr>
            <p:ph type="dt" sz="half" idx="10"/>
          </p:nvPr>
        </p:nvSpPr>
        <p:spPr/>
        <p:txBody>
          <a:bodyPr/>
          <a:lstStyle/>
          <a:p>
            <a:fld id="{EF4D93C8-2BF7-49AC-A0C3-6C2B8EAE6C3E}" type="datetimeFigureOut">
              <a:rPr lang="ru-RU" smtClean="0"/>
              <a:t>16.06.2026</a:t>
            </a:fld>
            <a:endParaRPr lang="ru-RU"/>
          </a:p>
        </p:txBody>
      </p:sp>
      <p:sp>
        <p:nvSpPr>
          <p:cNvPr id="3" name="Нижний колонтитул 2">
            <a:extLst>
              <a:ext uri="{FF2B5EF4-FFF2-40B4-BE49-F238E27FC236}">
                <a16:creationId xmlns:a16="http://schemas.microsoft.com/office/drawing/2014/main" id="{0359647D-7BF8-2047-5447-25DA6FF80BA7}"/>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BA29A243-695F-F7BC-5007-30A2466BD2E4}"/>
              </a:ext>
            </a:extLst>
          </p:cNvPr>
          <p:cNvSpPr>
            <a:spLocks noGrp="1"/>
          </p:cNvSpPr>
          <p:nvPr>
            <p:ph type="sldNum" sz="quarter" idx="12"/>
          </p:nvPr>
        </p:nvSpPr>
        <p:spPr/>
        <p:txBody>
          <a:bodyPr/>
          <a:lstStyle/>
          <a:p>
            <a:fld id="{8DBEE81C-077B-4BAB-AFE7-A81BF3B959C1}" type="slidenum">
              <a:rPr lang="ru-RU" smtClean="0"/>
              <a:t>‹#›</a:t>
            </a:fld>
            <a:endParaRPr lang="ru-RU"/>
          </a:p>
        </p:txBody>
      </p:sp>
    </p:spTree>
    <p:extLst>
      <p:ext uri="{BB962C8B-B14F-4D97-AF65-F5344CB8AC3E}">
        <p14:creationId xmlns:p14="http://schemas.microsoft.com/office/powerpoint/2010/main" val="3647553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1DD6B5-51E3-5407-F42F-2A3521D13D08}"/>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723E3998-86C0-60AE-64A4-0FA3AD4A18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1AC0A848-7B21-B527-3E22-55314F6A2C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E0E0218-DB0E-197E-3E8D-20E963AF688E}"/>
              </a:ext>
            </a:extLst>
          </p:cNvPr>
          <p:cNvSpPr>
            <a:spLocks noGrp="1"/>
          </p:cNvSpPr>
          <p:nvPr>
            <p:ph type="dt" sz="half" idx="10"/>
          </p:nvPr>
        </p:nvSpPr>
        <p:spPr/>
        <p:txBody>
          <a:bodyPr/>
          <a:lstStyle/>
          <a:p>
            <a:fld id="{EF4D93C8-2BF7-49AC-A0C3-6C2B8EAE6C3E}" type="datetimeFigureOut">
              <a:rPr lang="ru-RU" smtClean="0"/>
              <a:t>16.06.2026</a:t>
            </a:fld>
            <a:endParaRPr lang="ru-RU"/>
          </a:p>
        </p:txBody>
      </p:sp>
      <p:sp>
        <p:nvSpPr>
          <p:cNvPr id="6" name="Нижний колонтитул 5">
            <a:extLst>
              <a:ext uri="{FF2B5EF4-FFF2-40B4-BE49-F238E27FC236}">
                <a16:creationId xmlns:a16="http://schemas.microsoft.com/office/drawing/2014/main" id="{74886D30-49B8-B282-524A-2C3E6A141F5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CB80D969-F04B-CEEA-121C-C4842D0166F4}"/>
              </a:ext>
            </a:extLst>
          </p:cNvPr>
          <p:cNvSpPr>
            <a:spLocks noGrp="1"/>
          </p:cNvSpPr>
          <p:nvPr>
            <p:ph type="sldNum" sz="quarter" idx="12"/>
          </p:nvPr>
        </p:nvSpPr>
        <p:spPr/>
        <p:txBody>
          <a:bodyPr/>
          <a:lstStyle/>
          <a:p>
            <a:fld id="{8DBEE81C-077B-4BAB-AFE7-A81BF3B959C1}" type="slidenum">
              <a:rPr lang="ru-RU" smtClean="0"/>
              <a:t>‹#›</a:t>
            </a:fld>
            <a:endParaRPr lang="ru-RU"/>
          </a:p>
        </p:txBody>
      </p:sp>
    </p:spTree>
    <p:extLst>
      <p:ext uri="{BB962C8B-B14F-4D97-AF65-F5344CB8AC3E}">
        <p14:creationId xmlns:p14="http://schemas.microsoft.com/office/powerpoint/2010/main" val="762426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204BED-51AF-750E-94CF-0C267AB9EF5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E24D9967-029F-90AB-8744-79D71B2048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9BD2526F-92A9-2044-CCF8-7DA45FCD5C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58C1D45B-4642-9806-8726-5285BE272DFE}"/>
              </a:ext>
            </a:extLst>
          </p:cNvPr>
          <p:cNvSpPr>
            <a:spLocks noGrp="1"/>
          </p:cNvSpPr>
          <p:nvPr>
            <p:ph type="dt" sz="half" idx="10"/>
          </p:nvPr>
        </p:nvSpPr>
        <p:spPr/>
        <p:txBody>
          <a:bodyPr/>
          <a:lstStyle/>
          <a:p>
            <a:fld id="{EF4D93C8-2BF7-49AC-A0C3-6C2B8EAE6C3E}" type="datetimeFigureOut">
              <a:rPr lang="ru-RU" smtClean="0"/>
              <a:t>16.06.2026</a:t>
            </a:fld>
            <a:endParaRPr lang="ru-RU"/>
          </a:p>
        </p:txBody>
      </p:sp>
      <p:sp>
        <p:nvSpPr>
          <p:cNvPr id="6" name="Нижний колонтитул 5">
            <a:extLst>
              <a:ext uri="{FF2B5EF4-FFF2-40B4-BE49-F238E27FC236}">
                <a16:creationId xmlns:a16="http://schemas.microsoft.com/office/drawing/2014/main" id="{0968016D-2CB0-500B-6362-552D788411ED}"/>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AD46D1E-D9D4-1B47-B8B0-BD2415C8580E}"/>
              </a:ext>
            </a:extLst>
          </p:cNvPr>
          <p:cNvSpPr>
            <a:spLocks noGrp="1"/>
          </p:cNvSpPr>
          <p:nvPr>
            <p:ph type="sldNum" sz="quarter" idx="12"/>
          </p:nvPr>
        </p:nvSpPr>
        <p:spPr/>
        <p:txBody>
          <a:bodyPr/>
          <a:lstStyle/>
          <a:p>
            <a:fld id="{8DBEE81C-077B-4BAB-AFE7-A81BF3B959C1}" type="slidenum">
              <a:rPr lang="ru-RU" smtClean="0"/>
              <a:t>‹#›</a:t>
            </a:fld>
            <a:endParaRPr lang="ru-RU"/>
          </a:p>
        </p:txBody>
      </p:sp>
    </p:spTree>
    <p:extLst>
      <p:ext uri="{BB962C8B-B14F-4D97-AF65-F5344CB8AC3E}">
        <p14:creationId xmlns:p14="http://schemas.microsoft.com/office/powerpoint/2010/main" val="3276436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A46841-5FD0-CAC8-0909-538C98B9F41A}"/>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4A572D72-FD10-D0E2-E382-133CA7A2901E}"/>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1B80A51-38D1-B3DE-DC22-C8EE686E66F8}"/>
              </a:ext>
            </a:extLst>
          </p:cNvPr>
          <p:cNvSpPr>
            <a:spLocks noGrp="1"/>
          </p:cNvSpPr>
          <p:nvPr>
            <p:ph type="dt" sz="half" idx="10"/>
          </p:nvPr>
        </p:nvSpPr>
        <p:spPr/>
        <p:txBody>
          <a:bodyPr/>
          <a:lstStyle/>
          <a:p>
            <a:fld id="{EF4D93C8-2BF7-49AC-A0C3-6C2B8EAE6C3E}"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F4A121D8-1F5A-86C3-A69C-7863E627A9C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C2F82F7-787C-4E6C-DDD1-A32A74786002}"/>
              </a:ext>
            </a:extLst>
          </p:cNvPr>
          <p:cNvSpPr>
            <a:spLocks noGrp="1"/>
          </p:cNvSpPr>
          <p:nvPr>
            <p:ph type="sldNum" sz="quarter" idx="12"/>
          </p:nvPr>
        </p:nvSpPr>
        <p:spPr/>
        <p:txBody>
          <a:bodyPr/>
          <a:lstStyle/>
          <a:p>
            <a:fld id="{8DBEE81C-077B-4BAB-AFE7-A81BF3B959C1}" type="slidenum">
              <a:rPr lang="ru-RU" smtClean="0"/>
              <a:t>‹#›</a:t>
            </a:fld>
            <a:endParaRPr lang="ru-RU"/>
          </a:p>
        </p:txBody>
      </p:sp>
    </p:spTree>
    <p:extLst>
      <p:ext uri="{BB962C8B-B14F-4D97-AF65-F5344CB8AC3E}">
        <p14:creationId xmlns:p14="http://schemas.microsoft.com/office/powerpoint/2010/main" val="1466593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163C44F7-3FCD-A4A9-35E4-AC1B63D6278C}"/>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C6537CA1-A494-8C6E-1F94-5AE290845498}"/>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8E9E667-6FDC-C5F4-F166-0BF1FC26D536}"/>
              </a:ext>
            </a:extLst>
          </p:cNvPr>
          <p:cNvSpPr>
            <a:spLocks noGrp="1"/>
          </p:cNvSpPr>
          <p:nvPr>
            <p:ph type="dt" sz="half" idx="10"/>
          </p:nvPr>
        </p:nvSpPr>
        <p:spPr/>
        <p:txBody>
          <a:bodyPr/>
          <a:lstStyle/>
          <a:p>
            <a:fld id="{EF4D93C8-2BF7-49AC-A0C3-6C2B8EAE6C3E}"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9DB59D61-7B3D-ACFD-1EB2-D738F2FD1ED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55BC15D-BCD3-367C-079D-1C0021B670EA}"/>
              </a:ext>
            </a:extLst>
          </p:cNvPr>
          <p:cNvSpPr>
            <a:spLocks noGrp="1"/>
          </p:cNvSpPr>
          <p:nvPr>
            <p:ph type="sldNum" sz="quarter" idx="12"/>
          </p:nvPr>
        </p:nvSpPr>
        <p:spPr/>
        <p:txBody>
          <a:bodyPr/>
          <a:lstStyle/>
          <a:p>
            <a:fld id="{8DBEE81C-077B-4BAB-AFE7-A81BF3B959C1}" type="slidenum">
              <a:rPr lang="ru-RU" smtClean="0"/>
              <a:t>‹#›</a:t>
            </a:fld>
            <a:endParaRPr lang="ru-RU"/>
          </a:p>
        </p:txBody>
      </p:sp>
    </p:spTree>
    <p:extLst>
      <p:ext uri="{BB962C8B-B14F-4D97-AF65-F5344CB8AC3E}">
        <p14:creationId xmlns:p14="http://schemas.microsoft.com/office/powerpoint/2010/main" val="1246926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5796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9976BF-5EA6-DAF7-7E26-74E3266788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CA542093-7FA4-B87F-90EA-ADBABD7091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B130687-5F24-8DCF-2333-F41F01AF1B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4D93C8-2BF7-49AC-A0C3-6C2B8EAE6C3E}"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9487B9A5-FEF9-AA9E-94A0-6CBB5A4415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B522AED5-A753-696A-3D75-18B815B342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BEE81C-077B-4BAB-AFE7-A81BF3B959C1}" type="slidenum">
              <a:rPr lang="ru-RU" smtClean="0"/>
              <a:t>‹#›</a:t>
            </a:fld>
            <a:endParaRPr lang="ru-RU"/>
          </a:p>
        </p:txBody>
      </p:sp>
    </p:spTree>
    <p:extLst>
      <p:ext uri="{BB962C8B-B14F-4D97-AF65-F5344CB8AC3E}">
        <p14:creationId xmlns:p14="http://schemas.microsoft.com/office/powerpoint/2010/main" val="554968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9079024"/>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svg"/><Relationship Id="rId11" Type="http://schemas.openxmlformats.org/officeDocument/2006/relationships/image" Target="../media/image9.svg"/><Relationship Id="rId5" Type="http://schemas.openxmlformats.org/officeDocument/2006/relationships/image" Target="../media/image3.sv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svg"/></Relationships>
</file>

<file path=ppt/slides/_rels/slide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svg"/></Relationships>
</file>

<file path=ppt/slides/_rels/slide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2.svg"/><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1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16.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8.svg"/><Relationship Id="rId7" Type="http://schemas.openxmlformats.org/officeDocument/2006/relationships/image" Target="../media/image30.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9.svg"/><Relationship Id="rId5" Type="http://schemas.openxmlformats.org/officeDocument/2006/relationships/image" Target="../media/image11.svg"/><Relationship Id="rId4" Type="http://schemas.openxmlformats.org/officeDocument/2006/relationships/image" Target="../media/image10.svg"/></Relationships>
</file>

<file path=ppt/slides/_rels/slide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20.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11.sv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2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2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11.sv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28.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3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3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19.svg"/><Relationship Id="rId7" Type="http://schemas.openxmlformats.org/officeDocument/2006/relationships/image" Target="../media/image10.sv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42.svg"/><Relationship Id="rId11" Type="http://schemas.openxmlformats.org/officeDocument/2006/relationships/image" Target="../media/image17.svg"/><Relationship Id="rId5" Type="http://schemas.openxmlformats.org/officeDocument/2006/relationships/image" Target="../media/image41.svg"/><Relationship Id="rId10" Type="http://schemas.openxmlformats.org/officeDocument/2006/relationships/image" Target="../media/image45.svg"/><Relationship Id="rId4" Type="http://schemas.openxmlformats.org/officeDocument/2006/relationships/image" Target="../media/image20.svg"/><Relationship Id="rId9" Type="http://schemas.openxmlformats.org/officeDocument/2006/relationships/image" Target="../media/image44.svg"/></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34.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34.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48.svg"/></Relationships>
</file>

<file path=ppt/slides/_rels/slide35.xml.rels><?xml version="1.0" encoding="UTF-8" standalone="yes"?>
<Relationships xmlns="http://schemas.openxmlformats.org/package/2006/relationships"><Relationship Id="rId3" Type="http://schemas.openxmlformats.org/officeDocument/2006/relationships/image" Target="../media/image49.svg"/><Relationship Id="rId7" Type="http://schemas.openxmlformats.org/officeDocument/2006/relationships/image" Target="../media/image17.sv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_rels/slide3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3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38.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54.svg"/></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41.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4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44.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4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5.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11.svg"/></Relationships>
</file>

<file path=ppt/slides/_rels/slide4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7.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54.svg"/></Relationships>
</file>

<file path=ppt/slides/_rels/slide4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8.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11.svg"/></Relationships>
</file>

<file path=ppt/slides/_rels/slide4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51.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61.svg"/><Relationship Id="rId4" Type="http://schemas.openxmlformats.org/officeDocument/2006/relationships/image" Target="../media/image54.svg"/></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5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53.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29.svg"/><Relationship Id="rId4" Type="http://schemas.openxmlformats.org/officeDocument/2006/relationships/image" Target="../media/image11.svg"/></Relationships>
</file>

<file path=ppt/slides/_rels/slide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4.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5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7.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5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58.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23.svg"/><Relationship Id="rId4" Type="http://schemas.openxmlformats.org/officeDocument/2006/relationships/image" Target="../media/image22.svg"/></Relationships>
</file>

<file path=ppt/slides/_rels/slide5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61.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notesSlide" Target="../notesSlides/notesSlide61.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6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notesSlide" Target="../notesSlides/notesSlide63.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6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4.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65.xml.rels><?xml version="1.0" encoding="UTF-8" standalone="yes"?>
<Relationships xmlns="http://schemas.openxmlformats.org/package/2006/relationships"><Relationship Id="rId3" Type="http://schemas.openxmlformats.org/officeDocument/2006/relationships/image" Target="../media/image49.svg"/><Relationship Id="rId7" Type="http://schemas.openxmlformats.org/officeDocument/2006/relationships/image" Target="../media/image17.svg"/><Relationship Id="rId2" Type="http://schemas.openxmlformats.org/officeDocument/2006/relationships/notesSlide" Target="../notesSlides/notesSlide65.xml"/><Relationship Id="rId1" Type="http://schemas.openxmlformats.org/officeDocument/2006/relationships/slideLayout" Target="../slideLayouts/slideLayout12.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_rels/slide6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7.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6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68.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29.svg"/><Relationship Id="rId4" Type="http://schemas.openxmlformats.org/officeDocument/2006/relationships/image" Target="../media/image11.svg"/></Relationships>
</file>

<file path=ppt/slides/_rels/slide6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1.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7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72.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61.svg"/><Relationship Id="rId4" Type="http://schemas.openxmlformats.org/officeDocument/2006/relationships/image" Target="../media/image54.svg"/></Relationships>
</file>

<file path=ppt/slides/_rels/slide7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3.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7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74.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29.svg"/><Relationship Id="rId4" Type="http://schemas.openxmlformats.org/officeDocument/2006/relationships/image" Target="../media/image11.svg"/></Relationships>
</file>

<file path=ppt/slides/_rels/slide7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6.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7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77.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54.svg"/></Relationships>
</file>

<file path=ppt/slides/_rels/slide78.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7.svg"/><Relationship Id="rId2" Type="http://schemas.openxmlformats.org/officeDocument/2006/relationships/notesSlide" Target="../notesSlides/notesSlide78.xml"/><Relationship Id="rId1" Type="http://schemas.openxmlformats.org/officeDocument/2006/relationships/slideLayout" Target="../slideLayouts/slideLayout12.xml"/><Relationship Id="rId6" Type="http://schemas.openxmlformats.org/officeDocument/2006/relationships/image" Target="../media/image73.svg"/><Relationship Id="rId5" Type="http://schemas.openxmlformats.org/officeDocument/2006/relationships/image" Target="../media/image61.svg"/><Relationship Id="rId4" Type="http://schemas.openxmlformats.org/officeDocument/2006/relationships/image" Target="../media/image54.svg"/></Relationships>
</file>

<file path=ppt/slides/_rels/slide7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2.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8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84.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54.svg"/></Relationships>
</file>

<file path=ppt/slides/_rels/slide8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5.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8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86.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54.svg"/></Relationships>
</file>

<file path=ppt/slides/_rels/slide8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7.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8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8.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8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89.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54.svg"/></Relationships>
</file>

<file path=ppt/slides/_rels/slide90.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1.svg"/><Relationship Id="rId7" Type="http://schemas.openxmlformats.org/officeDocument/2006/relationships/image" Target="../media/image81.svg"/><Relationship Id="rId2" Type="http://schemas.openxmlformats.org/officeDocument/2006/relationships/notesSlide" Target="../notesSlides/notesSlide90.xml"/><Relationship Id="rId1" Type="http://schemas.openxmlformats.org/officeDocument/2006/relationships/slideLayout" Target="../slideLayouts/slideLayout12.xml"/><Relationship Id="rId6" Type="http://schemas.openxmlformats.org/officeDocument/2006/relationships/image" Target="../media/image80.svg"/><Relationship Id="rId5" Type="http://schemas.openxmlformats.org/officeDocument/2006/relationships/image" Target="../media/image79.svg"/><Relationship Id="rId4" Type="http://schemas.openxmlformats.org/officeDocument/2006/relationships/image" Target="../media/image78.svg"/></Relationships>
</file>

<file path=ppt/slides/_rels/slide91.xml.rels><?xml version="1.0" encoding="UTF-8" standalone="yes"?>
<Relationships xmlns="http://schemas.openxmlformats.org/package/2006/relationships"><Relationship Id="rId3" Type="http://schemas.openxmlformats.org/officeDocument/2006/relationships/image" Target="../media/image49.svg"/><Relationship Id="rId7" Type="http://schemas.openxmlformats.org/officeDocument/2006/relationships/image" Target="../media/image17.svg"/><Relationship Id="rId2" Type="http://schemas.openxmlformats.org/officeDocument/2006/relationships/notesSlide" Target="../notesSlides/notesSlide91.xml"/><Relationship Id="rId1" Type="http://schemas.openxmlformats.org/officeDocument/2006/relationships/slideLayout" Target="../slideLayouts/slideLayout12.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_rels/slide9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92.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9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93.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29.svg"/><Relationship Id="rId4" Type="http://schemas.openxmlformats.org/officeDocument/2006/relationships/image" Target="../media/image11.svg"/></Relationships>
</file>

<file path=ppt/slides/_rels/slide9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95.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96.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0.svg"/><Relationship Id="rId7" Type="http://schemas.openxmlformats.org/officeDocument/2006/relationships/image" Target="../media/image84.svg"/><Relationship Id="rId2" Type="http://schemas.openxmlformats.org/officeDocument/2006/relationships/notesSlide" Target="../notesSlides/notesSlide96.xml"/><Relationship Id="rId1" Type="http://schemas.openxmlformats.org/officeDocument/2006/relationships/slideLayout" Target="../slideLayouts/slideLayout12.xml"/><Relationship Id="rId6" Type="http://schemas.openxmlformats.org/officeDocument/2006/relationships/image" Target="../media/image73.svg"/><Relationship Id="rId5" Type="http://schemas.openxmlformats.org/officeDocument/2006/relationships/image" Target="../media/image61.svg"/><Relationship Id="rId4" Type="http://schemas.openxmlformats.org/officeDocument/2006/relationships/image" Target="../media/image54.svg"/></Relationships>
</file>

<file path=ppt/slides/_rels/slide9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98.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78.svg"/></Relationships>
</file>

<file path=ppt/slides/_rels/slide9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99.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54.svg"/></Relationships>
</file>

<file path=ppt/slides/_rels/slide10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00.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10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01.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11.svg"/></Relationships>
</file>

<file path=ppt/slides/_rels/slide10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02.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10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03.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10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04.xml"/><Relationship Id="rId1"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11.svg"/></Relationships>
</file>

<file path=ppt/slides/_rels/slide10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05.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106.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notesSlide" Target="../notesSlides/notesSlide106.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10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07.xml"/><Relationship Id="rId1" Type="http://schemas.openxmlformats.org/officeDocument/2006/relationships/slideLayout" Target="../slideLayouts/slideLayout12.xml"/><Relationship Id="rId4" Type="http://schemas.openxmlformats.org/officeDocument/2006/relationships/image" Target="../media/image1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981200" y="2276856"/>
            <a:ext cx="8290560" cy="2331720"/>
          </a:xfrm>
          <a:prstGeom prst="rect">
            <a:avLst/>
          </a:prstGeom>
          <a:noFill/>
          <a:ln/>
        </p:spPr>
        <p:txBody>
          <a:bodyPr wrap="square" lIns="0" tIns="0" rIns="0" bIns="0" rtlCol="0" anchor="t">
            <a:normAutofit/>
          </a:bodyPr>
          <a:lstStyle/>
          <a:p>
            <a:pPr defTabSz="1219170">
              <a:lnSpc>
                <a:spcPts val="5685"/>
              </a:lnSpc>
            </a:pPr>
            <a:r>
              <a:rPr lang="ru-RU" sz="4061" b="1" dirty="0">
                <a:solidFill>
                  <a:srgbClr val="FFFFFF"/>
                </a:solidFill>
                <a:latin typeface="Arial" pitchFamily="34" charset="0"/>
                <a:ea typeface="Arial" pitchFamily="34" charset="-122"/>
                <a:cs typeface="Arial" pitchFamily="34" charset="-120"/>
              </a:rPr>
              <a:t>Лекция 5: т</a:t>
            </a:r>
            <a:r>
              <a:rPr lang="en-US" sz="4061" b="1" dirty="0" err="1">
                <a:solidFill>
                  <a:srgbClr val="FFFFFF"/>
                </a:solidFill>
                <a:latin typeface="Arial" pitchFamily="34" charset="0"/>
                <a:ea typeface="Arial" pitchFamily="34" charset="-122"/>
                <a:cs typeface="Arial" pitchFamily="34" charset="-120"/>
              </a:rPr>
              <a:t>ретье</a:t>
            </a:r>
            <a:r>
              <a:rPr lang="en-US" sz="4061" b="1" dirty="0">
                <a:solidFill>
                  <a:srgbClr val="FFFFFF"/>
                </a:solidFill>
                <a:latin typeface="Arial" pitchFamily="34" charset="0"/>
                <a:ea typeface="Arial" pitchFamily="34" charset="-122"/>
                <a:cs typeface="Arial" pitchFamily="34" charset="-120"/>
              </a:rPr>
              <a:t> </a:t>
            </a:r>
            <a:r>
              <a:rPr lang="en-US" sz="4061" b="1" dirty="0" err="1">
                <a:solidFill>
                  <a:srgbClr val="FFFFFF"/>
                </a:solidFill>
                <a:latin typeface="Arial" pitchFamily="34" charset="0"/>
                <a:ea typeface="Arial" pitchFamily="34" charset="-122"/>
                <a:cs typeface="Arial" pitchFamily="34" charset="-120"/>
              </a:rPr>
              <a:t>поколение</a:t>
            </a:r>
            <a:r>
              <a:rPr lang="ru-RU" sz="4061" b="1" dirty="0">
                <a:solidFill>
                  <a:srgbClr val="FFFFFF"/>
                </a:solidFill>
                <a:latin typeface="Arial" pitchFamily="34" charset="0"/>
                <a:ea typeface="Arial" pitchFamily="34" charset="-122"/>
                <a:cs typeface="Arial" pitchFamily="34" charset="-120"/>
              </a:rPr>
              <a:t> -</a:t>
            </a:r>
            <a:endParaRPr lang="en-US" sz="4061" dirty="0">
              <a:solidFill>
                <a:prstClr val="black"/>
              </a:solidFill>
              <a:latin typeface="Calibri" panose="020F0502020204030204"/>
            </a:endParaRPr>
          </a:p>
          <a:p>
            <a:pPr defTabSz="1219170">
              <a:lnSpc>
                <a:spcPts val="5685"/>
              </a:lnSpc>
            </a:pPr>
            <a:r>
              <a:rPr lang="en-US" sz="4061" b="1" dirty="0">
                <a:solidFill>
                  <a:srgbClr val="FFFFFF"/>
                </a:solidFill>
                <a:latin typeface="Arial" pitchFamily="34" charset="0"/>
                <a:ea typeface="Arial" pitchFamily="34" charset="-122"/>
                <a:cs typeface="Arial" pitchFamily="34" charset="-120"/>
              </a:rPr>
              <a:t>Генеративные искусственные нейронные сети</a:t>
            </a:r>
            <a:endParaRPr lang="en-US" sz="4061" dirty="0">
              <a:solidFill>
                <a:prstClr val="black"/>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8846515" y="-7663815"/>
            <a:ext cx="7071360" cy="891540"/>
          </a:xfrm>
          <a:prstGeom prst="rect">
            <a:avLst/>
          </a:prstGeom>
          <a:noFill/>
          <a:ln/>
        </p:spPr>
        <p:txBody>
          <a:bodyPr wrap="square" lIns="0" tIns="0" rIns="0" bIns="0" rtlCol="0" anchor="t">
            <a:normAutofit/>
          </a:bodyPr>
          <a:lstStyle/>
          <a:p>
            <a:pPr algn="ctr" defTabSz="1219170">
              <a:lnSpc>
                <a:spcPts val="6599"/>
              </a:lnSpc>
            </a:pPr>
            <a:r>
              <a:rPr lang="en-US" sz="5076" b="1" dirty="0">
                <a:solidFill>
                  <a:srgbClr val="FFFFFF"/>
                </a:solidFill>
                <a:latin typeface="Arial" pitchFamily="34" charset="0"/>
                <a:ea typeface="Arial" pitchFamily="34" charset="-122"/>
                <a:cs typeface="Arial" pitchFamily="34" charset="-120"/>
              </a:rPr>
              <a:t>Второе поколение:...</a:t>
            </a:r>
            <a:endParaRPr lang="en-US" sz="5076" dirty="0">
              <a:solidFill>
                <a:prstClr val="black"/>
              </a:solidFill>
              <a:latin typeface="Calibri" panose="020F0502020204030204"/>
            </a:endParaRPr>
          </a:p>
        </p:txBody>
      </p:sp>
      <p:sp>
        <p:nvSpPr>
          <p:cNvPr id="3" name="Text 1"/>
          <p:cNvSpPr/>
          <p:nvPr/>
        </p:nvSpPr>
        <p:spPr>
          <a:xfrm>
            <a:off x="937565" y="5168190"/>
            <a:ext cx="6949440" cy="891540"/>
          </a:xfrm>
          <a:prstGeom prst="rect">
            <a:avLst/>
          </a:prstGeom>
          <a:noFill/>
          <a:ln/>
        </p:spPr>
        <p:txBody>
          <a:bodyPr wrap="square" lIns="0" tIns="0" rIns="0" bIns="0" rtlCol="0" anchor="t">
            <a:normAutofit/>
          </a:bodyPr>
          <a:lstStyle/>
          <a:p>
            <a:pPr algn="ctr" defTabSz="1219170">
              <a:lnSpc>
                <a:spcPts val="6599"/>
              </a:lnSpc>
            </a:pPr>
            <a:r>
              <a:rPr lang="en-US" sz="5076" b="1" dirty="0">
                <a:solidFill>
                  <a:srgbClr val="FFFFFF"/>
                </a:solidFill>
                <a:latin typeface="Arial" pitchFamily="34" charset="0"/>
                <a:ea typeface="Arial" pitchFamily="34" charset="-122"/>
                <a:cs typeface="Arial" pitchFamily="34" charset="-120"/>
              </a:rPr>
              <a:t>Третье поколение:...</a:t>
            </a:r>
            <a:endParaRPr lang="en-US" sz="5076" dirty="0">
              <a:solidFill>
                <a:prstClr val="black"/>
              </a:solidFill>
              <a:latin typeface="Calibri" panose="020F0502020204030204"/>
            </a:endParaRPr>
          </a:p>
        </p:txBody>
      </p:sp>
      <p:sp>
        <p:nvSpPr>
          <p:cNvPr id="4" name="Text 2"/>
          <p:cNvSpPr/>
          <p:nvPr/>
        </p:nvSpPr>
        <p:spPr>
          <a:xfrm>
            <a:off x="14653565" y="-7663815"/>
            <a:ext cx="9753600" cy="891540"/>
          </a:xfrm>
          <a:prstGeom prst="rect">
            <a:avLst/>
          </a:prstGeom>
          <a:noFill/>
          <a:ln/>
        </p:spPr>
        <p:txBody>
          <a:bodyPr wrap="square" lIns="0" tIns="0" rIns="0" bIns="0" rtlCol="0" anchor="t">
            <a:normAutofit/>
          </a:bodyPr>
          <a:lstStyle/>
          <a:p>
            <a:pPr algn="ctr" defTabSz="1219170">
              <a:lnSpc>
                <a:spcPts val="6599"/>
              </a:lnSpc>
            </a:pPr>
            <a:r>
              <a:rPr lang="en-US" sz="5076" b="1" dirty="0">
                <a:solidFill>
                  <a:srgbClr val="FFFFFF"/>
                </a:solidFill>
                <a:latin typeface="Arial" pitchFamily="34" charset="0"/>
                <a:ea typeface="Arial" pitchFamily="34" charset="-122"/>
                <a:cs typeface="Arial" pitchFamily="34" charset="-120"/>
              </a:rPr>
              <a:t>Другие разделы искусстве...</a:t>
            </a:r>
            <a:endParaRPr lang="en-US" sz="5076"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90585" y="-878509"/>
            <a:ext cx="152400" cy="152248"/>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93495" y="-878509"/>
            <a:ext cx="152400" cy="152248"/>
          </a:xfrm>
          <a:prstGeom prst="rect">
            <a:avLst/>
          </a:prstGeom>
        </p:spPr>
      </p:pic>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309495" y="-878509"/>
            <a:ext cx="152400" cy="152248"/>
          </a:xfrm>
          <a:prstGeom prst="rect">
            <a:avLst/>
          </a:prstGeom>
        </p:spPr>
      </p:pic>
      <p:pic>
        <p:nvPicPr>
          <p:cNvPr id="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84079" y="-825017"/>
            <a:ext cx="34153449" cy="45948"/>
          </a:xfrm>
          <a:prstGeom prst="rect">
            <a:avLst/>
          </a:prstGeom>
        </p:spPr>
      </p:pic>
      <p:pic>
        <p:nvPicPr>
          <p:cNvPr id="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54455" y="-805815"/>
            <a:ext cx="30480" cy="5486400"/>
          </a:xfrm>
          <a:prstGeom prst="rect">
            <a:avLst/>
          </a:prstGeom>
        </p:spPr>
      </p:pic>
      <p:pic>
        <p:nvPicPr>
          <p:cNvPr id="1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76349" y="3674516"/>
            <a:ext cx="377952" cy="533552"/>
          </a:xfrm>
          <a:prstGeom prst="rect">
            <a:avLst/>
          </a:prstGeom>
        </p:spPr>
      </p:pic>
      <p:pic>
        <p:nvPicPr>
          <p:cNvPr id="11"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876349" y="2730169"/>
            <a:ext cx="377952" cy="533552"/>
          </a:xfrm>
          <a:prstGeom prst="rect">
            <a:avLst/>
          </a:prstGeom>
        </p:spPr>
      </p:pic>
      <p:pic>
        <p:nvPicPr>
          <p:cNvPr id="12"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876349" y="1785137"/>
            <a:ext cx="377952" cy="533552"/>
          </a:xfrm>
          <a:prstGeom prst="rect">
            <a:avLst/>
          </a:prstGeom>
        </p:spPr>
      </p:pic>
      <p:pic>
        <p:nvPicPr>
          <p:cNvPr id="13"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876349" y="840105"/>
            <a:ext cx="377952" cy="533552"/>
          </a:xfrm>
          <a:prstGeom prst="rect">
            <a:avLst/>
          </a:prstGeom>
        </p:spPr>
      </p:pic>
      <p:sp>
        <p:nvSpPr>
          <p:cNvPr id="14" name="Text 3"/>
          <p:cNvSpPr/>
          <p:nvPr/>
        </p:nvSpPr>
        <p:spPr>
          <a:xfrm>
            <a:off x="2477415" y="3674516"/>
            <a:ext cx="43891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Генерация изображения</a:t>
            </a:r>
            <a:endParaRPr lang="en-US" sz="2820" dirty="0">
              <a:solidFill>
                <a:prstClr val="black"/>
              </a:solidFill>
              <a:latin typeface="Calibri" panose="020F0502020204030204"/>
            </a:endParaRPr>
          </a:p>
        </p:txBody>
      </p:sp>
      <p:sp>
        <p:nvSpPr>
          <p:cNvPr id="15" name="Text 4"/>
          <p:cNvSpPr/>
          <p:nvPr/>
        </p:nvSpPr>
        <p:spPr>
          <a:xfrm>
            <a:off x="2477415" y="2730169"/>
            <a:ext cx="30480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Генерация звука</a:t>
            </a:r>
            <a:endParaRPr lang="en-US" sz="2820" dirty="0">
              <a:solidFill>
                <a:prstClr val="black"/>
              </a:solidFill>
              <a:latin typeface="Calibri" panose="020F0502020204030204"/>
            </a:endParaRPr>
          </a:p>
        </p:txBody>
      </p:sp>
      <p:sp>
        <p:nvSpPr>
          <p:cNvPr id="16" name="Text 5"/>
          <p:cNvSpPr/>
          <p:nvPr/>
        </p:nvSpPr>
        <p:spPr>
          <a:xfrm>
            <a:off x="2477415" y="1785137"/>
            <a:ext cx="30480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Генерация видео</a:t>
            </a:r>
            <a:endParaRPr lang="en-US" sz="2820" dirty="0">
              <a:solidFill>
                <a:prstClr val="black"/>
              </a:solidFill>
              <a:latin typeface="Calibri" panose="020F0502020204030204"/>
            </a:endParaRPr>
          </a:p>
        </p:txBody>
      </p:sp>
      <p:sp>
        <p:nvSpPr>
          <p:cNvPr id="17" name="Text 6"/>
          <p:cNvSpPr/>
          <p:nvPr/>
        </p:nvSpPr>
        <p:spPr>
          <a:xfrm>
            <a:off x="2477415" y="840105"/>
            <a:ext cx="57302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Обработка естественного языка</a:t>
            </a:r>
            <a:endParaRPr lang="en-US" sz="2820" dirty="0">
              <a:solidFill>
                <a:prstClr val="black"/>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914400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Генерация изображения</a:t>
            </a:r>
            <a:endParaRPr lang="en-US" sz="5584" dirty="0">
              <a:solidFill>
                <a:prstClr val="black"/>
              </a:solidFill>
              <a:latin typeface="Calibri" panose="020F0502020204030204"/>
            </a:endParaRPr>
          </a:p>
        </p:txBody>
      </p:sp>
      <p:sp>
        <p:nvSpPr>
          <p:cNvPr id="3" name="Text 1"/>
          <p:cNvSpPr/>
          <p:nvPr/>
        </p:nvSpPr>
        <p:spPr>
          <a:xfrm>
            <a:off x="1188720" y="2386584"/>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Общая концепция: попытка создать видоизменённое исходное изображение из обучающего набора данных...</a:t>
            </a:r>
            <a:endParaRPr lang="en-US" sz="2820" dirty="0">
              <a:solidFill>
                <a:prstClr val="black"/>
              </a:solidFill>
              <a:latin typeface="Calibri" panose="020F0502020204030204"/>
            </a:endParaRPr>
          </a:p>
        </p:txBody>
      </p:sp>
      <p:sp>
        <p:nvSpPr>
          <p:cNvPr id="4" name="Text 2"/>
          <p:cNvSpPr/>
          <p:nvPr/>
        </p:nvSpPr>
        <p:spPr>
          <a:xfrm>
            <a:off x="1188720" y="3865169"/>
            <a:ext cx="65836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GAN (Generative Adversarial Network)</a:t>
            </a:r>
            <a:endParaRPr lang="en-US" sz="2820" dirty="0">
              <a:solidFill>
                <a:prstClr val="black"/>
              </a:solidFill>
              <a:latin typeface="Calibri" panose="020F0502020204030204"/>
            </a:endParaRPr>
          </a:p>
        </p:txBody>
      </p:sp>
      <p:sp>
        <p:nvSpPr>
          <p:cNvPr id="5" name="Text 3"/>
          <p:cNvSpPr/>
          <p:nvPr/>
        </p:nvSpPr>
        <p:spPr>
          <a:xfrm>
            <a:off x="1188720" y="4809516"/>
            <a:ext cx="53644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VAE (Variational Autoencoders)</a:t>
            </a:r>
            <a:endParaRPr lang="en-US" sz="2820" dirty="0">
              <a:solidFill>
                <a:prstClr val="black"/>
              </a:solidFill>
              <a:latin typeface="Calibri" panose="020F0502020204030204"/>
            </a:endParaRPr>
          </a:p>
        </p:txBody>
      </p:sp>
      <p:sp>
        <p:nvSpPr>
          <p:cNvPr id="6" name="Text 4"/>
          <p:cNvSpPr/>
          <p:nvPr/>
        </p:nvSpPr>
        <p:spPr>
          <a:xfrm>
            <a:off x="1188720" y="5754548"/>
            <a:ext cx="902208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Diffusion Models (Диффузионные модели - модели "Постепенного проявления")</a:t>
            </a:r>
            <a:endParaRPr lang="en-US" sz="2820" dirty="0">
              <a:solidFill>
                <a:prstClr val="black"/>
              </a:solidFill>
              <a:latin typeface="Calibri" panose="020F0502020204030204"/>
            </a:endParaRPr>
          </a:p>
        </p:txBody>
      </p:sp>
      <p:sp>
        <p:nvSpPr>
          <p:cNvPr id="7" name="Text 5"/>
          <p:cNvSpPr/>
          <p:nvPr/>
        </p:nvSpPr>
        <p:spPr>
          <a:xfrm>
            <a:off x="1188720" y="7233132"/>
            <a:ext cx="93878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Авторегрессионные модели (Autoregressive Models - "Пиксель за пикселем"):</a:t>
            </a:r>
            <a:endParaRPr lang="en-US" sz="2820" dirty="0">
              <a:solidFill>
                <a:prstClr val="black"/>
              </a:solidFill>
              <a:latin typeface="Calibri" panose="020F0502020204030204"/>
            </a:endParaRPr>
          </a:p>
        </p:txBody>
      </p:sp>
      <p:sp>
        <p:nvSpPr>
          <p:cNvPr id="8" name="Text 6"/>
          <p:cNvSpPr/>
          <p:nvPr/>
        </p:nvSpPr>
        <p:spPr>
          <a:xfrm>
            <a:off x="1188720" y="8711032"/>
            <a:ext cx="17068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Метрики:</a:t>
            </a:r>
            <a:endParaRPr lang="en-US" sz="2820" dirty="0">
              <a:solidFill>
                <a:prstClr val="black"/>
              </a:solidFill>
              <a:latin typeface="Calibri" panose="020F0502020204030204"/>
            </a:endParaRPr>
          </a:p>
        </p:txBody>
      </p:sp>
      <p:sp>
        <p:nvSpPr>
          <p:cNvPr id="9" name="Text 7"/>
          <p:cNvSpPr/>
          <p:nvPr/>
        </p:nvSpPr>
        <p:spPr>
          <a:xfrm>
            <a:off x="1188720" y="9656064"/>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Методы обучения: стандартным является обучение с учителем (supervised learning) на парах "изображение-...</a:t>
            </a:r>
            <a:endParaRPr lang="en-US" sz="2820" dirty="0">
              <a:solidFill>
                <a:prstClr val="black"/>
              </a:solidFill>
              <a:latin typeface="Calibri" panose="020F0502020204030204"/>
            </a:endParaRPr>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809516"/>
            <a:ext cx="114605" cy="533552"/>
          </a:xfrm>
          <a:prstGeom prst="rect">
            <a:avLst/>
          </a:prstGeom>
        </p:spPr>
      </p:pic>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5754548"/>
            <a:ext cx="114605" cy="533552"/>
          </a:xfrm>
          <a:prstGeom prst="rect">
            <a:avLst/>
          </a:prstGeom>
        </p:spPr>
      </p:pic>
      <p:pic>
        <p:nvPicPr>
          <p:cNvPr id="1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6" y="7233132"/>
            <a:ext cx="114605" cy="533552"/>
          </a:xfrm>
          <a:prstGeom prst="rect">
            <a:avLst/>
          </a:prstGeom>
        </p:spPr>
      </p:pic>
      <p:pic>
        <p:nvPicPr>
          <p:cNvPr id="1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7566" y="8711032"/>
            <a:ext cx="114605" cy="533552"/>
          </a:xfrm>
          <a:prstGeom prst="rect">
            <a:avLst/>
          </a:prstGeom>
        </p:spPr>
      </p:pic>
      <p:pic>
        <p:nvPicPr>
          <p:cNvPr id="1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7566" y="9656064"/>
            <a:ext cx="114605" cy="533552"/>
          </a:xfrm>
          <a:prstGeom prst="rect">
            <a:avLst/>
          </a:prstGeom>
        </p:spPr>
      </p:pic>
      <p:sp>
        <p:nvSpPr>
          <p:cNvPr id="17" name="Text 8"/>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8"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2595" y="518466"/>
            <a:ext cx="342595" cy="301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367943" y="1733016"/>
            <a:ext cx="9509760" cy="3429000"/>
          </a:xfrm>
          <a:prstGeom prst="rect">
            <a:avLst/>
          </a:prstGeom>
          <a:noFill/>
          <a:ln/>
        </p:spPr>
        <p:txBody>
          <a:bodyPr wrap="square" lIns="0" tIns="0" rIns="0" bIns="0" rtlCol="0" anchor="t">
            <a:normAutofit/>
          </a:bodyPr>
          <a:lstStyle/>
          <a:p>
            <a:pPr defTabSz="1219170">
              <a:lnSpc>
                <a:spcPts val="4185"/>
              </a:lnSpc>
            </a:pPr>
            <a:r>
              <a:rPr lang="en-US" sz="2989" b="1" dirty="0">
                <a:solidFill>
                  <a:srgbClr val="FFFFFF"/>
                </a:solidFill>
                <a:latin typeface="Arial" pitchFamily="34" charset="0"/>
                <a:ea typeface="Arial" pitchFamily="34" charset="-122"/>
                <a:cs typeface="Arial" pitchFamily="34" charset="-120"/>
              </a:rPr>
              <a:t>Общая концепция: попытка создать видоизменённое исходное изображение из обучающего набора данных, для чего либо производится зашумление исходных данных, либо создание подражающего изображения из первородного шума.</a:t>
            </a:r>
            <a:endParaRPr lang="en-US" sz="298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834579" y="1892809"/>
            <a:ext cx="3048000" cy="308610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GAN (Generative Adversarial Network)</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332586" y="1829029"/>
            <a:ext cx="5690007" cy="3200628"/>
          </a:xfrm>
          <a:prstGeom prst="rect">
            <a:avLst/>
          </a:prstGeom>
        </p:spPr>
      </p:pic>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1193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GAN (Generative Adversar...</a:t>
            </a:r>
            <a:endParaRPr lang="en-US" sz="5584" dirty="0">
              <a:solidFill>
                <a:prstClr val="black"/>
              </a:solidFill>
              <a:latin typeface="Calibri" panose="020F0502020204030204"/>
            </a:endParaRPr>
          </a:p>
        </p:txBody>
      </p:sp>
      <p:sp>
        <p:nvSpPr>
          <p:cNvPr id="3" name="Text 1"/>
          <p:cNvSpPr/>
          <p:nvPr/>
        </p:nvSpPr>
        <p:spPr>
          <a:xfrm>
            <a:off x="1188720" y="2386584"/>
            <a:ext cx="987552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Генератор (подделыватель) создает изображения из случайного шума, стремясь обмануть Дискриминатор...</a:t>
            </a:r>
            <a:endParaRPr lang="en-US" sz="2820" dirty="0">
              <a:solidFill>
                <a:prstClr val="black"/>
              </a:solidFill>
              <a:latin typeface="Calibri" panose="020F0502020204030204"/>
            </a:endParaRPr>
          </a:p>
        </p:txBody>
      </p:sp>
      <p:sp>
        <p:nvSpPr>
          <p:cNvPr id="4" name="Text 2"/>
          <p:cNvSpPr/>
          <p:nvPr/>
        </p:nvSpPr>
        <p:spPr>
          <a:xfrm>
            <a:off x="1188720" y="3865169"/>
            <a:ext cx="39014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Функция потерь GAN:</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4867" y="1783080"/>
            <a:ext cx="10241280" cy="3291840"/>
          </a:xfrm>
          <a:prstGeom prst="rect">
            <a:avLst/>
          </a:prstGeom>
          <a:noFill/>
          <a:ln/>
        </p:spPr>
        <p:txBody>
          <a:bodyPr wrap="square" lIns="0" tIns="0" rIns="0" bIns="0" rtlCol="0" anchor="t">
            <a:normAutofit/>
          </a:bodyPr>
          <a:lstStyle/>
          <a:p>
            <a:pPr defTabSz="1219170">
              <a:lnSpc>
                <a:spcPts val="4061"/>
              </a:lnSpc>
            </a:pPr>
            <a:r>
              <a:rPr lang="en-US" sz="2707" b="1" dirty="0">
                <a:solidFill>
                  <a:srgbClr val="FFFFFF"/>
                </a:solidFill>
                <a:latin typeface="Arial" pitchFamily="34" charset="0"/>
                <a:ea typeface="Arial" pitchFamily="34" charset="-122"/>
                <a:cs typeface="Arial" pitchFamily="34" charset="-120"/>
              </a:rPr>
              <a:t>Генератор (подделыватель) создает изображения из случайного шума, стремясь обмануть Дискриминатора. Дискриминатор (детектив) одновременно учится отличать реальные изображения из датасета от подделок. Это соревнование заставляет Генератор создавать все более реалистичные изображения.</a:t>
            </a:r>
            <a:endParaRPr lang="en-US" sz="2707"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1193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Генератор (подделывате...</a:t>
            </a:r>
            <a:endParaRPr lang="en-US" sz="5584" dirty="0">
              <a:solidFill>
                <a:prstClr val="black"/>
              </a:solidFill>
              <a:latin typeface="Calibri" panose="020F0502020204030204"/>
            </a:endParaRPr>
          </a:p>
        </p:txBody>
      </p:sp>
      <p:sp>
        <p:nvSpPr>
          <p:cNvPr id="3" name="Text 1"/>
          <p:cNvSpPr/>
          <p:nvPr/>
        </p:nvSpPr>
        <p:spPr>
          <a:xfrm>
            <a:off x="1188720" y="2386584"/>
            <a:ext cx="987552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Генератор получает на вход случайный шум и преобразует его в строку синтетических данных. Он о...</a:t>
            </a:r>
            <a:endParaRPr lang="en-US" sz="2820" dirty="0">
              <a:solidFill>
                <a:prstClr val="black"/>
              </a:solidFill>
              <a:latin typeface="Calibri" panose="020F0502020204030204"/>
            </a:endParaRPr>
          </a:p>
        </p:txBody>
      </p:sp>
      <p:sp>
        <p:nvSpPr>
          <p:cNvPr id="4" name="Text 2"/>
          <p:cNvSpPr/>
          <p:nvPr/>
        </p:nvSpPr>
        <p:spPr>
          <a:xfrm>
            <a:off x="1188720" y="3865169"/>
            <a:ext cx="19507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Пайплайн:</a:t>
            </a:r>
            <a:endParaRPr lang="en-US" sz="2820" dirty="0">
              <a:solidFill>
                <a:prstClr val="black"/>
              </a:solidFill>
              <a:latin typeface="Calibri" panose="020F0502020204030204"/>
            </a:endParaRPr>
          </a:p>
        </p:txBody>
      </p:sp>
      <p:sp>
        <p:nvSpPr>
          <p:cNvPr id="5" name="Text 3"/>
          <p:cNvSpPr/>
          <p:nvPr/>
        </p:nvSpPr>
        <p:spPr>
          <a:xfrm>
            <a:off x="1188720" y="4809516"/>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Хотя GAN способны генерировать очень четкие изображения, они известны своей нестабильностью о...</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809516"/>
            <a:ext cx="114605" cy="533552"/>
          </a:xfrm>
          <a:prstGeom prst="rect">
            <a:avLst/>
          </a:prstGeom>
        </p:spPr>
      </p:pic>
      <p:sp>
        <p:nvSpPr>
          <p:cNvPr id="9" name="Text 4"/>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59511" y="1733016"/>
            <a:ext cx="10363200" cy="3429000"/>
          </a:xfrm>
          <a:prstGeom prst="rect">
            <a:avLst/>
          </a:prstGeom>
          <a:noFill/>
          <a:ln/>
        </p:spPr>
        <p:txBody>
          <a:bodyPr wrap="square" lIns="0" tIns="0" rIns="0" bIns="0" rtlCol="0" anchor="t">
            <a:normAutofit/>
          </a:bodyPr>
          <a:lstStyle/>
          <a:p>
            <a:pPr defTabSz="1219170">
              <a:lnSpc>
                <a:spcPts val="4185"/>
              </a:lnSpc>
            </a:pPr>
            <a:r>
              <a:rPr lang="en-US" sz="2989" b="1" dirty="0">
                <a:solidFill>
                  <a:srgbClr val="FFFFFF"/>
                </a:solidFill>
                <a:latin typeface="Arial" pitchFamily="34" charset="0"/>
                <a:ea typeface="Arial" pitchFamily="34" charset="-122"/>
                <a:cs typeface="Arial" pitchFamily="34" charset="-120"/>
              </a:rPr>
              <a:t>Генератор получает на вход случайный шум и преобразует его в строку синтетических данных. Он обучается так, чтобы максимизировать ошибку дискриминатора (т.е. обманывать его). Дискриминатор обучается правильно отличать реальные строки от сгенерированных.</a:t>
            </a:r>
            <a:endParaRPr lang="en-US" sz="298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40233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Пайплайн:</a:t>
            </a:r>
            <a:endParaRPr lang="en-US" sz="5584" dirty="0">
              <a:solidFill>
                <a:prstClr val="black"/>
              </a:solidFill>
              <a:latin typeface="Calibri" panose="020F0502020204030204"/>
            </a:endParaRPr>
          </a:p>
        </p:txBody>
      </p:sp>
      <p:sp>
        <p:nvSpPr>
          <p:cNvPr id="3" name="Text 1"/>
          <p:cNvSpPr/>
          <p:nvPr/>
        </p:nvSpPr>
        <p:spPr>
          <a:xfrm>
            <a:off x="1539849" y="2386584"/>
            <a:ext cx="950976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Обучение Дискриминатора: На реальных и сгенерированных (Генератором) мини-батчах вычисляется вероятность правильной классификации.</a:t>
            </a:r>
            <a:endParaRPr lang="en-US" sz="2256" dirty="0">
              <a:solidFill>
                <a:prstClr val="black"/>
              </a:solidFill>
              <a:latin typeface="Calibri" panose="020F0502020204030204"/>
            </a:endParaRPr>
          </a:p>
        </p:txBody>
      </p:sp>
      <p:pic>
        <p:nvPicPr>
          <p:cNvPr id="4" name="Image 0" descr="file:///C:/Users/Hvv13/AppData/Local/Programs/Xmind/resources/app.asar/static/snowbird/resource/markers/priorityMarkers/priority-1.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6775" y="2462709"/>
            <a:ext cx="304800" cy="304495"/>
          </a:xfrm>
          <a:prstGeom prst="rect">
            <a:avLst/>
          </a:prstGeom>
        </p:spPr>
      </p:pic>
      <p:sp>
        <p:nvSpPr>
          <p:cNvPr id="5" name="Text 2"/>
          <p:cNvSpPr/>
          <p:nvPr/>
        </p:nvSpPr>
        <p:spPr>
          <a:xfrm>
            <a:off x="1539849" y="4169664"/>
            <a:ext cx="963168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Обучение Генератора: Генератор создает новый батч и пытается "обмануть" обученного Дискриминатора.</a:t>
            </a:r>
            <a:endParaRPr lang="en-US" sz="2256" dirty="0">
              <a:solidFill>
                <a:prstClr val="black"/>
              </a:solidFill>
              <a:latin typeface="Calibri" panose="020F0502020204030204"/>
            </a:endParaRPr>
          </a:p>
        </p:txBody>
      </p:sp>
      <p:pic>
        <p:nvPicPr>
          <p:cNvPr id="6" name="Image 1" descr="file:///C:/Users/Hvv13/AppData/Local/Programs/Xmind/resources/app.asar/static/snowbird/resource/markers/priorityMarkers/priority-2.sv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6775" y="4245789"/>
            <a:ext cx="304800" cy="304495"/>
          </a:xfrm>
          <a:prstGeom prst="rect">
            <a:avLst/>
          </a:prstGeom>
        </p:spPr>
      </p:pic>
      <p:sp>
        <p:nvSpPr>
          <p:cNvPr id="7" name="Text 3"/>
          <p:cNvSpPr/>
          <p:nvPr/>
        </p:nvSpPr>
        <p:spPr>
          <a:xfrm>
            <a:off x="1166775" y="5495317"/>
            <a:ext cx="4998720" cy="48006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Шаги 1-2 повторяются итеративно.</a:t>
            </a:r>
            <a:endParaRPr lang="en-US" sz="2256"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2386585"/>
            <a:ext cx="91440" cy="457428"/>
          </a:xfrm>
          <a:prstGeom prst="rect">
            <a:avLst/>
          </a:prstGeom>
        </p:spPr>
      </p:pic>
      <p:pic>
        <p:nvPicPr>
          <p:cNvPr id="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5" y="4169665"/>
            <a:ext cx="91440" cy="457428"/>
          </a:xfrm>
          <a:prstGeom prst="rect">
            <a:avLst/>
          </a:prstGeom>
        </p:spPr>
      </p:pic>
      <p:pic>
        <p:nvPicPr>
          <p:cNvPr id="1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5" y="5495317"/>
            <a:ext cx="91440" cy="457428"/>
          </a:xfrm>
          <a:prstGeom prst="rect">
            <a:avLst/>
          </a:prstGeom>
        </p:spPr>
      </p:pic>
      <p:sp>
        <p:nvSpPr>
          <p:cNvPr id="11" name="Text 4"/>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2595" y="518466"/>
            <a:ext cx="342595" cy="301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75360" y="2015567"/>
            <a:ext cx="10241280" cy="2880360"/>
          </a:xfrm>
          <a:prstGeom prst="rect">
            <a:avLst/>
          </a:prstGeom>
          <a:noFill/>
          <a:ln/>
        </p:spPr>
        <p:txBody>
          <a:bodyPr wrap="square" lIns="0" tIns="0" rIns="0" bIns="0" rtlCol="0" anchor="t">
            <a:normAutofit/>
          </a:bodyPr>
          <a:lstStyle/>
          <a:p>
            <a:pPr defTabSz="1219170">
              <a:lnSpc>
                <a:spcPts val="4185"/>
              </a:lnSpc>
            </a:pPr>
            <a:r>
              <a:rPr lang="en-US" sz="2989" b="1" dirty="0">
                <a:solidFill>
                  <a:srgbClr val="FFFFFF"/>
                </a:solidFill>
                <a:latin typeface="Arial" pitchFamily="34" charset="0"/>
                <a:ea typeface="Arial" pitchFamily="34" charset="-122"/>
                <a:cs typeface="Arial" pitchFamily="34" charset="-120"/>
              </a:rPr>
              <a:t>Хотя GAN способны генерировать очень четкие изображения, они известны своей нестабильностью обучения и явлением "коллапса режимов", когда Генератор начинает создавать очень похожие или одинаковые изображения</a:t>
            </a:r>
            <a:endParaRPr lang="en-US" sz="298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2481225"/>
            <a:ext cx="10316871" cy="949833"/>
          </a:xfrm>
          <a:prstGeom prst="rect">
            <a:avLst/>
          </a:prstGeom>
        </p:spPr>
      </p:pic>
      <p:sp>
        <p:nvSpPr>
          <p:cNvPr id="3" name="Text 0"/>
          <p:cNvSpPr/>
          <p:nvPr/>
        </p:nvSpPr>
        <p:spPr>
          <a:xfrm>
            <a:off x="937565" y="3704692"/>
            <a:ext cx="524256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Функция потерь GAN:</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445667"/>
            <a:ext cx="780288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Функция потерь GAN:</a:t>
            </a:r>
            <a:endParaRPr lang="en-US" sz="7106" dirty="0">
              <a:solidFill>
                <a:prstClr val="black"/>
              </a:solidFill>
              <a:latin typeface="Calibri" panose="020F0502020204030204"/>
            </a:endParaRPr>
          </a:p>
        </p:txBody>
      </p:sp>
      <p:sp>
        <p:nvSpPr>
          <p:cNvPr id="3" name="Text 1"/>
          <p:cNvSpPr/>
          <p:nvPr/>
        </p:nvSpPr>
        <p:spPr>
          <a:xfrm>
            <a:off x="937565" y="4520794"/>
            <a:ext cx="1341120" cy="891540"/>
          </a:xfrm>
          <a:prstGeom prst="rect">
            <a:avLst/>
          </a:prstGeom>
          <a:noFill/>
          <a:ln/>
        </p:spPr>
        <p:txBody>
          <a:bodyPr wrap="square" lIns="0" tIns="0" rIns="0" bIns="0" rtlCol="0" anchor="t">
            <a:normAutofit/>
          </a:bodyPr>
          <a:lstStyle/>
          <a:p>
            <a:pPr defTabSz="1219170">
              <a:lnSpc>
                <a:spcPts val="6599"/>
              </a:lnSpc>
            </a:pPr>
            <a:r>
              <a:rPr lang="en-US" sz="5076" dirty="0">
                <a:solidFill>
                  <a:srgbClr val="FFFFFF"/>
                </a:solidFill>
                <a:latin typeface="Arial" pitchFamily="34" charset="0"/>
                <a:ea typeface="Arial" pitchFamily="34" charset="-122"/>
                <a:cs typeface="Arial" pitchFamily="34" charset="-120"/>
              </a:rPr>
              <a:t>Где:</a:t>
            </a:r>
            <a:endParaRPr lang="en-US" sz="5076"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941979"/>
            <a:ext cx="7749235" cy="578815"/>
          </a:xfrm>
          <a:prstGeom prst="rect">
            <a:avLst/>
          </a:prstGeom>
        </p:spPr>
      </p:pic>
      <p:sp>
        <p:nvSpPr>
          <p:cNvPr id="5" name="Text 2"/>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521791"/>
            <a:ext cx="10316871" cy="2868016"/>
          </a:xfrm>
          <a:prstGeom prst="rect">
            <a:avLst/>
          </a:prstGeom>
        </p:spPr>
      </p:pic>
      <p:sp>
        <p:nvSpPr>
          <p:cNvPr id="3" name="Text 0"/>
          <p:cNvSpPr/>
          <p:nvPr/>
        </p:nvSpPr>
        <p:spPr>
          <a:xfrm>
            <a:off x="937565" y="4664125"/>
            <a:ext cx="109728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Где:</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99299" y="1892809"/>
            <a:ext cx="3779520" cy="308610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VAE (Variational Autoencoders)</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97306" y="1112369"/>
            <a:ext cx="5690007" cy="4633951"/>
          </a:xfrm>
          <a:prstGeom prst="rect">
            <a:avLst/>
          </a:prstGeom>
        </p:spPr>
      </p:pic>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891540"/>
          </a:xfrm>
          <a:prstGeom prst="rect">
            <a:avLst/>
          </a:prstGeom>
          <a:noFill/>
          <a:ln/>
        </p:spPr>
        <p:txBody>
          <a:bodyPr wrap="square" lIns="0" tIns="0" rIns="0" bIns="0" rtlCol="0" anchor="t">
            <a:normAutofit/>
          </a:bodyPr>
          <a:lstStyle/>
          <a:p>
            <a:pPr defTabSz="1219170">
              <a:lnSpc>
                <a:spcPts val="6599"/>
              </a:lnSpc>
            </a:pPr>
            <a:r>
              <a:rPr lang="en-US" sz="5076" b="1" dirty="0">
                <a:solidFill>
                  <a:srgbClr val="FFFFFF"/>
                </a:solidFill>
                <a:latin typeface="Arial" pitchFamily="34" charset="0"/>
                <a:ea typeface="Arial" pitchFamily="34" charset="-122"/>
                <a:cs typeface="Arial" pitchFamily="34" charset="-120"/>
              </a:rPr>
              <a:t>VAE (Variational Autoencoders)</a:t>
            </a:r>
            <a:endParaRPr lang="en-US" sz="5076" dirty="0">
              <a:solidFill>
                <a:prstClr val="black"/>
              </a:solidFill>
              <a:latin typeface="Calibri" panose="020F0502020204030204"/>
            </a:endParaRPr>
          </a:p>
        </p:txBody>
      </p:sp>
      <p:sp>
        <p:nvSpPr>
          <p:cNvPr id="3" name="Text 1"/>
          <p:cNvSpPr/>
          <p:nvPr/>
        </p:nvSpPr>
        <p:spPr>
          <a:xfrm>
            <a:off x="1638605" y="2297431"/>
            <a:ext cx="82905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VAE состоит из двух частей: Кодировщика и Декодировщика.</a:t>
            </a:r>
            <a:endParaRPr lang="en-US" sz="2820" dirty="0">
              <a:solidFill>
                <a:prstClr val="black"/>
              </a:solidFill>
              <a:latin typeface="Calibri" panose="020F0502020204030204"/>
            </a:endParaRPr>
          </a:p>
        </p:txBody>
      </p:sp>
      <p:pic>
        <p:nvPicPr>
          <p:cNvPr id="4" name="Image 0" descr="file:///C:/Users/Hvv13/AppData/Local/Programs/Xmind/resources/app.asar/static/snowbird/resource/markers/symbolMarkers/symbol-lightning.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88721" y="2373554"/>
            <a:ext cx="381609" cy="381305"/>
          </a:xfrm>
          <a:prstGeom prst="rect">
            <a:avLst/>
          </a:prstGeom>
        </p:spPr>
      </p:pic>
      <p:sp>
        <p:nvSpPr>
          <p:cNvPr id="5" name="Text 2"/>
          <p:cNvSpPr/>
          <p:nvPr/>
        </p:nvSpPr>
        <p:spPr>
          <a:xfrm>
            <a:off x="1188720" y="3776015"/>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Кодировщик сжимает входное изображение не в одну точку, а в целую область в "скрытом пространстве" (в ...</a:t>
            </a:r>
            <a:endParaRPr lang="en-US" sz="2820" dirty="0">
              <a:solidFill>
                <a:prstClr val="black"/>
              </a:solidFill>
              <a:latin typeface="Calibri" panose="020F0502020204030204"/>
            </a:endParaRPr>
          </a:p>
        </p:txBody>
      </p:sp>
      <p:sp>
        <p:nvSpPr>
          <p:cNvPr id="6" name="Text 3"/>
          <p:cNvSpPr/>
          <p:nvPr/>
        </p:nvSpPr>
        <p:spPr>
          <a:xfrm>
            <a:off x="1188720" y="5253913"/>
            <a:ext cx="95097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Функция потерь VAE - нижняя вариационная граница (Evidence lower bound - ELBO):</a:t>
            </a:r>
            <a:endParaRPr lang="en-US" sz="2820" dirty="0">
              <a:solidFill>
                <a:prstClr val="black"/>
              </a:solidFill>
              <a:latin typeface="Calibri" panose="020F0502020204030204"/>
            </a:endParaRPr>
          </a:p>
        </p:txBody>
      </p:sp>
      <p:sp>
        <p:nvSpPr>
          <p:cNvPr id="7" name="Text 4"/>
          <p:cNvSpPr/>
          <p:nvPr/>
        </p:nvSpPr>
        <p:spPr>
          <a:xfrm>
            <a:off x="1188720" y="6732499"/>
            <a:ext cx="18288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Алгоритм:</a:t>
            </a:r>
            <a:endParaRPr lang="en-US" sz="2820" dirty="0">
              <a:solidFill>
                <a:prstClr val="black"/>
              </a:solidFill>
              <a:latin typeface="Calibri" panose="020F0502020204030204"/>
            </a:endParaRPr>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2297431"/>
            <a:ext cx="114605" cy="533552"/>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3776015"/>
            <a:ext cx="114605" cy="533552"/>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5253913"/>
            <a:ext cx="114605" cy="533552"/>
          </a:xfrm>
          <a:prstGeom prst="rect">
            <a:avLst/>
          </a:prstGeom>
        </p:spPr>
      </p:pic>
      <p:pic>
        <p:nvPicPr>
          <p:cNvPr id="1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6" y="6732499"/>
            <a:ext cx="114605" cy="533552"/>
          </a:xfrm>
          <a:prstGeom prst="rect">
            <a:avLst/>
          </a:prstGeom>
        </p:spPr>
      </p:pic>
      <p:sp>
        <p:nvSpPr>
          <p:cNvPr id="12" name="Text 5"/>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2595" y="518466"/>
            <a:ext cx="342595" cy="301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885951"/>
            <a:ext cx="10363200" cy="3086100"/>
          </a:xfrm>
          <a:prstGeom prst="rect">
            <a:avLst/>
          </a:prstGeom>
          <a:noFill/>
          <a:ln/>
        </p:spPr>
        <p:txBody>
          <a:bodyPr wrap="square" lIns="0" tIns="0" rIns="0" bIns="0" rtlCol="0" anchor="t">
            <a:normAutofit/>
          </a:bodyPr>
          <a:lstStyle/>
          <a:p>
            <a:pPr defTabSz="1219170">
              <a:lnSpc>
                <a:spcPts val="3807"/>
              </a:lnSpc>
            </a:pPr>
            <a:r>
              <a:rPr lang="en-US" sz="2539" b="1" dirty="0">
                <a:solidFill>
                  <a:srgbClr val="FFFFFF"/>
                </a:solidFill>
                <a:latin typeface="Arial" pitchFamily="34" charset="0"/>
                <a:ea typeface="Arial" pitchFamily="34" charset="-122"/>
                <a:cs typeface="Arial" pitchFamily="34" charset="-120"/>
              </a:rPr>
              <a:t>Кодировщик сжимает входное изображение не в одну точку, а в целую область в "скрытом пространстве" (в виде набора вероятностей). Затем из этой области случайно выбирается точка, и Декодировщик восстанавливает из нее изображение. Это позволяет VAE не просто копировать, а генерировать новые, похожие изображения</a:t>
            </a:r>
            <a:endParaRPr lang="en-US" sz="253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62737"/>
            <a:ext cx="1036320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Кодировщик сжимает входное изображен...</a:t>
            </a:r>
            <a:endParaRPr lang="en-US" sz="7106" dirty="0">
              <a:solidFill>
                <a:prstClr val="black"/>
              </a:solidFill>
              <a:latin typeface="Calibri" panose="020F0502020204030204"/>
            </a:endParaRPr>
          </a:p>
        </p:txBody>
      </p:sp>
      <p:sp>
        <p:nvSpPr>
          <p:cNvPr id="3" name="Text 1"/>
          <p:cNvSpPr/>
          <p:nvPr/>
        </p:nvSpPr>
        <p:spPr>
          <a:xfrm>
            <a:off x="937565" y="3937864"/>
            <a:ext cx="9631680" cy="2057400"/>
          </a:xfrm>
          <a:prstGeom prst="rect">
            <a:avLst/>
          </a:prstGeom>
          <a:noFill/>
          <a:ln/>
        </p:spPr>
        <p:txBody>
          <a:bodyPr wrap="square" lIns="0" tIns="0" rIns="0" bIns="0" rtlCol="0" anchor="t">
            <a:normAutofit/>
          </a:bodyPr>
          <a:lstStyle/>
          <a:p>
            <a:pPr defTabSz="1219170">
              <a:lnSpc>
                <a:spcPts val="3045"/>
              </a:lnSpc>
            </a:pPr>
            <a:r>
              <a:rPr lang="en-US" sz="2031" dirty="0">
                <a:solidFill>
                  <a:srgbClr val="FFFFFF"/>
                </a:solidFill>
                <a:latin typeface="Arial" pitchFamily="34" charset="0"/>
                <a:ea typeface="Arial" pitchFamily="34" charset="-122"/>
                <a:cs typeface="Arial" pitchFamily="34" charset="-120"/>
              </a:rPr>
              <a:t>Кодировщик получает на вход реальное изображение и предсказывает параметры распределения скрытого слоя z. Из этого распределения извлекается конкретный вектор z, который подаётся на вход декодеру для восстановления исходного изображения. Новая картинка создаётся путём подачи случайного вектора z на вход декодера.</a:t>
            </a:r>
            <a:endParaRPr lang="en-US" sz="2031"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359049"/>
            <a:ext cx="10302240" cy="578815"/>
          </a:xfrm>
          <a:prstGeom prst="rect">
            <a:avLst/>
          </a:prstGeom>
        </p:spPr>
      </p:pic>
      <p:sp>
        <p:nvSpPr>
          <p:cNvPr id="5" name="Text 2"/>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2010080"/>
            <a:ext cx="10316871" cy="1496416"/>
          </a:xfrm>
          <a:prstGeom prst="rect">
            <a:avLst/>
          </a:prstGeom>
        </p:spPr>
      </p:pic>
      <p:sp>
        <p:nvSpPr>
          <p:cNvPr id="3" name="Text 0"/>
          <p:cNvSpPr/>
          <p:nvPr/>
        </p:nvSpPr>
        <p:spPr>
          <a:xfrm>
            <a:off x="937565" y="3780816"/>
            <a:ext cx="10241280" cy="109728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Функция потерь VAE - нижняя вариационная граница (Evidence lower bound - ELBO):</a:t>
            </a:r>
            <a:endParaRPr lang="en-US" sz="2820"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445667"/>
            <a:ext cx="999744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Функция потерь VAE - нижняя вариацио...</a:t>
            </a:r>
            <a:endParaRPr lang="en-US" sz="7106" dirty="0">
              <a:solidFill>
                <a:prstClr val="black"/>
              </a:solidFill>
              <a:latin typeface="Calibri" panose="020F0502020204030204"/>
            </a:endParaRPr>
          </a:p>
        </p:txBody>
      </p:sp>
      <p:sp>
        <p:nvSpPr>
          <p:cNvPr id="3" name="Text 1"/>
          <p:cNvSpPr/>
          <p:nvPr/>
        </p:nvSpPr>
        <p:spPr>
          <a:xfrm>
            <a:off x="937565" y="4520794"/>
            <a:ext cx="1341120" cy="891540"/>
          </a:xfrm>
          <a:prstGeom prst="rect">
            <a:avLst/>
          </a:prstGeom>
          <a:noFill/>
          <a:ln/>
        </p:spPr>
        <p:txBody>
          <a:bodyPr wrap="square" lIns="0" tIns="0" rIns="0" bIns="0" rtlCol="0" anchor="t">
            <a:normAutofit/>
          </a:bodyPr>
          <a:lstStyle/>
          <a:p>
            <a:pPr defTabSz="1219170">
              <a:lnSpc>
                <a:spcPts val="6599"/>
              </a:lnSpc>
            </a:pPr>
            <a:r>
              <a:rPr lang="en-US" sz="5076" dirty="0">
                <a:solidFill>
                  <a:srgbClr val="FFFFFF"/>
                </a:solidFill>
                <a:latin typeface="Arial" pitchFamily="34" charset="0"/>
                <a:ea typeface="Arial" pitchFamily="34" charset="-122"/>
                <a:cs typeface="Arial" pitchFamily="34" charset="-120"/>
              </a:rPr>
              <a:t>Где:</a:t>
            </a:r>
            <a:endParaRPr lang="en-US" sz="5076"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3941979"/>
            <a:ext cx="9921849" cy="578815"/>
          </a:xfrm>
          <a:prstGeom prst="rect">
            <a:avLst/>
          </a:prstGeom>
        </p:spPr>
      </p:pic>
      <p:sp>
        <p:nvSpPr>
          <p:cNvPr id="5" name="Text 2"/>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391489"/>
            <a:ext cx="10316871" cy="3128620"/>
          </a:xfrm>
          <a:prstGeom prst="rect">
            <a:avLst/>
          </a:prstGeom>
        </p:spPr>
      </p:pic>
      <p:sp>
        <p:nvSpPr>
          <p:cNvPr id="3" name="Text 0"/>
          <p:cNvSpPr/>
          <p:nvPr/>
        </p:nvSpPr>
        <p:spPr>
          <a:xfrm>
            <a:off x="937565" y="4794428"/>
            <a:ext cx="109728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Где:</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5849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Где:</a:t>
            </a:r>
            <a:endParaRPr lang="en-US" sz="5584" dirty="0">
              <a:solidFill>
                <a:prstClr val="black"/>
              </a:solidFill>
              <a:latin typeface="Calibri" panose="020F0502020204030204"/>
            </a:endParaRPr>
          </a:p>
        </p:txBody>
      </p:sp>
      <p:sp>
        <p:nvSpPr>
          <p:cNvPr id="3" name="Text 1"/>
          <p:cNvSpPr/>
          <p:nvPr/>
        </p:nvSpPr>
        <p:spPr>
          <a:xfrm>
            <a:off x="1188720" y="2386584"/>
            <a:ext cx="914400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Дивергенция Кульбака-Лейблера (KL-дивергенция, относительная энтропия):</a:t>
            </a:r>
            <a:endParaRPr lang="en-US" sz="2820" dirty="0">
              <a:solidFill>
                <a:prstClr val="black"/>
              </a:solidFill>
              <a:latin typeface="Calibri" panose="020F0502020204030204"/>
            </a:endParaRPr>
          </a:p>
        </p:txBody>
      </p:sp>
      <p:sp>
        <p:nvSpPr>
          <p:cNvPr id="4" name="Text 2"/>
          <p:cNvSpPr/>
          <p:nvPr/>
        </p:nvSpPr>
        <p:spPr>
          <a:xfrm>
            <a:off x="1188720" y="3865169"/>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Латентное пространство VAE -  вариационный байесовский вывод (variational Bayesian inference), поз...</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722730"/>
            <a:ext cx="10316871" cy="2071116"/>
          </a:xfrm>
          <a:prstGeom prst="rect">
            <a:avLst/>
          </a:prstGeom>
        </p:spPr>
      </p:pic>
      <p:sp>
        <p:nvSpPr>
          <p:cNvPr id="3" name="Text 0"/>
          <p:cNvSpPr/>
          <p:nvPr/>
        </p:nvSpPr>
        <p:spPr>
          <a:xfrm>
            <a:off x="937565" y="4068165"/>
            <a:ext cx="9753600" cy="109728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Дивергенция Кульбака-Лейблера (KL-дивергенция, относительная энтропия):</a:t>
            </a:r>
            <a:endParaRPr lang="en-US" sz="2820"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85369"/>
            <a:ext cx="1024128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Дивергенция Кульбака-Лейблера...</a:t>
            </a:r>
            <a:endParaRPr lang="en-US" sz="7106" dirty="0">
              <a:solidFill>
                <a:prstClr val="black"/>
              </a:solidFill>
              <a:latin typeface="Calibri" panose="020F0502020204030204"/>
            </a:endParaRPr>
          </a:p>
        </p:txBody>
      </p:sp>
      <p:sp>
        <p:nvSpPr>
          <p:cNvPr id="3" name="Text 1"/>
          <p:cNvSpPr/>
          <p:nvPr/>
        </p:nvSpPr>
        <p:spPr>
          <a:xfrm>
            <a:off x="937565" y="3961181"/>
            <a:ext cx="10241280" cy="2057400"/>
          </a:xfrm>
          <a:prstGeom prst="rect">
            <a:avLst/>
          </a:prstGeom>
          <a:noFill/>
          <a:ln/>
        </p:spPr>
        <p:txBody>
          <a:bodyPr wrap="square" lIns="0" tIns="0" rIns="0" bIns="0" rtlCol="0" anchor="t">
            <a:normAutofit/>
          </a:bodyPr>
          <a:lstStyle/>
          <a:p>
            <a:pPr defTabSz="1219170">
              <a:lnSpc>
                <a:spcPts val="3723"/>
              </a:lnSpc>
            </a:pPr>
            <a:r>
              <a:rPr lang="en-US" sz="2481" dirty="0">
                <a:solidFill>
                  <a:srgbClr val="FFFFFF"/>
                </a:solidFill>
                <a:latin typeface="Arial" pitchFamily="34" charset="0"/>
                <a:ea typeface="Arial" pitchFamily="34" charset="-122"/>
                <a:cs typeface="Arial" pitchFamily="34" charset="-120"/>
              </a:rPr>
              <a:t>несимметричная мера различия между двумя распределениями вероятностей P и Q. показывает, сколько «лишней» информации потребуется для кодирования данных, если распределение Q используется для аппроксимации истинного распределения.</a:t>
            </a:r>
            <a:endParaRPr lang="en-US" sz="2481"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381681"/>
            <a:ext cx="10187635" cy="578815"/>
          </a:xfrm>
          <a:prstGeom prst="rect">
            <a:avLst/>
          </a:prstGeom>
        </p:spPr>
      </p:pic>
      <p:sp>
        <p:nvSpPr>
          <p:cNvPr id="5" name="Text 2"/>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63143" y="1733016"/>
            <a:ext cx="10119360" cy="3429000"/>
          </a:xfrm>
          <a:prstGeom prst="rect">
            <a:avLst/>
          </a:prstGeom>
          <a:noFill/>
          <a:ln/>
        </p:spPr>
        <p:txBody>
          <a:bodyPr wrap="square" lIns="0" tIns="0" rIns="0" bIns="0" rtlCol="0" anchor="t">
            <a:normAutofit/>
          </a:bodyPr>
          <a:lstStyle/>
          <a:p>
            <a:pPr defTabSz="1219170">
              <a:lnSpc>
                <a:spcPts val="4185"/>
              </a:lnSpc>
            </a:pPr>
            <a:r>
              <a:rPr lang="en-US" sz="2989" b="1" dirty="0">
                <a:solidFill>
                  <a:srgbClr val="FFFFFF"/>
                </a:solidFill>
                <a:latin typeface="Arial" pitchFamily="34" charset="0"/>
                <a:ea typeface="Arial" pitchFamily="34" charset="-122"/>
                <a:cs typeface="Arial" pitchFamily="34" charset="-120"/>
              </a:rPr>
              <a:t>Латентное пространство VAE -  вариационный байесовский вывод (variational Bayesian inference), позволяет модели не хранить конкретный образ объекта, а формирует множество возможных состояний, в которых этот объект может существовать.</a:t>
            </a:r>
            <a:endParaRPr lang="en-US" sz="298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2412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Латентное пространство ...</a:t>
            </a:r>
            <a:endParaRPr lang="en-US" sz="5584" dirty="0">
              <a:solidFill>
                <a:prstClr val="black"/>
              </a:solidFill>
              <a:latin typeface="Calibri" panose="020F0502020204030204"/>
            </a:endParaRPr>
          </a:p>
        </p:txBody>
      </p:sp>
      <p:sp>
        <p:nvSpPr>
          <p:cNvPr id="3" name="Text 1"/>
          <p:cNvSpPr/>
          <p:nvPr/>
        </p:nvSpPr>
        <p:spPr>
          <a:xfrm>
            <a:off x="1188720" y="2386584"/>
            <a:ext cx="975360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Каждому примеру данных соответствует не единственный код z, а распределение с параметрами:</a:t>
            </a:r>
            <a:endParaRPr lang="en-US" sz="2820" dirty="0">
              <a:solidFill>
                <a:prstClr val="black"/>
              </a:solidFill>
              <a:latin typeface="Calibri" panose="020F0502020204030204"/>
            </a:endParaRPr>
          </a:p>
        </p:txBody>
      </p:sp>
      <p:sp>
        <p:nvSpPr>
          <p:cNvPr id="4" name="Text 2"/>
          <p:cNvSpPr/>
          <p:nvPr/>
        </p:nvSpPr>
        <p:spPr>
          <a:xfrm>
            <a:off x="1188720" y="3865169"/>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Латентное пространство в вариационном автоэнкодере - не таблица кодов, а непрерывное вероятностное пол...</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715186"/>
            <a:ext cx="10316871" cy="2192503"/>
          </a:xfrm>
          <a:prstGeom prst="rect">
            <a:avLst/>
          </a:prstGeom>
        </p:spPr>
      </p:pic>
      <p:sp>
        <p:nvSpPr>
          <p:cNvPr id="3" name="Text 0"/>
          <p:cNvSpPr/>
          <p:nvPr/>
        </p:nvSpPr>
        <p:spPr>
          <a:xfrm>
            <a:off x="937565" y="4182695"/>
            <a:ext cx="10119360" cy="1028700"/>
          </a:xfrm>
          <a:prstGeom prst="rect">
            <a:avLst/>
          </a:prstGeom>
          <a:noFill/>
          <a:ln/>
        </p:spPr>
        <p:txBody>
          <a:bodyPr wrap="square" lIns="0" tIns="0" rIns="0" bIns="0" rtlCol="0" anchor="t">
            <a:normAutofit/>
          </a:bodyPr>
          <a:lstStyle/>
          <a:p>
            <a:pPr defTabSz="1219170">
              <a:lnSpc>
                <a:spcPts val="3553"/>
              </a:lnSpc>
            </a:pPr>
            <a:r>
              <a:rPr lang="en-US" sz="2369" b="1" dirty="0">
                <a:solidFill>
                  <a:srgbClr val="FFFFFF"/>
                </a:solidFill>
                <a:latin typeface="Arial" pitchFamily="34" charset="0"/>
                <a:ea typeface="Arial" pitchFamily="34" charset="-122"/>
                <a:cs typeface="Arial" pitchFamily="34" charset="-120"/>
              </a:rPr>
              <a:t>Каждому примеру данных соответствует не единственный код z, а распределение с параметрами:</a:t>
            </a:r>
            <a:endParaRPr lang="en-US" sz="2369"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66851"/>
            <a:ext cx="1011936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Каждому примеру данных соответств...</a:t>
            </a:r>
            <a:endParaRPr lang="en-US" sz="7106" dirty="0">
              <a:solidFill>
                <a:prstClr val="black"/>
              </a:solidFill>
              <a:latin typeface="Calibri" panose="020F0502020204030204"/>
            </a:endParaRPr>
          </a:p>
        </p:txBody>
      </p:sp>
      <p:sp>
        <p:nvSpPr>
          <p:cNvPr id="3" name="Text 1"/>
          <p:cNvSpPr/>
          <p:nvPr/>
        </p:nvSpPr>
        <p:spPr>
          <a:xfrm>
            <a:off x="937565" y="3942664"/>
            <a:ext cx="9144000" cy="2057400"/>
          </a:xfrm>
          <a:prstGeom prst="rect">
            <a:avLst/>
          </a:prstGeom>
          <a:noFill/>
          <a:ln/>
        </p:spPr>
        <p:txBody>
          <a:bodyPr wrap="square" lIns="0" tIns="0" rIns="0" bIns="0" rtlCol="0" anchor="t">
            <a:normAutofit/>
          </a:bodyPr>
          <a:lstStyle/>
          <a:p>
            <a:pPr defTabSz="1219170">
              <a:lnSpc>
                <a:spcPts val="5053"/>
              </a:lnSpc>
            </a:pPr>
            <a:r>
              <a:rPr lang="en-US" sz="3609" dirty="0">
                <a:solidFill>
                  <a:srgbClr val="FFFFFF"/>
                </a:solidFill>
                <a:latin typeface="Arial" pitchFamily="34" charset="0"/>
                <a:ea typeface="Arial" pitchFamily="34" charset="-122"/>
                <a:cs typeface="Arial" pitchFamily="34" charset="-120"/>
              </a:rPr>
              <a:t>Каждый элемент данных x кодируется в параметры (μ, σ), а затем из них сэмплируется латентный вектор z:</a:t>
            </a:r>
            <a:endParaRPr lang="en-US" sz="3609"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363163"/>
            <a:ext cx="10035235" cy="578815"/>
          </a:xfrm>
          <a:prstGeom prst="rect">
            <a:avLst/>
          </a:prstGeom>
        </p:spPr>
      </p:pic>
      <p:sp>
        <p:nvSpPr>
          <p:cNvPr id="5" name="Text 2"/>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796111"/>
            <a:ext cx="10316871" cy="1870863"/>
          </a:xfrm>
          <a:prstGeom prst="rect">
            <a:avLst/>
          </a:prstGeom>
        </p:spPr>
      </p:pic>
      <p:sp>
        <p:nvSpPr>
          <p:cNvPr id="3" name="Text 0"/>
          <p:cNvSpPr/>
          <p:nvPr/>
        </p:nvSpPr>
        <p:spPr>
          <a:xfrm>
            <a:off x="937565" y="3941293"/>
            <a:ext cx="10241280" cy="1165860"/>
          </a:xfrm>
          <a:prstGeom prst="rect">
            <a:avLst/>
          </a:prstGeom>
          <a:noFill/>
          <a:ln/>
        </p:spPr>
        <p:txBody>
          <a:bodyPr wrap="square" lIns="0" tIns="0" rIns="0" bIns="0" rtlCol="0" anchor="t">
            <a:normAutofit/>
          </a:bodyPr>
          <a:lstStyle/>
          <a:p>
            <a:pPr defTabSz="1219170">
              <a:lnSpc>
                <a:spcPts val="4145"/>
              </a:lnSpc>
            </a:pPr>
            <a:r>
              <a:rPr lang="en-US" sz="2764" b="1" dirty="0">
                <a:solidFill>
                  <a:srgbClr val="FFFFFF"/>
                </a:solidFill>
                <a:latin typeface="Arial" pitchFamily="34" charset="0"/>
                <a:ea typeface="Arial" pitchFamily="34" charset="-122"/>
                <a:cs typeface="Arial" pitchFamily="34" charset="-120"/>
              </a:rPr>
              <a:t>Каждый элемент данных x кодируется в параметры (μ, σ), а затем из них сэмплируется латентный вектор z:</a:t>
            </a:r>
            <a:endParaRPr lang="en-US" sz="2764"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027329"/>
            <a:ext cx="987552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Каждый элемент данных x кодирует...</a:t>
            </a:r>
            <a:endParaRPr lang="en-US" sz="7106" dirty="0">
              <a:solidFill>
                <a:prstClr val="black"/>
              </a:solidFill>
              <a:latin typeface="Calibri" panose="020F0502020204030204"/>
            </a:endParaRPr>
          </a:p>
        </p:txBody>
      </p:sp>
      <p:sp>
        <p:nvSpPr>
          <p:cNvPr id="3" name="Text 1"/>
          <p:cNvSpPr/>
          <p:nvPr/>
        </p:nvSpPr>
        <p:spPr>
          <a:xfrm>
            <a:off x="937565" y="4102456"/>
            <a:ext cx="10241280" cy="1783080"/>
          </a:xfrm>
          <a:prstGeom prst="rect">
            <a:avLst/>
          </a:prstGeom>
          <a:noFill/>
          <a:ln/>
        </p:spPr>
        <p:txBody>
          <a:bodyPr wrap="square" lIns="0" tIns="0" rIns="0" bIns="0" rtlCol="0" anchor="t">
            <a:normAutofit/>
          </a:bodyPr>
          <a:lstStyle/>
          <a:p>
            <a:pPr defTabSz="1219170">
              <a:lnSpc>
                <a:spcPts val="4264"/>
              </a:lnSpc>
            </a:pPr>
            <a:r>
              <a:rPr lang="en-US" sz="3045" dirty="0">
                <a:solidFill>
                  <a:srgbClr val="FFFFFF"/>
                </a:solidFill>
                <a:latin typeface="Arial" pitchFamily="34" charset="0"/>
                <a:ea typeface="Arial" pitchFamily="34" charset="-122"/>
                <a:cs typeface="Arial" pitchFamily="34" charset="-120"/>
              </a:rPr>
              <a:t>Данная формула описывает "репараметризационное приближение" - модель, позволившую обучать VAE с помощью классических методов оптимизации.</a:t>
            </a:r>
            <a:endParaRPr lang="en-US" sz="3045"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523641"/>
            <a:ext cx="10218115" cy="578815"/>
          </a:xfrm>
          <a:prstGeom prst="rect">
            <a:avLst/>
          </a:prstGeom>
        </p:spPr>
      </p:pic>
      <p:sp>
        <p:nvSpPr>
          <p:cNvPr id="5" name="Text 2"/>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48537" y="1628775"/>
            <a:ext cx="10363200" cy="3634740"/>
          </a:xfrm>
          <a:prstGeom prst="rect">
            <a:avLst/>
          </a:prstGeom>
          <a:noFill/>
          <a:ln/>
        </p:spPr>
        <p:txBody>
          <a:bodyPr wrap="square" lIns="0" tIns="0" rIns="0" bIns="0" rtlCol="0" anchor="t">
            <a:normAutofit/>
          </a:bodyPr>
          <a:lstStyle/>
          <a:p>
            <a:pPr defTabSz="1219170">
              <a:lnSpc>
                <a:spcPts val="3807"/>
              </a:lnSpc>
            </a:pPr>
            <a:r>
              <a:rPr lang="en-US" sz="2539" b="1" dirty="0">
                <a:solidFill>
                  <a:srgbClr val="FFFFFF"/>
                </a:solidFill>
                <a:latin typeface="Arial" pitchFamily="34" charset="0"/>
                <a:ea typeface="Arial" pitchFamily="34" charset="-122"/>
                <a:cs typeface="Arial" pitchFamily="34" charset="-120"/>
              </a:rPr>
              <a:t>Латентное пространство в вариационном автоэнкодере - не таблица кодов, а непрерывное вероятностное поле, в котором соседние области соответствуют схожим признакам. Если классический автоэнкодер создаёт набор изолированных кодов, то VAE выстраивает гладкое пространство, где движение по координатам означает переход между похожими состояниями.</a:t>
            </a:r>
            <a:endParaRPr lang="en-US" sz="253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390144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Алгоритм:</a:t>
            </a:r>
            <a:endParaRPr lang="en-US" sz="5584" dirty="0">
              <a:solidFill>
                <a:prstClr val="black"/>
              </a:solidFill>
              <a:latin typeface="Calibri" panose="020F0502020204030204"/>
            </a:endParaRPr>
          </a:p>
        </p:txBody>
      </p:sp>
      <p:sp>
        <p:nvSpPr>
          <p:cNvPr id="3" name="Text 1"/>
          <p:cNvSpPr/>
          <p:nvPr/>
        </p:nvSpPr>
        <p:spPr>
          <a:xfrm>
            <a:off x="1638605" y="2386584"/>
            <a:ext cx="10119360" cy="164592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Кодирование (E-step): Подаётся изображение на вход Кодировщику, формируются параметры распределения q_ϕ(𝐳|𝐱).</a:t>
            </a:r>
            <a:endParaRPr lang="en-US" sz="2820" dirty="0">
              <a:solidFill>
                <a:prstClr val="black"/>
              </a:solidFill>
              <a:latin typeface="Calibri" panose="020F0502020204030204"/>
            </a:endParaRPr>
          </a:p>
        </p:txBody>
      </p:sp>
      <p:pic>
        <p:nvPicPr>
          <p:cNvPr id="4" name="Image 0" descr="file:///C:/Users/Hvv13/AppData/Local/Programs/Xmind/resources/app.asar/static/snowbird/resource/markers/priorityMarkers/priority-1.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88721" y="2462709"/>
            <a:ext cx="381609" cy="381305"/>
          </a:xfrm>
          <a:prstGeom prst="rect">
            <a:avLst/>
          </a:prstGeom>
        </p:spPr>
      </p:pic>
      <p:sp>
        <p:nvSpPr>
          <p:cNvPr id="5" name="Text 2"/>
          <p:cNvSpPr/>
          <p:nvPr/>
        </p:nvSpPr>
        <p:spPr>
          <a:xfrm>
            <a:off x="1638605" y="4398036"/>
            <a:ext cx="93878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Сэмплирование: Случайно выбирается точка z из полученного на шаге 1 распределения.</a:t>
            </a:r>
            <a:endParaRPr lang="en-US" sz="2820" dirty="0">
              <a:solidFill>
                <a:prstClr val="black"/>
              </a:solidFill>
              <a:latin typeface="Calibri" panose="020F0502020204030204"/>
            </a:endParaRPr>
          </a:p>
        </p:txBody>
      </p:sp>
      <p:pic>
        <p:nvPicPr>
          <p:cNvPr id="6" name="Image 1" descr="file:///C:/Users/Hvv13/AppData/Local/Programs/Xmind/resources/app.asar/static/snowbird/resource/markers/priorityMarkers/priority-2.sv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88721" y="4474160"/>
            <a:ext cx="381609" cy="381305"/>
          </a:xfrm>
          <a:prstGeom prst="rect">
            <a:avLst/>
          </a:prstGeom>
        </p:spPr>
      </p:pic>
      <p:sp>
        <p:nvSpPr>
          <p:cNvPr id="7" name="Text 3"/>
          <p:cNvSpPr/>
          <p:nvPr/>
        </p:nvSpPr>
        <p:spPr>
          <a:xfrm>
            <a:off x="1638605" y="5876620"/>
            <a:ext cx="9265920" cy="164592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Декодирование (M-step): Подаётся z на вход Декодировщику и восстанавливается изображение, вычисляя log p_θ(𝐱|𝐳).</a:t>
            </a:r>
            <a:endParaRPr lang="en-US" sz="2820" dirty="0">
              <a:solidFill>
                <a:prstClr val="black"/>
              </a:solidFill>
              <a:latin typeface="Calibri" panose="020F0502020204030204"/>
            </a:endParaRPr>
          </a:p>
        </p:txBody>
      </p:sp>
      <p:pic>
        <p:nvPicPr>
          <p:cNvPr id="8" name="Image 2" descr="file:///C:/Users/Hvv13/AppData/Local/Programs/Xmind/resources/app.asar/static/snowbird/resource/markers/priorityMarkers/priority-3.sv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88721" y="5952745"/>
            <a:ext cx="381609" cy="381305"/>
          </a:xfrm>
          <a:prstGeom prst="rect">
            <a:avLst/>
          </a:prstGeom>
        </p:spPr>
      </p:pic>
      <p:sp>
        <p:nvSpPr>
          <p:cNvPr id="9" name="Text 4"/>
          <p:cNvSpPr/>
          <p:nvPr/>
        </p:nvSpPr>
        <p:spPr>
          <a:xfrm>
            <a:off x="1638605" y="7888072"/>
            <a:ext cx="865632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Оптимизация: Вычисляется общая потеря (реконструкция + KL) и обновляются веса сетей.</a:t>
            </a:r>
            <a:endParaRPr lang="en-US" sz="2820" dirty="0">
              <a:solidFill>
                <a:prstClr val="black"/>
              </a:solidFill>
              <a:latin typeface="Calibri" panose="020F0502020204030204"/>
            </a:endParaRPr>
          </a:p>
        </p:txBody>
      </p:sp>
      <p:pic>
        <p:nvPicPr>
          <p:cNvPr id="10" name="Image 3" descr="file:///C:/Users/Hvv13/AppData/Local/Programs/Xmind/resources/app.asar/static/snowbird/resource/markers/priorityMarkers/priority-4.sv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88721" y="7964196"/>
            <a:ext cx="381609" cy="381305"/>
          </a:xfrm>
          <a:prstGeom prst="rect">
            <a:avLst/>
          </a:prstGeom>
        </p:spPr>
      </p:pic>
      <p:pic>
        <p:nvPicPr>
          <p:cNvPr id="1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6" y="2386584"/>
            <a:ext cx="114605" cy="533552"/>
          </a:xfrm>
          <a:prstGeom prst="rect">
            <a:avLst/>
          </a:prstGeom>
        </p:spPr>
      </p:pic>
      <p:pic>
        <p:nvPicPr>
          <p:cNvPr id="1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7566" y="4398036"/>
            <a:ext cx="114605" cy="533552"/>
          </a:xfrm>
          <a:prstGeom prst="rect">
            <a:avLst/>
          </a:prstGeom>
        </p:spPr>
      </p:pic>
      <p:pic>
        <p:nvPicPr>
          <p:cNvPr id="1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7566" y="5876620"/>
            <a:ext cx="114605" cy="533552"/>
          </a:xfrm>
          <a:prstGeom prst="rect">
            <a:avLst/>
          </a:prstGeom>
        </p:spPr>
      </p:pic>
      <p:pic>
        <p:nvPicPr>
          <p:cNvPr id="14"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37566" y="7888072"/>
            <a:ext cx="114605" cy="533552"/>
          </a:xfrm>
          <a:prstGeom prst="rect">
            <a:avLst/>
          </a:prstGeom>
        </p:spPr>
      </p:pic>
      <p:sp>
        <p:nvSpPr>
          <p:cNvPr id="15" name="Text 5"/>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6"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42595" y="518466"/>
            <a:ext cx="342595" cy="301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72846" y="857251"/>
            <a:ext cx="8605113" cy="4286251"/>
          </a:xfrm>
          <a:prstGeom prst="rect">
            <a:avLst/>
          </a:prstGeom>
        </p:spPr>
      </p:pic>
      <p:sp>
        <p:nvSpPr>
          <p:cNvPr id="3" name="Text 0"/>
          <p:cNvSpPr/>
          <p:nvPr/>
        </p:nvSpPr>
        <p:spPr>
          <a:xfrm>
            <a:off x="1272845" y="5417820"/>
            <a:ext cx="9753600" cy="109728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Diffusion Models (Диффузионные модели - модели "Постепенного проявления")</a:t>
            </a:r>
            <a:endParaRPr lang="en-US" sz="2820"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Diffusion Models (Диффуз...</a:t>
            </a:r>
            <a:endParaRPr lang="en-US" sz="5584" dirty="0">
              <a:solidFill>
                <a:prstClr val="black"/>
              </a:solidFill>
              <a:latin typeface="Calibri" panose="020F0502020204030204"/>
            </a:endParaRPr>
          </a:p>
        </p:txBody>
      </p:sp>
      <p:sp>
        <p:nvSpPr>
          <p:cNvPr id="3" name="Text 1"/>
          <p:cNvSpPr/>
          <p:nvPr/>
        </p:nvSpPr>
        <p:spPr>
          <a:xfrm>
            <a:off x="1172871" y="2386584"/>
            <a:ext cx="1584960" cy="548640"/>
          </a:xfrm>
          <a:prstGeom prst="rect">
            <a:avLst/>
          </a:prstGeom>
          <a:noFill/>
          <a:ln/>
        </p:spPr>
        <p:txBody>
          <a:bodyPr wrap="square" lIns="0" tIns="0" rIns="0" bIns="0" rtlCol="0" anchor="t">
            <a:normAutofit/>
          </a:bodyPr>
          <a:lstStyle/>
          <a:p>
            <a:pPr defTabSz="1219170">
              <a:lnSpc>
                <a:spcPts val="3637"/>
              </a:lnSpc>
            </a:pPr>
            <a:r>
              <a:rPr lang="en-US" sz="2425" dirty="0">
                <a:solidFill>
                  <a:srgbClr val="FFFFFF"/>
                </a:solidFill>
                <a:latin typeface="Arial" pitchFamily="34" charset="0"/>
                <a:ea typeface="Arial" pitchFamily="34" charset="-122"/>
                <a:cs typeface="Arial" pitchFamily="34" charset="-120"/>
              </a:rPr>
              <a:t>Алгоритм:</a:t>
            </a:r>
            <a:endParaRPr lang="en-US" sz="2425" dirty="0">
              <a:solidFill>
                <a:prstClr val="black"/>
              </a:solidFill>
              <a:latin typeface="Calibri" panose="020F0502020204030204"/>
            </a:endParaRPr>
          </a:p>
        </p:txBody>
      </p:sp>
      <p:sp>
        <p:nvSpPr>
          <p:cNvPr id="4" name="Text 2"/>
          <p:cNvSpPr/>
          <p:nvPr/>
        </p:nvSpPr>
        <p:spPr>
          <a:xfrm>
            <a:off x="1172871" y="3289783"/>
            <a:ext cx="10119360" cy="1028700"/>
          </a:xfrm>
          <a:prstGeom prst="rect">
            <a:avLst/>
          </a:prstGeom>
          <a:noFill/>
          <a:ln/>
        </p:spPr>
        <p:txBody>
          <a:bodyPr wrap="square" lIns="0" tIns="0" rIns="0" bIns="0" rtlCol="0" anchor="t">
            <a:normAutofit/>
          </a:bodyPr>
          <a:lstStyle/>
          <a:p>
            <a:pPr defTabSz="1219170">
              <a:lnSpc>
                <a:spcPts val="3637"/>
              </a:lnSpc>
            </a:pPr>
            <a:r>
              <a:rPr lang="en-US" sz="2425" dirty="0">
                <a:solidFill>
                  <a:srgbClr val="FFFFFF"/>
                </a:solidFill>
                <a:latin typeface="Arial" pitchFamily="34" charset="0"/>
                <a:ea typeface="Arial" pitchFamily="34" charset="-122"/>
                <a:cs typeface="Arial" pitchFamily="34" charset="-120"/>
              </a:rPr>
              <a:t>Медленнее GAN, но генерируют изображения наилучшего качества среди альтернативных моделей, часто превосходя GAN.</a:t>
            </a:r>
            <a:endParaRPr lang="en-US" sz="2425"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8755" cy="491719"/>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3289783"/>
            <a:ext cx="98755" cy="491719"/>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390144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Алгоритм:</a:t>
            </a:r>
            <a:endParaRPr lang="en-US" sz="5584" dirty="0">
              <a:solidFill>
                <a:prstClr val="black"/>
              </a:solidFill>
              <a:latin typeface="Calibri" panose="020F0502020204030204"/>
            </a:endParaRPr>
          </a:p>
        </p:txBody>
      </p:sp>
      <p:sp>
        <p:nvSpPr>
          <p:cNvPr id="3" name="Text 1"/>
          <p:cNvSpPr/>
          <p:nvPr/>
        </p:nvSpPr>
        <p:spPr>
          <a:xfrm>
            <a:off x="1169213" y="2386584"/>
            <a:ext cx="9997440" cy="960120"/>
          </a:xfrm>
          <a:prstGeom prst="rect">
            <a:avLst/>
          </a:prstGeom>
          <a:noFill/>
          <a:ln/>
        </p:spPr>
        <p:txBody>
          <a:bodyPr wrap="square" lIns="0" tIns="0" rIns="0" bIns="0" rtlCol="0" anchor="t">
            <a:normAutofit/>
          </a:bodyPr>
          <a:lstStyle/>
          <a:p>
            <a:pPr defTabSz="1219170">
              <a:lnSpc>
                <a:spcPts val="3468"/>
              </a:lnSpc>
            </a:pPr>
            <a:r>
              <a:rPr lang="en-US" sz="2312" dirty="0">
                <a:solidFill>
                  <a:srgbClr val="FFFFFF"/>
                </a:solidFill>
                <a:latin typeface="Arial" pitchFamily="34" charset="0"/>
                <a:ea typeface="Arial" pitchFamily="34" charset="-122"/>
                <a:cs typeface="Arial" pitchFamily="34" charset="-120"/>
              </a:rPr>
              <a:t>Сначала из реального изображения x_0 делают "шумное" изображение x_T. Затем модель учится предсказывать добавленн...</a:t>
            </a:r>
            <a:endParaRPr lang="en-US" sz="2312" dirty="0">
              <a:solidFill>
                <a:prstClr val="black"/>
              </a:solidFill>
              <a:latin typeface="Calibri" panose="020F0502020204030204"/>
            </a:endParaRPr>
          </a:p>
        </p:txBody>
      </p:sp>
      <p:sp>
        <p:nvSpPr>
          <p:cNvPr id="4" name="Text 2"/>
          <p:cNvSpPr/>
          <p:nvPr/>
        </p:nvSpPr>
        <p:spPr>
          <a:xfrm>
            <a:off x="1169213" y="3735553"/>
            <a:ext cx="4632960" cy="480060"/>
          </a:xfrm>
          <a:prstGeom prst="rect">
            <a:avLst/>
          </a:prstGeom>
          <a:noFill/>
          <a:ln/>
        </p:spPr>
        <p:txBody>
          <a:bodyPr wrap="square" lIns="0" tIns="0" rIns="0" bIns="0" rtlCol="0" anchor="t">
            <a:normAutofit/>
          </a:bodyPr>
          <a:lstStyle/>
          <a:p>
            <a:pPr defTabSz="1219170">
              <a:lnSpc>
                <a:spcPts val="3468"/>
              </a:lnSpc>
            </a:pPr>
            <a:r>
              <a:rPr lang="en-US" sz="2312" dirty="0">
                <a:solidFill>
                  <a:srgbClr val="FFFFFF"/>
                </a:solidFill>
                <a:latin typeface="Arial" pitchFamily="34" charset="0"/>
                <a:ea typeface="Arial" pitchFamily="34" charset="-122"/>
                <a:cs typeface="Arial" pitchFamily="34" charset="-120"/>
              </a:rPr>
              <a:t>Прямой процесс (зашумление):</a:t>
            </a:r>
            <a:endParaRPr lang="en-US" sz="2312" dirty="0">
              <a:solidFill>
                <a:prstClr val="black"/>
              </a:solidFill>
              <a:latin typeface="Calibri" panose="020F0502020204030204"/>
            </a:endParaRPr>
          </a:p>
        </p:txBody>
      </p:sp>
      <p:sp>
        <p:nvSpPr>
          <p:cNvPr id="5" name="Text 3"/>
          <p:cNvSpPr/>
          <p:nvPr/>
        </p:nvSpPr>
        <p:spPr>
          <a:xfrm>
            <a:off x="1169213" y="4615434"/>
            <a:ext cx="5730240" cy="480060"/>
          </a:xfrm>
          <a:prstGeom prst="rect">
            <a:avLst/>
          </a:prstGeom>
          <a:noFill/>
          <a:ln/>
        </p:spPr>
        <p:txBody>
          <a:bodyPr wrap="square" lIns="0" tIns="0" rIns="0" bIns="0" rtlCol="0" anchor="t">
            <a:normAutofit/>
          </a:bodyPr>
          <a:lstStyle/>
          <a:p>
            <a:pPr defTabSz="1219170">
              <a:lnSpc>
                <a:spcPts val="3468"/>
              </a:lnSpc>
            </a:pPr>
            <a:r>
              <a:rPr lang="en-US" sz="2312" dirty="0">
                <a:solidFill>
                  <a:srgbClr val="FFFFFF"/>
                </a:solidFill>
                <a:latin typeface="Arial" pitchFamily="34" charset="0"/>
                <a:ea typeface="Arial" pitchFamily="34" charset="-122"/>
                <a:cs typeface="Arial" pitchFamily="34" charset="-120"/>
              </a:rPr>
              <a:t>Обратный процесс (шумоподавление):</a:t>
            </a:r>
            <a:endParaRPr lang="en-US" sz="2312" dirty="0">
              <a:solidFill>
                <a:prstClr val="black"/>
              </a:solidFill>
              <a:latin typeface="Calibri" panose="020F0502020204030204"/>
            </a:endParaRPr>
          </a:p>
        </p:txBody>
      </p:sp>
      <p:sp>
        <p:nvSpPr>
          <p:cNvPr id="6" name="Text 4"/>
          <p:cNvSpPr/>
          <p:nvPr/>
        </p:nvSpPr>
        <p:spPr>
          <a:xfrm>
            <a:off x="1169213" y="5495317"/>
            <a:ext cx="609600" cy="480060"/>
          </a:xfrm>
          <a:prstGeom prst="rect">
            <a:avLst/>
          </a:prstGeom>
          <a:noFill/>
          <a:ln/>
        </p:spPr>
        <p:txBody>
          <a:bodyPr wrap="square" lIns="0" tIns="0" rIns="0" bIns="0" rtlCol="0" anchor="t">
            <a:normAutofit/>
          </a:bodyPr>
          <a:lstStyle/>
          <a:p>
            <a:pPr defTabSz="1219170">
              <a:lnSpc>
                <a:spcPts val="3468"/>
              </a:lnSpc>
            </a:pPr>
            <a:r>
              <a:rPr lang="en-US" sz="2312" dirty="0">
                <a:solidFill>
                  <a:srgbClr val="FFFFFF"/>
                </a:solidFill>
                <a:latin typeface="Arial" pitchFamily="34" charset="0"/>
                <a:ea typeface="Arial" pitchFamily="34" charset="-122"/>
                <a:cs typeface="Arial" pitchFamily="34" charset="-120"/>
              </a:rPr>
              <a:t>где:</a:t>
            </a:r>
            <a:endParaRPr lang="en-US" sz="2312" dirty="0">
              <a:solidFill>
                <a:prstClr val="black"/>
              </a:solidFill>
              <a:latin typeface="Calibri" panose="020F0502020204030204"/>
            </a:endParaRPr>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5"/>
            <a:ext cx="93879" cy="468401"/>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735553"/>
            <a:ext cx="93879" cy="468401"/>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615434"/>
            <a:ext cx="93879" cy="468401"/>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5495317"/>
            <a:ext cx="93879" cy="468401"/>
          </a:xfrm>
          <a:prstGeom prst="rect">
            <a:avLst/>
          </a:prstGeom>
        </p:spPr>
      </p:pic>
      <p:sp>
        <p:nvSpPr>
          <p:cNvPr id="11" name="Text 5"/>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2595" y="518466"/>
            <a:ext cx="342595" cy="3017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29005" y="1851660"/>
            <a:ext cx="10241280" cy="3154680"/>
          </a:xfrm>
          <a:prstGeom prst="rect">
            <a:avLst/>
          </a:prstGeom>
          <a:noFill/>
          <a:ln/>
        </p:spPr>
        <p:txBody>
          <a:bodyPr wrap="square" lIns="0" tIns="0" rIns="0" bIns="0" rtlCol="0" anchor="t">
            <a:normAutofit/>
          </a:bodyPr>
          <a:lstStyle/>
          <a:p>
            <a:pPr defTabSz="1219170">
              <a:lnSpc>
                <a:spcPts val="3892"/>
              </a:lnSpc>
            </a:pPr>
            <a:r>
              <a:rPr lang="en-US" sz="2595" b="1" dirty="0">
                <a:solidFill>
                  <a:srgbClr val="FFFFFF"/>
                </a:solidFill>
                <a:latin typeface="Arial" pitchFamily="34" charset="0"/>
                <a:ea typeface="Arial" pitchFamily="34" charset="-122"/>
                <a:cs typeface="Arial" pitchFamily="34" charset="-120"/>
              </a:rPr>
              <a:t>Сначала из реального изображения x_0 делают "шумное" изображение x_T. Затем модель учится предсказывать добавленный на каждом шаге шум ε. Генерация новой картинки начинается со случайного шума, и модель итеративно "очищает" его (формирует схожее, но неидеальное), шаг за шагом убирая предсказанный шум.</a:t>
            </a:r>
            <a:endParaRPr lang="en-US" sz="2595"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932584"/>
            <a:ext cx="10316871" cy="2046427"/>
          </a:xfrm>
          <a:prstGeom prst="rect">
            <a:avLst/>
          </a:prstGeom>
        </p:spPr>
      </p:pic>
      <p:sp>
        <p:nvSpPr>
          <p:cNvPr id="3" name="Text 0"/>
          <p:cNvSpPr/>
          <p:nvPr/>
        </p:nvSpPr>
        <p:spPr>
          <a:xfrm>
            <a:off x="937565" y="4253332"/>
            <a:ext cx="755904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Прямой процесс (зашумление):</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241280" cy="960120"/>
          </a:xfrm>
          <a:prstGeom prst="rect">
            <a:avLst/>
          </a:prstGeom>
          <a:noFill/>
          <a:ln/>
        </p:spPr>
        <p:txBody>
          <a:bodyPr wrap="square" lIns="0" tIns="0" rIns="0" bIns="0" rtlCol="0" anchor="t">
            <a:normAutofit/>
          </a:bodyPr>
          <a:lstStyle/>
          <a:p>
            <a:pPr defTabSz="1219170">
              <a:lnSpc>
                <a:spcPts val="6790"/>
              </a:lnSpc>
            </a:pPr>
            <a:r>
              <a:rPr lang="en-US" sz="4851" b="1" dirty="0">
                <a:solidFill>
                  <a:srgbClr val="FFFFFF"/>
                </a:solidFill>
                <a:latin typeface="Arial" pitchFamily="34" charset="0"/>
                <a:ea typeface="Arial" pitchFamily="34" charset="-122"/>
                <a:cs typeface="Arial" pitchFamily="34" charset="-120"/>
              </a:rPr>
              <a:t>Прямой процесс (зашумление):</a:t>
            </a:r>
            <a:endParaRPr lang="en-US" sz="4851" dirty="0">
              <a:solidFill>
                <a:prstClr val="black"/>
              </a:solidFill>
              <a:latin typeface="Calibri" panose="020F0502020204030204"/>
            </a:endParaRPr>
          </a:p>
        </p:txBody>
      </p:sp>
      <p:sp>
        <p:nvSpPr>
          <p:cNvPr id="3" name="Text 1"/>
          <p:cNvSpPr/>
          <p:nvPr/>
        </p:nvSpPr>
        <p:spPr>
          <a:xfrm>
            <a:off x="1188720" y="2323491"/>
            <a:ext cx="7315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Где:</a:t>
            </a:r>
            <a:endParaRPr lang="en-US" sz="2820" dirty="0">
              <a:solidFill>
                <a:prstClr val="black"/>
              </a:solidFill>
              <a:latin typeface="Calibri" panose="020F0502020204030204"/>
            </a:endParaRPr>
          </a:p>
        </p:txBody>
      </p:sp>
      <p:sp>
        <p:nvSpPr>
          <p:cNvPr id="4" name="Text 2"/>
          <p:cNvSpPr/>
          <p:nvPr/>
        </p:nvSpPr>
        <p:spPr>
          <a:xfrm>
            <a:off x="1188720" y="3268523"/>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Модель учится постепенно добавлять случайный шум к изображению, пока оно не превратится в "полный" хаос.</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23491"/>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268523"/>
            <a:ext cx="114605" cy="533552"/>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501217"/>
            <a:ext cx="10316871" cy="2909849"/>
          </a:xfrm>
          <a:prstGeom prst="rect">
            <a:avLst/>
          </a:prstGeom>
        </p:spPr>
      </p:pic>
      <p:sp>
        <p:nvSpPr>
          <p:cNvPr id="3" name="Text 0"/>
          <p:cNvSpPr/>
          <p:nvPr/>
        </p:nvSpPr>
        <p:spPr>
          <a:xfrm>
            <a:off x="937565" y="4684700"/>
            <a:ext cx="109728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Где:</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2425676"/>
            <a:ext cx="10316871" cy="1059561"/>
          </a:xfrm>
          <a:prstGeom prst="rect">
            <a:avLst/>
          </a:prstGeom>
        </p:spPr>
      </p:pic>
      <p:sp>
        <p:nvSpPr>
          <p:cNvPr id="3" name="Text 0"/>
          <p:cNvSpPr/>
          <p:nvPr/>
        </p:nvSpPr>
        <p:spPr>
          <a:xfrm>
            <a:off x="937565" y="3760241"/>
            <a:ext cx="938784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Обратный процесс (шумоподавление):</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62737"/>
            <a:ext cx="938784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Обратный процесс (шумоподавление):</a:t>
            </a:r>
            <a:endParaRPr lang="en-US" sz="7106" dirty="0">
              <a:solidFill>
                <a:prstClr val="black"/>
              </a:solidFill>
              <a:latin typeface="Calibri" panose="020F0502020204030204"/>
            </a:endParaRPr>
          </a:p>
        </p:txBody>
      </p:sp>
      <p:sp>
        <p:nvSpPr>
          <p:cNvPr id="3" name="Text 1"/>
          <p:cNvSpPr/>
          <p:nvPr/>
        </p:nvSpPr>
        <p:spPr>
          <a:xfrm>
            <a:off x="937565" y="3937864"/>
            <a:ext cx="9631680" cy="2057400"/>
          </a:xfrm>
          <a:prstGeom prst="rect">
            <a:avLst/>
          </a:prstGeom>
          <a:noFill/>
          <a:ln/>
        </p:spPr>
        <p:txBody>
          <a:bodyPr wrap="square" lIns="0" tIns="0" rIns="0" bIns="0" rtlCol="0" anchor="t">
            <a:normAutofit/>
          </a:bodyPr>
          <a:lstStyle/>
          <a:p>
            <a:pPr defTabSz="1219170">
              <a:lnSpc>
                <a:spcPts val="3807"/>
              </a:lnSpc>
            </a:pPr>
            <a:r>
              <a:rPr lang="en-US" sz="2539" dirty="0">
                <a:solidFill>
                  <a:srgbClr val="FFFFFF"/>
                </a:solidFill>
                <a:latin typeface="Arial" pitchFamily="34" charset="0"/>
                <a:ea typeface="Arial" pitchFamily="34" charset="-122"/>
                <a:cs typeface="Arial" pitchFamily="34" charset="-120"/>
              </a:rPr>
              <a:t>Натренированная нейронная сеть затем учится делать обратное: шаг за шагом убирать шум из случайного "белого шума", постепенно "проявляя" новое, реалистичное изображение.</a:t>
            </a:r>
            <a:endParaRPr lang="en-US" sz="2539"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3359049"/>
            <a:ext cx="9586569" cy="578815"/>
          </a:xfrm>
          <a:prstGeom prst="rect">
            <a:avLst/>
          </a:prstGeom>
        </p:spPr>
      </p:pic>
      <p:sp>
        <p:nvSpPr>
          <p:cNvPr id="5" name="Text 2"/>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259130"/>
            <a:ext cx="10316871" cy="3392652"/>
          </a:xfrm>
          <a:prstGeom prst="rect">
            <a:avLst/>
          </a:prstGeom>
        </p:spPr>
      </p:pic>
      <p:sp>
        <p:nvSpPr>
          <p:cNvPr id="3" name="Text 0"/>
          <p:cNvSpPr/>
          <p:nvPr/>
        </p:nvSpPr>
        <p:spPr>
          <a:xfrm>
            <a:off x="937565" y="4926787"/>
            <a:ext cx="97536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где:</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0457" y="857251"/>
            <a:ext cx="6431280" cy="4286251"/>
          </a:xfrm>
          <a:prstGeom prst="rect">
            <a:avLst/>
          </a:prstGeom>
        </p:spPr>
      </p:pic>
      <p:sp>
        <p:nvSpPr>
          <p:cNvPr id="3" name="Text 0"/>
          <p:cNvSpPr/>
          <p:nvPr/>
        </p:nvSpPr>
        <p:spPr>
          <a:xfrm>
            <a:off x="1070457" y="5417820"/>
            <a:ext cx="10119360" cy="109728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Авторегрессионные модели (Autoregressive Models - "Пиксель за пикселем"):</a:t>
            </a:r>
            <a:endParaRPr lang="en-US" sz="2820"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62737"/>
            <a:ext cx="1024128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Авторегрессионные модели (Autoregres...</a:t>
            </a:r>
            <a:endParaRPr lang="en-US" sz="7106" dirty="0">
              <a:solidFill>
                <a:prstClr val="black"/>
              </a:solidFill>
              <a:latin typeface="Calibri" panose="020F0502020204030204"/>
            </a:endParaRPr>
          </a:p>
        </p:txBody>
      </p:sp>
      <p:sp>
        <p:nvSpPr>
          <p:cNvPr id="3" name="Text 1"/>
          <p:cNvSpPr/>
          <p:nvPr/>
        </p:nvSpPr>
        <p:spPr>
          <a:xfrm>
            <a:off x="937565" y="3937864"/>
            <a:ext cx="9875520" cy="2057400"/>
          </a:xfrm>
          <a:prstGeom prst="rect">
            <a:avLst/>
          </a:prstGeom>
          <a:noFill/>
          <a:ln/>
        </p:spPr>
        <p:txBody>
          <a:bodyPr wrap="square" lIns="0" tIns="0" rIns="0" bIns="0" rtlCol="0" anchor="t">
            <a:normAutofit/>
          </a:bodyPr>
          <a:lstStyle/>
          <a:p>
            <a:pPr defTabSz="1219170">
              <a:lnSpc>
                <a:spcPts val="3045"/>
              </a:lnSpc>
            </a:pPr>
            <a:r>
              <a:rPr lang="en-US" sz="2031" dirty="0">
                <a:solidFill>
                  <a:srgbClr val="FFFFFF"/>
                </a:solidFill>
                <a:latin typeface="Arial" pitchFamily="34" charset="0"/>
                <a:ea typeface="Arial" pitchFamily="34" charset="-122"/>
                <a:cs typeface="Arial" pitchFamily="34" charset="-120"/>
              </a:rPr>
              <a:t>Модели генерируют изображение последовательно, один пиксель за другим Каждый новый пиксель предсказывается на основе всех ранее сгенерированных, что позволяет модели идеально "запоминать" структуру изображения. Генерация одного изображения происходит очень медленно последовательно.</a:t>
            </a:r>
            <a:endParaRPr lang="en-US" sz="2031"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359049"/>
            <a:ext cx="10126675" cy="578815"/>
          </a:xfrm>
          <a:prstGeom prst="rect">
            <a:avLst/>
          </a:prstGeom>
        </p:spPr>
      </p:pic>
      <p:sp>
        <p:nvSpPr>
          <p:cNvPr id="5" name="Text 2"/>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1193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Модели генерируют изоб...</a:t>
            </a:r>
            <a:endParaRPr lang="en-US" sz="5584" dirty="0">
              <a:solidFill>
                <a:prstClr val="black"/>
              </a:solidFill>
              <a:latin typeface="Calibri" panose="020F0502020204030204"/>
            </a:endParaRPr>
          </a:p>
        </p:txBody>
      </p:sp>
      <p:sp>
        <p:nvSpPr>
          <p:cNvPr id="3" name="Text 1"/>
          <p:cNvSpPr/>
          <p:nvPr/>
        </p:nvSpPr>
        <p:spPr>
          <a:xfrm>
            <a:off x="1188720" y="2386584"/>
            <a:ext cx="987552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В основе метода лежит теорема Байеса, или правило цепочки вероятностей. Чтобы вычислить общую веро...</a:t>
            </a:r>
            <a:endParaRPr lang="en-US" sz="2820" dirty="0">
              <a:solidFill>
                <a:prstClr val="black"/>
              </a:solidFill>
              <a:latin typeface="Calibri" panose="020F0502020204030204"/>
            </a:endParaRPr>
          </a:p>
        </p:txBody>
      </p:sp>
      <p:sp>
        <p:nvSpPr>
          <p:cNvPr id="4" name="Text 2"/>
          <p:cNvSpPr/>
          <p:nvPr/>
        </p:nvSpPr>
        <p:spPr>
          <a:xfrm>
            <a:off x="1188720" y="3865169"/>
            <a:ext cx="15849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Модели:</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52195" y="1748791"/>
            <a:ext cx="10363200" cy="3360420"/>
          </a:xfrm>
          <a:prstGeom prst="rect">
            <a:avLst/>
          </a:prstGeom>
          <a:noFill/>
          <a:ln/>
        </p:spPr>
        <p:txBody>
          <a:bodyPr wrap="square" lIns="0" tIns="0" rIns="0" bIns="0" rtlCol="0" anchor="t">
            <a:normAutofit/>
          </a:bodyPr>
          <a:lstStyle/>
          <a:p>
            <a:pPr defTabSz="1219170">
              <a:lnSpc>
                <a:spcPts val="4145"/>
              </a:lnSpc>
            </a:pPr>
            <a:r>
              <a:rPr lang="en-US" sz="2764" b="1" dirty="0">
                <a:solidFill>
                  <a:srgbClr val="FFFFFF"/>
                </a:solidFill>
                <a:latin typeface="Arial" pitchFamily="34" charset="0"/>
                <a:ea typeface="Arial" pitchFamily="34" charset="-122"/>
                <a:cs typeface="Arial" pitchFamily="34" charset="-120"/>
              </a:rPr>
              <a:t>В основе метода лежит теорема Байеса, или правило цепочки вероятностей. Чтобы вычислить общую вероятность p(x) появления целого объекта x, она "раскладывается" на произведение условных вероятностей каждого элемента объекта - x_t, который зависит от всех предыдущих x_1, x_2, ..., x_{t-1}:</a:t>
            </a:r>
            <a:endParaRPr lang="en-US" sz="2764"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999744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В основе метода лежит т...</a:t>
            </a:r>
            <a:endParaRPr lang="en-US" sz="5584" dirty="0">
              <a:solidFill>
                <a:prstClr val="black"/>
              </a:solidFill>
              <a:latin typeface="Calibri" panose="020F0502020204030204"/>
            </a:endParaRPr>
          </a:p>
        </p:txBody>
      </p:sp>
      <p:sp>
        <p:nvSpPr>
          <p:cNvPr id="3" name="Text 1"/>
          <p:cNvSpPr/>
          <p:nvPr/>
        </p:nvSpPr>
        <p:spPr>
          <a:xfrm>
            <a:off x="1188720" y="2386584"/>
            <a:ext cx="78028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p(x) = ∏_{t=1}^{T} p(x_t | x_1, x_2, ..., x_{t-1})</a:t>
            </a:r>
            <a:endParaRPr lang="en-US" sz="2820" dirty="0">
              <a:solidFill>
                <a:prstClr val="black"/>
              </a:solidFill>
              <a:latin typeface="Calibri" panose="020F0502020204030204"/>
            </a:endParaRPr>
          </a:p>
        </p:txBody>
      </p:sp>
      <p:sp>
        <p:nvSpPr>
          <p:cNvPr id="4" name="Text 2"/>
          <p:cNvSpPr/>
          <p:nvPr/>
        </p:nvSpPr>
        <p:spPr>
          <a:xfrm>
            <a:off x="1188720" y="3331616"/>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Процесс обучения модели заключается в том, чтобы как можно лучше выучить условные вероятности.</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329184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Модели:</a:t>
            </a:r>
            <a:endParaRPr lang="en-US" sz="5584" dirty="0">
              <a:solidFill>
                <a:prstClr val="black"/>
              </a:solidFill>
              <a:latin typeface="Calibri" panose="020F0502020204030204"/>
            </a:endParaRPr>
          </a:p>
        </p:txBody>
      </p:sp>
      <p:sp>
        <p:nvSpPr>
          <p:cNvPr id="3" name="Text 1"/>
          <p:cNvSpPr/>
          <p:nvPr/>
        </p:nvSpPr>
        <p:spPr>
          <a:xfrm>
            <a:off x="1188720" y="2386584"/>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Пиксельные модели PixelCNN и PixelRNN - представляют изображение как длинную последовате...</a:t>
            </a:r>
            <a:endParaRPr lang="en-US" sz="2820" dirty="0">
              <a:solidFill>
                <a:prstClr val="black"/>
              </a:solidFill>
              <a:latin typeface="Calibri" panose="020F0502020204030204"/>
            </a:endParaRPr>
          </a:p>
        </p:txBody>
      </p:sp>
      <p:sp>
        <p:nvSpPr>
          <p:cNvPr id="4" name="Text 2"/>
          <p:cNvSpPr/>
          <p:nvPr/>
        </p:nvSpPr>
        <p:spPr>
          <a:xfrm>
            <a:off x="1188720" y="3865169"/>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Модели на основе токенов VQ-VAE, VQ-GAN, VAR: современные модели работают не с пикселями напря...</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722044"/>
            <a:ext cx="10363200" cy="3429000"/>
          </a:xfrm>
          <a:prstGeom prst="rect">
            <a:avLst/>
          </a:prstGeom>
          <a:noFill/>
          <a:ln/>
        </p:spPr>
        <p:txBody>
          <a:bodyPr wrap="square" lIns="0" tIns="0" rIns="0" bIns="0" rtlCol="0" anchor="t">
            <a:normAutofit/>
          </a:bodyPr>
          <a:lstStyle/>
          <a:p>
            <a:pPr defTabSz="1219170">
              <a:lnSpc>
                <a:spcPts val="5053"/>
              </a:lnSpc>
            </a:pPr>
            <a:r>
              <a:rPr lang="en-US" sz="3609" b="1" dirty="0">
                <a:solidFill>
                  <a:srgbClr val="FFFFFF"/>
                </a:solidFill>
                <a:latin typeface="Arial" pitchFamily="34" charset="0"/>
                <a:ea typeface="Arial" pitchFamily="34" charset="-122"/>
                <a:cs typeface="Arial" pitchFamily="34" charset="-120"/>
              </a:rPr>
              <a:t>Пиксельные модели PixelCNN и PixelRNN - представляют изображение как длинную последовательность пикселей, обычно выстроенных в порядке слева направо и сверху вниз.</a:t>
            </a:r>
            <a:endParaRPr lang="en-US" sz="360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70457" y="1733016"/>
            <a:ext cx="10119360" cy="3429000"/>
          </a:xfrm>
          <a:prstGeom prst="rect">
            <a:avLst/>
          </a:prstGeom>
          <a:noFill/>
          <a:ln/>
        </p:spPr>
        <p:txBody>
          <a:bodyPr wrap="square" lIns="0" tIns="0" rIns="0" bIns="0" rtlCol="0" anchor="t">
            <a:normAutofit/>
          </a:bodyPr>
          <a:lstStyle/>
          <a:p>
            <a:pPr defTabSz="1219170">
              <a:lnSpc>
                <a:spcPts val="4185"/>
              </a:lnSpc>
            </a:pPr>
            <a:r>
              <a:rPr lang="en-US" sz="2989" b="1" dirty="0">
                <a:solidFill>
                  <a:srgbClr val="FFFFFF"/>
                </a:solidFill>
                <a:latin typeface="Arial" pitchFamily="34" charset="0"/>
                <a:ea typeface="Arial" pitchFamily="34" charset="-122"/>
                <a:cs typeface="Arial" pitchFamily="34" charset="-120"/>
              </a:rPr>
              <a:t>Модели на основе токенов VQ-VAE, VQ-GAN, VAR: современные модели работают не с пикселями напрямую, а с "токенами", сначала изображение сжимается в компактное скрытое представление (latent space), а затем это представление генерируется авторегрессионно.</a:t>
            </a:r>
            <a:endParaRPr lang="en-US" sz="298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35356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Метрики:</a:t>
            </a:r>
            <a:endParaRPr lang="en-US" sz="5584" dirty="0">
              <a:solidFill>
                <a:prstClr val="black"/>
              </a:solidFill>
              <a:latin typeface="Calibri" panose="020F0502020204030204"/>
            </a:endParaRPr>
          </a:p>
        </p:txBody>
      </p:sp>
      <p:sp>
        <p:nvSpPr>
          <p:cNvPr id="3" name="Text 1"/>
          <p:cNvSpPr/>
          <p:nvPr/>
        </p:nvSpPr>
        <p:spPr>
          <a:xfrm>
            <a:off x="1188720" y="2386584"/>
            <a:ext cx="56083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FID (Fréchet Inception Distance)</a:t>
            </a:r>
            <a:endParaRPr lang="en-US" sz="2820" dirty="0">
              <a:solidFill>
                <a:prstClr val="black"/>
              </a:solidFill>
              <a:latin typeface="Calibri" panose="020F0502020204030204"/>
            </a:endParaRPr>
          </a:p>
        </p:txBody>
      </p:sp>
      <p:sp>
        <p:nvSpPr>
          <p:cNvPr id="4" name="Text 2"/>
          <p:cNvSpPr/>
          <p:nvPr/>
        </p:nvSpPr>
        <p:spPr>
          <a:xfrm>
            <a:off x="1188720" y="3331616"/>
            <a:ext cx="34137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IS (Inception Score)</a:t>
            </a:r>
            <a:endParaRPr lang="en-US" sz="2820" dirty="0">
              <a:solidFill>
                <a:prstClr val="black"/>
              </a:solidFill>
              <a:latin typeface="Calibri" panose="020F0502020204030204"/>
            </a:endParaRPr>
          </a:p>
        </p:txBody>
      </p:sp>
      <p:sp>
        <p:nvSpPr>
          <p:cNvPr id="5" name="Text 3"/>
          <p:cNvSpPr/>
          <p:nvPr/>
        </p:nvSpPr>
        <p:spPr>
          <a:xfrm>
            <a:off x="1188720" y="4276649"/>
            <a:ext cx="60960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PSNR (Peak Signal-to-Noise Ratio)</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276649"/>
            <a:ext cx="114605" cy="533552"/>
          </a:xfrm>
          <a:prstGeom prst="rect">
            <a:avLst/>
          </a:prstGeom>
        </p:spPr>
      </p:pic>
      <p:sp>
        <p:nvSpPr>
          <p:cNvPr id="9" name="Text 4"/>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2239137"/>
            <a:ext cx="10316871" cy="1434008"/>
          </a:xfrm>
          <a:prstGeom prst="rect">
            <a:avLst/>
          </a:prstGeom>
        </p:spPr>
      </p:pic>
      <p:sp>
        <p:nvSpPr>
          <p:cNvPr id="3" name="Text 0"/>
          <p:cNvSpPr/>
          <p:nvPr/>
        </p:nvSpPr>
        <p:spPr>
          <a:xfrm>
            <a:off x="937565" y="3946779"/>
            <a:ext cx="743712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FID (Fréchet Inception Distance)</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960120"/>
          </a:xfrm>
          <a:prstGeom prst="rect">
            <a:avLst/>
          </a:prstGeom>
          <a:noFill/>
          <a:ln/>
        </p:spPr>
        <p:txBody>
          <a:bodyPr wrap="square" lIns="0" tIns="0" rIns="0" bIns="0" rtlCol="0" anchor="t">
            <a:normAutofit/>
          </a:bodyPr>
          <a:lstStyle/>
          <a:p>
            <a:pPr defTabSz="1219170">
              <a:lnSpc>
                <a:spcPts val="6948"/>
              </a:lnSpc>
            </a:pPr>
            <a:r>
              <a:rPr lang="en-US" sz="4963" b="1" dirty="0">
                <a:solidFill>
                  <a:srgbClr val="FFFFFF"/>
                </a:solidFill>
                <a:latin typeface="Arial" pitchFamily="34" charset="0"/>
                <a:ea typeface="Arial" pitchFamily="34" charset="-122"/>
                <a:cs typeface="Arial" pitchFamily="34" charset="-120"/>
              </a:rPr>
              <a:t>FID (Fréchet Inception Distance)</a:t>
            </a:r>
            <a:endParaRPr lang="en-US" sz="4963" dirty="0">
              <a:solidFill>
                <a:prstClr val="black"/>
              </a:solidFill>
              <a:latin typeface="Calibri" panose="020F0502020204030204"/>
            </a:endParaRPr>
          </a:p>
        </p:txBody>
      </p:sp>
      <p:sp>
        <p:nvSpPr>
          <p:cNvPr id="3" name="Text 1"/>
          <p:cNvSpPr/>
          <p:nvPr/>
        </p:nvSpPr>
        <p:spPr>
          <a:xfrm>
            <a:off x="1188720" y="2344751"/>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Предполагаем, что признаки изображений, как реальных, так и сгенерированных, имеют многомерно...</a:t>
            </a:r>
            <a:endParaRPr lang="en-US" sz="2820" dirty="0">
              <a:solidFill>
                <a:prstClr val="black"/>
              </a:solidFill>
              <a:latin typeface="Calibri" panose="020F0502020204030204"/>
            </a:endParaRPr>
          </a:p>
        </p:txBody>
      </p:sp>
      <p:sp>
        <p:nvSpPr>
          <p:cNvPr id="4" name="Text 2"/>
          <p:cNvSpPr/>
          <p:nvPr/>
        </p:nvSpPr>
        <p:spPr>
          <a:xfrm>
            <a:off x="1188720" y="3822649"/>
            <a:ext cx="987552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Низкий FID означает, что сгенерированные изображения похожи на реальные как по визуальной ...</a:t>
            </a:r>
            <a:endParaRPr lang="en-US" sz="2820" dirty="0">
              <a:solidFill>
                <a:prstClr val="black"/>
              </a:solidFill>
              <a:latin typeface="Calibri" panose="020F0502020204030204"/>
            </a:endParaRPr>
          </a:p>
        </p:txBody>
      </p:sp>
      <p:sp>
        <p:nvSpPr>
          <p:cNvPr id="5" name="Text 3"/>
          <p:cNvSpPr/>
          <p:nvPr/>
        </p:nvSpPr>
        <p:spPr>
          <a:xfrm>
            <a:off x="1188720" y="5301235"/>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Высокий FID указывает на большое расхождение между сгенерированными и реальными изображениями, что ...</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44751"/>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22649"/>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5301235"/>
            <a:ext cx="114605" cy="533552"/>
          </a:xfrm>
          <a:prstGeom prst="rect">
            <a:avLst/>
          </a:prstGeom>
        </p:spPr>
      </p:pic>
      <p:sp>
        <p:nvSpPr>
          <p:cNvPr id="9" name="Text 4"/>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892123"/>
            <a:ext cx="10316871" cy="650824"/>
          </a:xfrm>
          <a:prstGeom prst="rect">
            <a:avLst/>
          </a:prstGeom>
        </p:spPr>
      </p:pic>
      <p:sp>
        <p:nvSpPr>
          <p:cNvPr id="3" name="Text 0"/>
          <p:cNvSpPr/>
          <p:nvPr/>
        </p:nvSpPr>
        <p:spPr>
          <a:xfrm>
            <a:off x="937565" y="2817267"/>
            <a:ext cx="10363200" cy="2194560"/>
          </a:xfrm>
          <a:prstGeom prst="rect">
            <a:avLst/>
          </a:prstGeom>
          <a:noFill/>
          <a:ln/>
        </p:spPr>
        <p:txBody>
          <a:bodyPr wrap="square" lIns="0" tIns="0" rIns="0" bIns="0" rtlCol="0" anchor="t">
            <a:normAutofit/>
          </a:bodyPr>
          <a:lstStyle/>
          <a:p>
            <a:pPr defTabSz="1219170">
              <a:lnSpc>
                <a:spcPts val="3976"/>
              </a:lnSpc>
            </a:pPr>
            <a:r>
              <a:rPr lang="en-US" sz="2651" b="1" dirty="0">
                <a:solidFill>
                  <a:srgbClr val="FFFFFF"/>
                </a:solidFill>
                <a:latin typeface="Arial" pitchFamily="34" charset="0"/>
                <a:ea typeface="Arial" pitchFamily="34" charset="-122"/>
                <a:cs typeface="Arial" pitchFamily="34" charset="-120"/>
              </a:rPr>
              <a:t>Предполагаем, что признаки изображений, как реальных, так и сгенерированных, имеют многомерное нормальное распределение. Для каждого набора изображений (реальных и сгенерированных) вычисляются:</a:t>
            </a:r>
            <a:endParaRPr lang="en-US" sz="2651"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52195" y="1722044"/>
            <a:ext cx="10363200" cy="3429000"/>
          </a:xfrm>
          <a:prstGeom prst="rect">
            <a:avLst/>
          </a:prstGeom>
          <a:noFill/>
          <a:ln/>
        </p:spPr>
        <p:txBody>
          <a:bodyPr wrap="square" lIns="0" tIns="0" rIns="0" bIns="0" rtlCol="0" anchor="t">
            <a:normAutofit/>
          </a:bodyPr>
          <a:lstStyle/>
          <a:p>
            <a:pPr defTabSz="1219170">
              <a:lnSpc>
                <a:spcPts val="5053"/>
              </a:lnSpc>
            </a:pPr>
            <a:r>
              <a:rPr lang="en-US" sz="3609" b="1" dirty="0">
                <a:solidFill>
                  <a:srgbClr val="FFFFFF"/>
                </a:solidFill>
                <a:latin typeface="Arial" pitchFamily="34" charset="0"/>
                <a:ea typeface="Arial" pitchFamily="34" charset="-122"/>
                <a:cs typeface="Arial" pitchFamily="34" charset="-120"/>
              </a:rPr>
              <a:t>Низкий FID означает, что сгенерированные изображения похожи на реальные как по визуальной оценке качества, так и по разнообразию. Чем меньше значение FID, тем лучше.</a:t>
            </a:r>
            <a:endParaRPr lang="en-US" sz="360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05840" y="1722044"/>
            <a:ext cx="10241280" cy="3429000"/>
          </a:xfrm>
          <a:prstGeom prst="rect">
            <a:avLst/>
          </a:prstGeom>
          <a:noFill/>
          <a:ln/>
        </p:spPr>
        <p:txBody>
          <a:bodyPr wrap="square" lIns="0" tIns="0" rIns="0" bIns="0" rtlCol="0" anchor="t">
            <a:normAutofit/>
          </a:bodyPr>
          <a:lstStyle/>
          <a:p>
            <a:pPr defTabSz="1219170">
              <a:lnSpc>
                <a:spcPts val="5053"/>
              </a:lnSpc>
            </a:pPr>
            <a:r>
              <a:rPr lang="en-US" sz="3609" b="1" dirty="0">
                <a:solidFill>
                  <a:srgbClr val="FFFFFF"/>
                </a:solidFill>
                <a:latin typeface="Arial" pitchFamily="34" charset="0"/>
                <a:ea typeface="Arial" pitchFamily="34" charset="-122"/>
                <a:cs typeface="Arial" pitchFamily="34" charset="-120"/>
              </a:rPr>
              <a:t>Высокий FID указывает на большое расхождение между сгенерированными и реальными изображениями, что может говорить о низком качестве генерации или недостаточном разнообразии.</a:t>
            </a:r>
            <a:endParaRPr lang="en-US" sz="360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2125981"/>
            <a:ext cx="10316871" cy="1658951"/>
          </a:xfrm>
          <a:prstGeom prst="rect">
            <a:avLst/>
          </a:prstGeom>
        </p:spPr>
      </p:pic>
      <p:sp>
        <p:nvSpPr>
          <p:cNvPr id="3" name="Text 0"/>
          <p:cNvSpPr/>
          <p:nvPr/>
        </p:nvSpPr>
        <p:spPr>
          <a:xfrm>
            <a:off x="937565" y="4059936"/>
            <a:ext cx="451104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IS (Inception Score)</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71932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IS (Inception Score)</a:t>
            </a:r>
            <a:endParaRPr lang="en-US" sz="5584" dirty="0">
              <a:solidFill>
                <a:prstClr val="black"/>
              </a:solidFill>
              <a:latin typeface="Calibri" panose="020F0502020204030204"/>
            </a:endParaRPr>
          </a:p>
        </p:txBody>
      </p:sp>
      <p:sp>
        <p:nvSpPr>
          <p:cNvPr id="3" name="Text 1"/>
          <p:cNvSpPr/>
          <p:nvPr/>
        </p:nvSpPr>
        <p:spPr>
          <a:xfrm>
            <a:off x="1166775" y="2386584"/>
            <a:ext cx="938784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Оценка рассчитывается на основе выходных данных отдельной, предварительно обученной модели классификации изображений Inception v3.</a:t>
            </a:r>
            <a:endParaRPr lang="en-US" sz="2256" dirty="0">
              <a:solidFill>
                <a:prstClr val="black"/>
              </a:solidFill>
              <a:latin typeface="Calibri" panose="020F0502020204030204"/>
            </a:endParaRPr>
          </a:p>
        </p:txBody>
      </p:sp>
      <p:sp>
        <p:nvSpPr>
          <p:cNvPr id="4" name="Text 2"/>
          <p:cNvSpPr/>
          <p:nvPr/>
        </p:nvSpPr>
        <p:spPr>
          <a:xfrm>
            <a:off x="1166775" y="4169664"/>
            <a:ext cx="101193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Энтропия распределения меток, предсказанных моделью Inceptionv3 для сгенерированных изображений, минимизируется. Другими слова...</a:t>
            </a:r>
            <a:endParaRPr lang="en-US" sz="2256" dirty="0">
              <a:solidFill>
                <a:prstClr val="black"/>
              </a:solidFill>
              <a:latin typeface="Calibri" panose="020F0502020204030204"/>
            </a:endParaRPr>
          </a:p>
        </p:txBody>
      </p:sp>
      <p:sp>
        <p:nvSpPr>
          <p:cNvPr id="5" name="Text 3"/>
          <p:cNvSpPr/>
          <p:nvPr/>
        </p:nvSpPr>
        <p:spPr>
          <a:xfrm>
            <a:off x="1166775" y="5495316"/>
            <a:ext cx="987552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Предсказания модели классификации равномерно распределены по всем возможным меткам. Это соответствует желаемому результату, когда выходные данные генеративной модели «разнообразны».</a:t>
            </a:r>
            <a:endParaRPr lang="en-US" sz="2256"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4169665"/>
            <a:ext cx="91440" cy="457428"/>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5495317"/>
            <a:ext cx="91440" cy="457428"/>
          </a:xfrm>
          <a:prstGeom prst="rect">
            <a:avLst/>
          </a:prstGeom>
        </p:spPr>
      </p:pic>
      <p:sp>
        <p:nvSpPr>
          <p:cNvPr id="9" name="Text 4"/>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113129" y="1628775"/>
            <a:ext cx="9997440" cy="3634740"/>
          </a:xfrm>
          <a:prstGeom prst="rect">
            <a:avLst/>
          </a:prstGeom>
          <a:noFill/>
          <a:ln/>
        </p:spPr>
        <p:txBody>
          <a:bodyPr wrap="square" lIns="0" tIns="0" rIns="0" bIns="0" rtlCol="0" anchor="t">
            <a:normAutofit/>
          </a:bodyPr>
          <a:lstStyle/>
          <a:p>
            <a:pPr defTabSz="1219170">
              <a:lnSpc>
                <a:spcPts val="3807"/>
              </a:lnSpc>
            </a:pPr>
            <a:r>
              <a:rPr lang="en-US" sz="2539" b="1" dirty="0">
                <a:solidFill>
                  <a:srgbClr val="FFFFFF"/>
                </a:solidFill>
                <a:latin typeface="Arial" pitchFamily="34" charset="0"/>
                <a:ea typeface="Arial" pitchFamily="34" charset="-122"/>
                <a:cs typeface="Arial" pitchFamily="34" charset="-120"/>
              </a:rPr>
              <a:t>Энтропия распределения меток, предсказанных моделью Inceptionv3 для сгенерированных изображений, минимизируется. Другими словами, модель классификации уверенно предсказывает одну метку для каждого изображения. Интуитивно это соответствует желаемому результату: сгенерированные изображения должны быть «четкими» или «разборчивыми».</a:t>
            </a:r>
            <a:endParaRPr lang="en-US" sz="253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4807305" y="2660905"/>
            <a:ext cx="5852160" cy="157734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PSNR (Peak Signal-to-Noise Ratio)</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555699" y="2979802"/>
            <a:ext cx="2438400" cy="898399"/>
          </a:xfrm>
          <a:prstGeom prst="rect">
            <a:avLst/>
          </a:prstGeom>
        </p:spPr>
      </p:pic>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133629"/>
            <a:ext cx="1024128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PSNR (Peak Signal-to-Noise Ratio)</a:t>
            </a:r>
            <a:endParaRPr lang="en-US" sz="7106" dirty="0">
              <a:solidFill>
                <a:prstClr val="black"/>
              </a:solidFill>
              <a:latin typeface="Calibri" panose="020F0502020204030204"/>
            </a:endParaRPr>
          </a:p>
        </p:txBody>
      </p:sp>
      <p:sp>
        <p:nvSpPr>
          <p:cNvPr id="3" name="Text 1"/>
          <p:cNvSpPr/>
          <p:nvPr/>
        </p:nvSpPr>
        <p:spPr>
          <a:xfrm>
            <a:off x="937565" y="4209441"/>
            <a:ext cx="10241280" cy="1577340"/>
          </a:xfrm>
          <a:prstGeom prst="rect">
            <a:avLst/>
          </a:prstGeom>
          <a:noFill/>
          <a:ln/>
        </p:spPr>
        <p:txBody>
          <a:bodyPr wrap="square" lIns="0" tIns="0" rIns="0" bIns="0" rtlCol="0" anchor="t">
            <a:normAutofit/>
          </a:bodyPr>
          <a:lstStyle/>
          <a:p>
            <a:pPr defTabSz="1219170">
              <a:lnSpc>
                <a:spcPts val="5607"/>
              </a:lnSpc>
            </a:pPr>
            <a:r>
              <a:rPr lang="en-US" sz="4004" dirty="0">
                <a:solidFill>
                  <a:srgbClr val="FFFFFF"/>
                </a:solidFill>
                <a:latin typeface="Arial" pitchFamily="34" charset="0"/>
                <a:ea typeface="Arial" pitchFamily="34" charset="-122"/>
                <a:cs typeface="Arial" pitchFamily="34" charset="-120"/>
              </a:rPr>
              <a:t>Пиксельное различие между эталонным и сгенерированным изображением.</a:t>
            </a:r>
            <a:endParaRPr lang="en-US" sz="4004"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3629941"/>
            <a:ext cx="10196169" cy="578815"/>
          </a:xfrm>
          <a:prstGeom prst="rect">
            <a:avLst/>
          </a:prstGeom>
        </p:spPr>
      </p:pic>
      <p:sp>
        <p:nvSpPr>
          <p:cNvPr id="5" name="Text 2"/>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86333" y="2400300"/>
            <a:ext cx="10241280" cy="2057400"/>
          </a:xfrm>
          <a:prstGeom prst="rect">
            <a:avLst/>
          </a:prstGeom>
          <a:noFill/>
          <a:ln/>
        </p:spPr>
        <p:txBody>
          <a:bodyPr wrap="square" lIns="0" tIns="0" rIns="0" bIns="0" rtlCol="0" anchor="t">
            <a:normAutofit/>
          </a:bodyPr>
          <a:lstStyle/>
          <a:p>
            <a:pPr defTabSz="1219170">
              <a:lnSpc>
                <a:spcPts val="3045"/>
              </a:lnSpc>
            </a:pPr>
            <a:r>
              <a:rPr lang="en-US" sz="2031" b="1" dirty="0">
                <a:solidFill>
                  <a:srgbClr val="FFFFFF"/>
                </a:solidFill>
                <a:latin typeface="Arial" pitchFamily="34" charset="0"/>
                <a:ea typeface="Arial" pitchFamily="34" charset="-122"/>
                <a:cs typeface="Arial" pitchFamily="34" charset="-120"/>
              </a:rPr>
              <a:t>Методы обучения: стандартным является обучение с учителем (supervised learning) на парах "изображение-описание" или "изображение-категория" с разделение на обучающую и валидационную выборки (так же 70%-30% и 80%-20%), где описание или категория содержится в названии файла, репозитория или отдельном сводном документе.</a:t>
            </a:r>
            <a:endParaRPr lang="en-US" sz="2031"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66851"/>
            <a:ext cx="987552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Методы обучения: стандартным явля...</a:t>
            </a:r>
            <a:endParaRPr lang="en-US" sz="7106" dirty="0">
              <a:solidFill>
                <a:prstClr val="black"/>
              </a:solidFill>
              <a:latin typeface="Calibri" panose="020F0502020204030204"/>
            </a:endParaRPr>
          </a:p>
        </p:txBody>
      </p:sp>
      <p:sp>
        <p:nvSpPr>
          <p:cNvPr id="3" name="Text 1"/>
          <p:cNvSpPr/>
          <p:nvPr/>
        </p:nvSpPr>
        <p:spPr>
          <a:xfrm>
            <a:off x="937565" y="3942664"/>
            <a:ext cx="9631680" cy="2057400"/>
          </a:xfrm>
          <a:prstGeom prst="rect">
            <a:avLst/>
          </a:prstGeom>
          <a:noFill/>
          <a:ln/>
        </p:spPr>
        <p:txBody>
          <a:bodyPr wrap="square" lIns="0" tIns="0" rIns="0" bIns="0" rtlCol="0" anchor="t">
            <a:normAutofit/>
          </a:bodyPr>
          <a:lstStyle/>
          <a:p>
            <a:pPr defTabSz="1219170">
              <a:lnSpc>
                <a:spcPts val="5053"/>
              </a:lnSpc>
            </a:pPr>
            <a:r>
              <a:rPr lang="en-US" sz="3609" dirty="0">
                <a:solidFill>
                  <a:srgbClr val="FFFFFF"/>
                </a:solidFill>
                <a:latin typeface="Arial" pitchFamily="34" charset="0"/>
                <a:ea typeface="Arial" pitchFamily="34" charset="-122"/>
                <a:cs typeface="Arial" pitchFamily="34" charset="-120"/>
              </a:rPr>
              <a:t>Используются аугментации данных: случайные повороты, обрезка, изменение цвета, изменение качества.</a:t>
            </a:r>
            <a:endParaRPr lang="en-US" sz="3609"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363163"/>
            <a:ext cx="9791395" cy="578815"/>
          </a:xfrm>
          <a:prstGeom prst="rect">
            <a:avLst/>
          </a:prstGeom>
        </p:spPr>
      </p:pic>
      <p:sp>
        <p:nvSpPr>
          <p:cNvPr id="5" name="Text 2"/>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3623" y="857251"/>
            <a:ext cx="7607808" cy="4286251"/>
          </a:xfrm>
          <a:prstGeom prst="rect">
            <a:avLst/>
          </a:prstGeom>
        </p:spPr>
      </p:pic>
      <p:sp>
        <p:nvSpPr>
          <p:cNvPr id="3" name="Text 0"/>
          <p:cNvSpPr/>
          <p:nvPr/>
        </p:nvSpPr>
        <p:spPr>
          <a:xfrm>
            <a:off x="1093623" y="5417820"/>
            <a:ext cx="10119360" cy="1783080"/>
          </a:xfrm>
          <a:prstGeom prst="rect">
            <a:avLst/>
          </a:prstGeom>
          <a:noFill/>
          <a:ln/>
        </p:spPr>
        <p:txBody>
          <a:bodyPr wrap="square" lIns="0" tIns="0" rIns="0" bIns="0" rtlCol="0" anchor="t">
            <a:normAutofit/>
          </a:bodyPr>
          <a:lstStyle/>
          <a:p>
            <a:pPr defTabSz="1219170">
              <a:lnSpc>
                <a:spcPts val="4264"/>
              </a:lnSpc>
            </a:pPr>
            <a:r>
              <a:rPr lang="en-US" sz="3045" b="1" dirty="0">
                <a:solidFill>
                  <a:srgbClr val="FFFFFF"/>
                </a:solidFill>
                <a:latin typeface="Arial" pitchFamily="34" charset="0"/>
                <a:ea typeface="Arial" pitchFamily="34" charset="-122"/>
                <a:cs typeface="Arial" pitchFamily="34" charset="-120"/>
              </a:rPr>
              <a:t>Используются аугментации данных: случайные повороты, обрезка, изменение цвета, изменение качества.</a:t>
            </a:r>
            <a:endParaRPr lang="en-US" sz="3045"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621792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Генерация звука</a:t>
            </a:r>
            <a:endParaRPr lang="en-US" sz="5584" dirty="0">
              <a:solidFill>
                <a:prstClr val="black"/>
              </a:solidFill>
              <a:latin typeface="Calibri" panose="020F0502020204030204"/>
            </a:endParaRPr>
          </a:p>
        </p:txBody>
      </p:sp>
      <p:sp>
        <p:nvSpPr>
          <p:cNvPr id="3" name="Text 1"/>
          <p:cNvSpPr/>
          <p:nvPr/>
        </p:nvSpPr>
        <p:spPr>
          <a:xfrm>
            <a:off x="1169213" y="2386584"/>
            <a:ext cx="9997440" cy="960120"/>
          </a:xfrm>
          <a:prstGeom prst="rect">
            <a:avLst/>
          </a:prstGeom>
          <a:noFill/>
          <a:ln/>
        </p:spPr>
        <p:txBody>
          <a:bodyPr wrap="square" lIns="0" tIns="0" rIns="0" bIns="0" rtlCol="0" anchor="t">
            <a:normAutofit/>
          </a:bodyPr>
          <a:lstStyle/>
          <a:p>
            <a:pPr defTabSz="1219170">
              <a:lnSpc>
                <a:spcPts val="3468"/>
              </a:lnSpc>
            </a:pPr>
            <a:r>
              <a:rPr lang="en-US" sz="2312" dirty="0">
                <a:solidFill>
                  <a:srgbClr val="FFFFFF"/>
                </a:solidFill>
                <a:latin typeface="Arial" pitchFamily="34" charset="0"/>
                <a:ea typeface="Arial" pitchFamily="34" charset="-122"/>
                <a:cs typeface="Arial" pitchFamily="34" charset="-120"/>
              </a:rPr>
              <a:t>Общая концепция: звук - по своей природе одномерный сигнал с очень высокой частотой дискретизации (обычно 16 000 - 48 000 та...</a:t>
            </a:r>
            <a:endParaRPr lang="en-US" sz="2312" dirty="0">
              <a:solidFill>
                <a:prstClr val="black"/>
              </a:solidFill>
              <a:latin typeface="Calibri" panose="020F0502020204030204"/>
            </a:endParaRPr>
          </a:p>
        </p:txBody>
      </p:sp>
      <p:sp>
        <p:nvSpPr>
          <p:cNvPr id="4" name="Text 2"/>
          <p:cNvSpPr/>
          <p:nvPr/>
        </p:nvSpPr>
        <p:spPr>
          <a:xfrm>
            <a:off x="1169213" y="3735553"/>
            <a:ext cx="5730240" cy="480060"/>
          </a:xfrm>
          <a:prstGeom prst="rect">
            <a:avLst/>
          </a:prstGeom>
          <a:noFill/>
          <a:ln/>
        </p:spPr>
        <p:txBody>
          <a:bodyPr wrap="square" lIns="0" tIns="0" rIns="0" bIns="0" rtlCol="0" anchor="t">
            <a:normAutofit/>
          </a:bodyPr>
          <a:lstStyle/>
          <a:p>
            <a:pPr defTabSz="1219170">
              <a:lnSpc>
                <a:spcPts val="3468"/>
              </a:lnSpc>
            </a:pPr>
            <a:r>
              <a:rPr lang="en-US" sz="2312" dirty="0">
                <a:solidFill>
                  <a:srgbClr val="FFFFFF"/>
                </a:solidFill>
                <a:latin typeface="Arial" pitchFamily="34" charset="0"/>
                <a:ea typeface="Arial" pitchFamily="34" charset="-122"/>
                <a:cs typeface="Arial" pitchFamily="34" charset="-120"/>
              </a:rPr>
              <a:t>Авторегрессионные модели (WaveNet)</a:t>
            </a:r>
            <a:endParaRPr lang="en-US" sz="2312" dirty="0">
              <a:solidFill>
                <a:prstClr val="black"/>
              </a:solidFill>
              <a:latin typeface="Calibri" panose="020F0502020204030204"/>
            </a:endParaRPr>
          </a:p>
        </p:txBody>
      </p:sp>
      <p:sp>
        <p:nvSpPr>
          <p:cNvPr id="5" name="Text 3"/>
          <p:cNvSpPr/>
          <p:nvPr/>
        </p:nvSpPr>
        <p:spPr>
          <a:xfrm>
            <a:off x="1169213" y="4615434"/>
            <a:ext cx="1341120" cy="480060"/>
          </a:xfrm>
          <a:prstGeom prst="rect">
            <a:avLst/>
          </a:prstGeom>
          <a:noFill/>
          <a:ln/>
        </p:spPr>
        <p:txBody>
          <a:bodyPr wrap="square" lIns="0" tIns="0" rIns="0" bIns="0" rtlCol="0" anchor="t">
            <a:normAutofit/>
          </a:bodyPr>
          <a:lstStyle/>
          <a:p>
            <a:pPr defTabSz="1219170">
              <a:lnSpc>
                <a:spcPts val="3468"/>
              </a:lnSpc>
            </a:pPr>
            <a:r>
              <a:rPr lang="en-US" sz="2312" dirty="0">
                <a:solidFill>
                  <a:srgbClr val="FFFFFF"/>
                </a:solidFill>
                <a:latin typeface="Arial" pitchFamily="34" charset="0"/>
                <a:ea typeface="Arial" pitchFamily="34" charset="-122"/>
                <a:cs typeface="Arial" pitchFamily="34" charset="-120"/>
              </a:rPr>
              <a:t>HiFi-GAN</a:t>
            </a:r>
            <a:endParaRPr lang="en-US" sz="2312" dirty="0">
              <a:solidFill>
                <a:prstClr val="black"/>
              </a:solidFill>
              <a:latin typeface="Calibri" panose="020F0502020204030204"/>
            </a:endParaRPr>
          </a:p>
        </p:txBody>
      </p:sp>
      <p:sp>
        <p:nvSpPr>
          <p:cNvPr id="6" name="Text 4"/>
          <p:cNvSpPr/>
          <p:nvPr/>
        </p:nvSpPr>
        <p:spPr>
          <a:xfrm>
            <a:off x="1169213" y="5495317"/>
            <a:ext cx="1341120" cy="480060"/>
          </a:xfrm>
          <a:prstGeom prst="rect">
            <a:avLst/>
          </a:prstGeom>
          <a:noFill/>
          <a:ln/>
        </p:spPr>
        <p:txBody>
          <a:bodyPr wrap="square" lIns="0" tIns="0" rIns="0" bIns="0" rtlCol="0" anchor="t">
            <a:normAutofit/>
          </a:bodyPr>
          <a:lstStyle/>
          <a:p>
            <a:pPr defTabSz="1219170">
              <a:lnSpc>
                <a:spcPts val="3468"/>
              </a:lnSpc>
            </a:pPr>
            <a:r>
              <a:rPr lang="en-US" sz="2312" dirty="0">
                <a:solidFill>
                  <a:srgbClr val="FFFFFF"/>
                </a:solidFill>
                <a:latin typeface="Arial" pitchFamily="34" charset="0"/>
                <a:ea typeface="Arial" pitchFamily="34" charset="-122"/>
                <a:cs typeface="Arial" pitchFamily="34" charset="-120"/>
              </a:rPr>
              <a:t>Метрики:</a:t>
            </a:r>
            <a:endParaRPr lang="en-US" sz="2312" dirty="0">
              <a:solidFill>
                <a:prstClr val="black"/>
              </a:solidFill>
              <a:latin typeface="Calibri" panose="020F0502020204030204"/>
            </a:endParaRPr>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5"/>
            <a:ext cx="93879" cy="468401"/>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735553"/>
            <a:ext cx="93879" cy="468401"/>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615434"/>
            <a:ext cx="93879" cy="468401"/>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5495317"/>
            <a:ext cx="93879" cy="468401"/>
          </a:xfrm>
          <a:prstGeom prst="rect">
            <a:avLst/>
          </a:prstGeom>
        </p:spPr>
      </p:pic>
      <p:sp>
        <p:nvSpPr>
          <p:cNvPr id="11" name="Text 5"/>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2595" y="518466"/>
            <a:ext cx="342595" cy="3017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120445" y="1628775"/>
            <a:ext cx="9997440" cy="3634740"/>
          </a:xfrm>
          <a:prstGeom prst="rect">
            <a:avLst/>
          </a:prstGeom>
          <a:noFill/>
          <a:ln/>
        </p:spPr>
        <p:txBody>
          <a:bodyPr wrap="square" lIns="0" tIns="0" rIns="0" bIns="0" rtlCol="0" anchor="t">
            <a:normAutofit/>
          </a:bodyPr>
          <a:lstStyle/>
          <a:p>
            <a:pPr defTabSz="1219170">
              <a:lnSpc>
                <a:spcPts val="3807"/>
              </a:lnSpc>
            </a:pPr>
            <a:r>
              <a:rPr lang="en-US" sz="2539" b="1" dirty="0">
                <a:solidFill>
                  <a:srgbClr val="FFFFFF"/>
                </a:solidFill>
                <a:latin typeface="Arial" pitchFamily="34" charset="0"/>
                <a:ea typeface="Arial" pitchFamily="34" charset="-122"/>
                <a:cs typeface="Arial" pitchFamily="34" charset="-120"/>
              </a:rPr>
              <a:t>Общая концепция: звук - по своей природе одномерный сигнал с очень высокой частотой дискретизации (обычно 16 000 - 48 000 тактов в секунду), имеющий чёткую последовательность, которую с одной стороны нужно предсказать, но с другой стороны нельзя предсказывать на основе исходного спектрального ряда, так как может сгенерироваться похожий спектр.</a:t>
            </a:r>
            <a:endParaRPr lang="en-US" sz="253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060448" y="857251"/>
            <a:ext cx="8071104" cy="4286251"/>
          </a:xfrm>
          <a:prstGeom prst="rect">
            <a:avLst/>
          </a:prstGeom>
        </p:spPr>
      </p:pic>
      <p:sp>
        <p:nvSpPr>
          <p:cNvPr id="3" name="Text 0"/>
          <p:cNvSpPr/>
          <p:nvPr/>
        </p:nvSpPr>
        <p:spPr>
          <a:xfrm>
            <a:off x="1466697" y="5417820"/>
            <a:ext cx="926592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Авторегрессионные модели (WaveNet)</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999744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Авторегрессионные мод...</a:t>
            </a:r>
            <a:endParaRPr lang="en-US" sz="5584" dirty="0">
              <a:solidFill>
                <a:prstClr val="black"/>
              </a:solidFill>
              <a:latin typeface="Calibri" panose="020F0502020204030204"/>
            </a:endParaRPr>
          </a:p>
        </p:txBody>
      </p:sp>
      <p:sp>
        <p:nvSpPr>
          <p:cNvPr id="3" name="Text 1"/>
          <p:cNvSpPr/>
          <p:nvPr/>
        </p:nvSpPr>
        <p:spPr>
          <a:xfrm>
            <a:off x="1188720" y="2386584"/>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Генерируют звук последовательно, семпл за семплом, в основе WaveNet лежат причинные свёртки, которые га...</a:t>
            </a:r>
            <a:endParaRPr lang="en-US" sz="2820" dirty="0">
              <a:solidFill>
                <a:prstClr val="black"/>
              </a:solidFill>
              <a:latin typeface="Calibri" panose="020F0502020204030204"/>
            </a:endParaRPr>
          </a:p>
        </p:txBody>
      </p:sp>
      <p:sp>
        <p:nvSpPr>
          <p:cNvPr id="4" name="Text 2"/>
          <p:cNvSpPr/>
          <p:nvPr/>
        </p:nvSpPr>
        <p:spPr>
          <a:xfrm>
            <a:off x="1188720" y="3865169"/>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Факторизация распределения: WaveNet моделирует совместную вероятность всей звуковой волны как про...</a:t>
            </a:r>
            <a:endParaRPr lang="en-US" sz="2820" dirty="0">
              <a:solidFill>
                <a:prstClr val="black"/>
              </a:solidFill>
              <a:latin typeface="Calibri" panose="020F0502020204030204"/>
            </a:endParaRPr>
          </a:p>
        </p:txBody>
      </p:sp>
      <p:sp>
        <p:nvSpPr>
          <p:cNvPr id="5" name="Text 3"/>
          <p:cNvSpPr/>
          <p:nvPr/>
        </p:nvSpPr>
        <p:spPr>
          <a:xfrm>
            <a:off x="1188720" y="5343068"/>
            <a:ext cx="48768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Формальное определение:</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5343068"/>
            <a:ext cx="114605" cy="533552"/>
          </a:xfrm>
          <a:prstGeom prst="rect">
            <a:avLst/>
          </a:prstGeom>
        </p:spPr>
      </p:pic>
      <p:sp>
        <p:nvSpPr>
          <p:cNvPr id="9" name="Text 4"/>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59511" y="1748791"/>
            <a:ext cx="10363200" cy="336042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Генерируют звук последовательно, семпл за семплом, в основе WaveNet лежат причинные свёртки, которые гарантируют, что модель при предсказании не "заглядывает" в будущее.</a:t>
            </a:r>
            <a:endParaRPr lang="en-US" sz="3553"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242365" y="1722044"/>
            <a:ext cx="9753600" cy="3429000"/>
          </a:xfrm>
          <a:prstGeom prst="rect">
            <a:avLst/>
          </a:prstGeom>
          <a:noFill/>
          <a:ln/>
        </p:spPr>
        <p:txBody>
          <a:bodyPr wrap="square" lIns="0" tIns="0" rIns="0" bIns="0" rtlCol="0" anchor="t">
            <a:normAutofit/>
          </a:bodyPr>
          <a:lstStyle/>
          <a:p>
            <a:pPr defTabSz="1219170">
              <a:lnSpc>
                <a:spcPts val="5053"/>
              </a:lnSpc>
            </a:pPr>
            <a:r>
              <a:rPr lang="en-US" sz="3609" b="1" dirty="0">
                <a:solidFill>
                  <a:srgbClr val="FFFFFF"/>
                </a:solidFill>
                <a:latin typeface="Arial" pitchFamily="34" charset="0"/>
                <a:ea typeface="Arial" pitchFamily="34" charset="-122"/>
                <a:cs typeface="Arial" pitchFamily="34" charset="-120"/>
              </a:rPr>
              <a:t>Факторизация распределения: WaveNet моделирует совместную вероятность всей звуковой волны как произведение условных вероятностей каждого следующего семпла:</a:t>
            </a:r>
            <a:endParaRPr lang="en-US" sz="360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236498"/>
            <a:ext cx="10316871" cy="3438601"/>
          </a:xfrm>
          <a:prstGeom prst="rect">
            <a:avLst/>
          </a:prstGeom>
        </p:spPr>
      </p:pic>
      <p:sp>
        <p:nvSpPr>
          <p:cNvPr id="3" name="Text 0"/>
          <p:cNvSpPr/>
          <p:nvPr/>
        </p:nvSpPr>
        <p:spPr>
          <a:xfrm>
            <a:off x="937565" y="4949419"/>
            <a:ext cx="658368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Формальное определение:</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2412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Формальное определение:</a:t>
            </a:r>
            <a:endParaRPr lang="en-US" sz="5584" dirty="0">
              <a:solidFill>
                <a:prstClr val="black"/>
              </a:solidFill>
              <a:latin typeface="Calibri" panose="020F0502020204030204"/>
            </a:endParaRPr>
          </a:p>
        </p:txBody>
      </p:sp>
      <p:sp>
        <p:nvSpPr>
          <p:cNvPr id="3" name="Text 1"/>
          <p:cNvSpPr/>
          <p:nvPr/>
        </p:nvSpPr>
        <p:spPr>
          <a:xfrm>
            <a:off x="1188720" y="2386584"/>
            <a:ext cx="41452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x - вся звуковая волна.</a:t>
            </a:r>
            <a:endParaRPr lang="en-US" sz="2820" dirty="0">
              <a:solidFill>
                <a:prstClr val="black"/>
              </a:solidFill>
              <a:latin typeface="Calibri" panose="020F0502020204030204"/>
            </a:endParaRPr>
          </a:p>
        </p:txBody>
      </p:sp>
      <p:sp>
        <p:nvSpPr>
          <p:cNvPr id="4" name="Text 2"/>
          <p:cNvSpPr/>
          <p:nvPr/>
        </p:nvSpPr>
        <p:spPr>
          <a:xfrm>
            <a:off x="1188720" y="3331616"/>
            <a:ext cx="82905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x_t - значение амплитуды в момент времени t.</a:t>
            </a:r>
            <a:endParaRPr lang="en-US" sz="2820" dirty="0">
              <a:solidFill>
                <a:prstClr val="black"/>
              </a:solidFill>
              <a:latin typeface="Calibri" panose="020F0502020204030204"/>
            </a:endParaRPr>
          </a:p>
        </p:txBody>
      </p:sp>
      <p:sp>
        <p:nvSpPr>
          <p:cNvPr id="5" name="Text 3"/>
          <p:cNvSpPr/>
          <p:nvPr/>
        </p:nvSpPr>
        <p:spPr>
          <a:xfrm>
            <a:off x="1188720" y="4276649"/>
            <a:ext cx="78028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T - общее количество временных отсчётов.</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276649"/>
            <a:ext cx="114605" cy="533552"/>
          </a:xfrm>
          <a:prstGeom prst="rect">
            <a:avLst/>
          </a:prstGeom>
        </p:spPr>
      </p:pic>
      <p:sp>
        <p:nvSpPr>
          <p:cNvPr id="9" name="Text 4"/>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823607" y="2983231"/>
            <a:ext cx="3048000" cy="891540"/>
          </a:xfrm>
          <a:prstGeom prst="rect">
            <a:avLst/>
          </a:prstGeom>
          <a:noFill/>
          <a:ln/>
        </p:spPr>
        <p:txBody>
          <a:bodyPr wrap="square" lIns="0" tIns="0" rIns="0" bIns="0" rtlCol="0" anchor="t">
            <a:normAutofit/>
          </a:bodyPr>
          <a:lstStyle/>
          <a:p>
            <a:pPr defTabSz="1219170">
              <a:lnSpc>
                <a:spcPts val="6599"/>
              </a:lnSpc>
            </a:pPr>
            <a:r>
              <a:rPr lang="en-US" sz="5076" b="1" dirty="0">
                <a:solidFill>
                  <a:srgbClr val="FFFFFF"/>
                </a:solidFill>
                <a:latin typeface="Arial" pitchFamily="34" charset="0"/>
                <a:ea typeface="Arial" pitchFamily="34" charset="-122"/>
                <a:cs typeface="Arial" pitchFamily="34" charset="-120"/>
              </a:rPr>
              <a:t>HiFi-GAN</a:t>
            </a:r>
            <a:endParaRPr lang="en-US" sz="5076"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320394" y="1866062"/>
            <a:ext cx="5690007" cy="3125191"/>
          </a:xfrm>
          <a:prstGeom prst="rect">
            <a:avLst/>
          </a:prstGeom>
        </p:spPr>
      </p:pic>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34137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HiFi-GAN</a:t>
            </a:r>
            <a:endParaRPr lang="en-US" sz="5584" dirty="0">
              <a:solidFill>
                <a:prstClr val="black"/>
              </a:solidFill>
              <a:latin typeface="Calibri" panose="020F0502020204030204"/>
            </a:endParaRPr>
          </a:p>
        </p:txBody>
      </p:sp>
      <p:sp>
        <p:nvSpPr>
          <p:cNvPr id="3" name="Text 1"/>
          <p:cNvSpPr/>
          <p:nvPr/>
        </p:nvSpPr>
        <p:spPr>
          <a:xfrm>
            <a:off x="1188720" y="2386584"/>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Модель-вокодер, предназначенная для синтеза речи (text-to-speech) и генерации аудио с высокой точность,...</a:t>
            </a:r>
            <a:endParaRPr lang="en-US" sz="2820" dirty="0">
              <a:solidFill>
                <a:prstClr val="black"/>
              </a:solidFill>
              <a:latin typeface="Calibri" panose="020F0502020204030204"/>
            </a:endParaRPr>
          </a:p>
        </p:txBody>
      </p:sp>
      <p:sp>
        <p:nvSpPr>
          <p:cNvPr id="4" name="Text 2"/>
          <p:cNvSpPr/>
          <p:nvPr/>
        </p:nvSpPr>
        <p:spPr>
          <a:xfrm>
            <a:off x="1188720" y="3865169"/>
            <a:ext cx="914400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Формальное определение - состязательная потеря (Least Squares GAN): </a:t>
            </a:r>
            <a:endParaRPr lang="en-US" sz="2820" dirty="0">
              <a:solidFill>
                <a:prstClr val="black"/>
              </a:solidFill>
              <a:latin typeface="Calibri" panose="020F0502020204030204"/>
            </a:endParaRPr>
          </a:p>
        </p:txBody>
      </p:sp>
      <p:sp>
        <p:nvSpPr>
          <p:cNvPr id="5" name="Text 3"/>
          <p:cNvSpPr/>
          <p:nvPr/>
        </p:nvSpPr>
        <p:spPr>
          <a:xfrm>
            <a:off x="1188720" y="5343068"/>
            <a:ext cx="19507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Обучение:</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5343068"/>
            <a:ext cx="114605" cy="533552"/>
          </a:xfrm>
          <a:prstGeom prst="rect">
            <a:avLst/>
          </a:prstGeom>
        </p:spPr>
      </p:pic>
      <p:sp>
        <p:nvSpPr>
          <p:cNvPr id="9" name="Text 4"/>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77773" y="1722044"/>
            <a:ext cx="10119360" cy="3429000"/>
          </a:xfrm>
          <a:prstGeom prst="rect">
            <a:avLst/>
          </a:prstGeom>
          <a:noFill/>
          <a:ln/>
        </p:spPr>
        <p:txBody>
          <a:bodyPr wrap="square" lIns="0" tIns="0" rIns="0" bIns="0" rtlCol="0" anchor="t">
            <a:normAutofit/>
          </a:bodyPr>
          <a:lstStyle/>
          <a:p>
            <a:pPr defTabSz="1219170">
              <a:lnSpc>
                <a:spcPts val="5053"/>
              </a:lnSpc>
            </a:pPr>
            <a:r>
              <a:rPr lang="en-US" sz="3609" b="1" dirty="0">
                <a:solidFill>
                  <a:srgbClr val="FFFFFF"/>
                </a:solidFill>
                <a:latin typeface="Arial" pitchFamily="34" charset="0"/>
                <a:ea typeface="Arial" pitchFamily="34" charset="-122"/>
                <a:cs typeface="Arial" pitchFamily="34" charset="-120"/>
              </a:rPr>
              <a:t>Модель-вокодер, предназначенная для синтеза речи (text-to-speech) и генерации аудио с высокой точность, способная генерировать звук параллельно из спектрограммы.</a:t>
            </a:r>
            <a:endParaRPr lang="en-US" sz="360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2126666"/>
            <a:ext cx="10316871" cy="1263244"/>
          </a:xfrm>
          <a:prstGeom prst="rect">
            <a:avLst/>
          </a:prstGeom>
        </p:spPr>
      </p:pic>
      <p:sp>
        <p:nvSpPr>
          <p:cNvPr id="3" name="Text 0"/>
          <p:cNvSpPr/>
          <p:nvPr/>
        </p:nvSpPr>
        <p:spPr>
          <a:xfrm>
            <a:off x="937565" y="3664229"/>
            <a:ext cx="9875520" cy="109728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Формальное определение - состязательная потеря (Least Squares GAN): </a:t>
            </a:r>
            <a:endParaRPr lang="en-US" sz="2820"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2412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Формальное определени...</a:t>
            </a:r>
            <a:endParaRPr lang="en-US" sz="5584" dirty="0">
              <a:solidFill>
                <a:prstClr val="black"/>
              </a:solidFill>
              <a:latin typeface="Calibri" panose="020F0502020204030204"/>
            </a:endParaRPr>
          </a:p>
        </p:txBody>
      </p:sp>
      <p:sp>
        <p:nvSpPr>
          <p:cNvPr id="3" name="Text 1"/>
          <p:cNvSpPr/>
          <p:nvPr/>
        </p:nvSpPr>
        <p:spPr>
          <a:xfrm>
            <a:off x="1188720" y="2386584"/>
            <a:ext cx="7315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Где:</a:t>
            </a:r>
            <a:endParaRPr lang="en-US" sz="2820" dirty="0">
              <a:solidFill>
                <a:prstClr val="black"/>
              </a:solidFill>
              <a:latin typeface="Calibri" panose="020F0502020204030204"/>
            </a:endParaRPr>
          </a:p>
        </p:txBody>
      </p:sp>
      <p:sp>
        <p:nvSpPr>
          <p:cNvPr id="4" name="Text 2"/>
          <p:cNvSpPr/>
          <p:nvPr/>
        </p:nvSpPr>
        <p:spPr>
          <a:xfrm>
            <a:off x="1188720" y="3331616"/>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Генератор G превращает спектрограмму в звуковую волну. Несколько дискриминаторов D оценивают сгене...</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5849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Где:</a:t>
            </a:r>
            <a:endParaRPr lang="en-US" sz="5584" dirty="0">
              <a:solidFill>
                <a:prstClr val="black"/>
              </a:solidFill>
              <a:latin typeface="Calibri" panose="020F0502020204030204"/>
            </a:endParaRPr>
          </a:p>
        </p:txBody>
      </p:sp>
      <p:sp>
        <p:nvSpPr>
          <p:cNvPr id="3" name="Text 1"/>
          <p:cNvSpPr/>
          <p:nvPr/>
        </p:nvSpPr>
        <p:spPr>
          <a:xfrm>
            <a:off x="1188720" y="2386584"/>
            <a:ext cx="25603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G - генератор.</a:t>
            </a:r>
            <a:endParaRPr lang="en-US" sz="2820" dirty="0">
              <a:solidFill>
                <a:prstClr val="black"/>
              </a:solidFill>
              <a:latin typeface="Calibri" panose="020F0502020204030204"/>
            </a:endParaRPr>
          </a:p>
        </p:txBody>
      </p:sp>
      <p:sp>
        <p:nvSpPr>
          <p:cNvPr id="4" name="Text 2"/>
          <p:cNvSpPr/>
          <p:nvPr/>
        </p:nvSpPr>
        <p:spPr>
          <a:xfrm>
            <a:off x="1188720" y="3331616"/>
            <a:ext cx="37795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D - дискриминаторы.</a:t>
            </a:r>
            <a:endParaRPr lang="en-US" sz="2820" dirty="0">
              <a:solidFill>
                <a:prstClr val="black"/>
              </a:solidFill>
              <a:latin typeface="Calibri" panose="020F0502020204030204"/>
            </a:endParaRPr>
          </a:p>
        </p:txBody>
      </p:sp>
      <p:sp>
        <p:nvSpPr>
          <p:cNvPr id="5" name="Text 3"/>
          <p:cNvSpPr/>
          <p:nvPr/>
        </p:nvSpPr>
        <p:spPr>
          <a:xfrm>
            <a:off x="1188720" y="4276649"/>
            <a:ext cx="47548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x - реальный аудиосигнал.</a:t>
            </a:r>
            <a:endParaRPr lang="en-US" sz="2820" dirty="0">
              <a:solidFill>
                <a:prstClr val="black"/>
              </a:solidFill>
              <a:latin typeface="Calibri" panose="020F0502020204030204"/>
            </a:endParaRPr>
          </a:p>
        </p:txBody>
      </p:sp>
      <p:sp>
        <p:nvSpPr>
          <p:cNvPr id="6" name="Text 4"/>
          <p:cNvSpPr/>
          <p:nvPr/>
        </p:nvSpPr>
        <p:spPr>
          <a:xfrm>
            <a:off x="1188720" y="5220996"/>
            <a:ext cx="57302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s - входная мел-спектрограмма.</a:t>
            </a:r>
            <a:endParaRPr lang="en-US" sz="2820" dirty="0">
              <a:solidFill>
                <a:prstClr val="black"/>
              </a:solidFill>
              <a:latin typeface="Calibri" panose="020F0502020204030204"/>
            </a:endParaRPr>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276649"/>
            <a:ext cx="114605" cy="533552"/>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5220996"/>
            <a:ext cx="114605" cy="533552"/>
          </a:xfrm>
          <a:prstGeom prst="rect">
            <a:avLst/>
          </a:prstGeom>
        </p:spPr>
      </p:pic>
      <p:sp>
        <p:nvSpPr>
          <p:cNvPr id="11" name="Text 5"/>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2595" y="518466"/>
            <a:ext cx="342595" cy="30175"/>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21689" y="1881835"/>
            <a:ext cx="10241280" cy="3154680"/>
          </a:xfrm>
          <a:prstGeom prst="rect">
            <a:avLst/>
          </a:prstGeom>
          <a:noFill/>
          <a:ln/>
        </p:spPr>
        <p:txBody>
          <a:bodyPr wrap="square" lIns="0" tIns="0" rIns="0" bIns="0" rtlCol="0" anchor="t">
            <a:normAutofit/>
          </a:bodyPr>
          <a:lstStyle/>
          <a:p>
            <a:pPr defTabSz="1219170">
              <a:lnSpc>
                <a:spcPts val="4580"/>
              </a:lnSpc>
            </a:pPr>
            <a:r>
              <a:rPr lang="en-US" sz="3271" b="1" dirty="0">
                <a:solidFill>
                  <a:srgbClr val="FFFFFF"/>
                </a:solidFill>
                <a:latin typeface="Arial" pitchFamily="34" charset="0"/>
                <a:ea typeface="Arial" pitchFamily="34" charset="-122"/>
                <a:cs typeface="Arial" pitchFamily="34" charset="-120"/>
              </a:rPr>
              <a:t>Генератор G превращает спектрограмму в звуковую волну. Несколько дискриминаторов D оценивают сгенерированный звук на разных временных масштабах, пытаясь отличить его от реального.</a:t>
            </a:r>
            <a:endParaRPr lang="en-US" sz="3271"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3429609" y="2760345"/>
            <a:ext cx="5364480" cy="1371600"/>
          </a:xfrm>
          <a:prstGeom prst="rect">
            <a:avLst/>
          </a:prstGeom>
          <a:noFill/>
          <a:ln/>
        </p:spPr>
        <p:txBody>
          <a:bodyPr wrap="square" lIns="0" tIns="0" rIns="0" bIns="0" rtlCol="0" anchor="t">
            <a:normAutofit/>
          </a:bodyPr>
          <a:lstStyle/>
          <a:p>
            <a:pPr algn="ctr" defTabSz="1219170">
              <a:lnSpc>
                <a:spcPts val="9898"/>
              </a:lnSpc>
            </a:pPr>
            <a:r>
              <a:rPr lang="en-US" sz="7614" b="1" dirty="0">
                <a:solidFill>
                  <a:srgbClr val="FFFFFF"/>
                </a:solidFill>
                <a:latin typeface="Arial" pitchFamily="34" charset="0"/>
                <a:ea typeface="Arial" pitchFamily="34" charset="-122"/>
                <a:cs typeface="Arial" pitchFamily="34" charset="-120"/>
              </a:rPr>
              <a:t>Обучение:</a:t>
            </a:r>
            <a:endParaRPr lang="en-US" sz="7614"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82675" y="1817371"/>
            <a:ext cx="10241280" cy="3223260"/>
          </a:xfrm>
          <a:prstGeom prst="rect">
            <a:avLst/>
          </a:prstGeom>
          <a:noFill/>
          <a:ln/>
        </p:spPr>
        <p:txBody>
          <a:bodyPr wrap="square" lIns="0" tIns="0" rIns="0" bIns="0" rtlCol="0" anchor="t">
            <a:normAutofit/>
          </a:bodyPr>
          <a:lstStyle/>
          <a:p>
            <a:pPr defTabSz="1219170">
              <a:lnSpc>
                <a:spcPts val="3976"/>
              </a:lnSpc>
            </a:pPr>
            <a:r>
              <a:rPr lang="en-US" sz="2651" b="1" dirty="0">
                <a:solidFill>
                  <a:srgbClr val="FFFFFF"/>
                </a:solidFill>
                <a:latin typeface="Arial" pitchFamily="34" charset="0"/>
                <a:ea typeface="Arial" pitchFamily="34" charset="-122"/>
                <a:cs typeface="Arial" pitchFamily="34" charset="-120"/>
              </a:rPr>
              <a:t>Используются спектральные аугментации (например, SpecAugment), которые случайным образом маскируют части спектрограммы по времени и частоте. Сам процесс обучения может использовать функцию потерь, сравнивающую спектрограммы сгенерированного и реального звука (Mel-Spectrogram Loss).</a:t>
            </a:r>
            <a:endParaRPr lang="en-US" sz="2651"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99299" y="1892809"/>
            <a:ext cx="3779520" cy="308610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Мэл-спектрограмма (Mel-spectrogram):</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97306" y="1295476"/>
            <a:ext cx="5690007" cy="4267048"/>
          </a:xfrm>
          <a:prstGeom prst="rect">
            <a:avLst/>
          </a:prstGeom>
        </p:spPr>
      </p:pic>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79017" y="1914069"/>
            <a:ext cx="10241280" cy="3086100"/>
          </a:xfrm>
          <a:prstGeom prst="rect">
            <a:avLst/>
          </a:prstGeom>
          <a:noFill/>
          <a:ln/>
        </p:spPr>
        <p:txBody>
          <a:bodyPr wrap="square" lIns="0" tIns="0" rIns="0" bIns="0" rtlCol="0" anchor="t">
            <a:normAutofit/>
          </a:bodyPr>
          <a:lstStyle/>
          <a:p>
            <a:pPr defTabSz="1219170">
              <a:lnSpc>
                <a:spcPts val="5607"/>
              </a:lnSpc>
            </a:pPr>
            <a:r>
              <a:rPr lang="en-US" sz="4004" b="1" dirty="0">
                <a:solidFill>
                  <a:srgbClr val="FFFFFF"/>
                </a:solidFill>
                <a:latin typeface="Arial" pitchFamily="34" charset="0"/>
                <a:ea typeface="Arial" pitchFamily="34" charset="-122"/>
                <a:cs typeface="Arial" pitchFamily="34" charset="-120"/>
              </a:rPr>
              <a:t>визуальное представление звука, которое отображает изменение спектра частот во времени, где частоты преобразованы в мэл-шкалу.</a:t>
            </a:r>
            <a:endParaRPr lang="en-US" sz="4004"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35356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Метрики:</a:t>
            </a:r>
            <a:endParaRPr lang="en-US" sz="5584" dirty="0">
              <a:solidFill>
                <a:prstClr val="black"/>
              </a:solidFill>
              <a:latin typeface="Calibri" panose="020F0502020204030204"/>
            </a:endParaRPr>
          </a:p>
        </p:txBody>
      </p:sp>
      <p:sp>
        <p:nvSpPr>
          <p:cNvPr id="3" name="Text 1"/>
          <p:cNvSpPr/>
          <p:nvPr/>
        </p:nvSpPr>
        <p:spPr>
          <a:xfrm>
            <a:off x="1188720" y="2386584"/>
            <a:ext cx="52425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MCD (Mel Cepstral Distortion):</a:t>
            </a:r>
            <a:endParaRPr lang="en-US" sz="2820" dirty="0">
              <a:solidFill>
                <a:prstClr val="black"/>
              </a:solidFill>
              <a:latin typeface="Calibri" panose="020F0502020204030204"/>
            </a:endParaRPr>
          </a:p>
        </p:txBody>
      </p:sp>
      <p:sp>
        <p:nvSpPr>
          <p:cNvPr id="4" name="Text 2"/>
          <p:cNvSpPr/>
          <p:nvPr/>
        </p:nvSpPr>
        <p:spPr>
          <a:xfrm>
            <a:off x="1188720" y="3331616"/>
            <a:ext cx="84124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PESQ (Perceptual Evaluation of Speech Quality):</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975790"/>
            <a:ext cx="10316871" cy="1960703"/>
          </a:xfrm>
          <a:prstGeom prst="rect">
            <a:avLst/>
          </a:prstGeom>
        </p:spPr>
      </p:pic>
      <p:sp>
        <p:nvSpPr>
          <p:cNvPr id="3" name="Text 0"/>
          <p:cNvSpPr/>
          <p:nvPr/>
        </p:nvSpPr>
        <p:spPr>
          <a:xfrm>
            <a:off x="937565" y="4210127"/>
            <a:ext cx="707136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MCD (Mel Cepstral Distortion):</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960120"/>
          </a:xfrm>
          <a:prstGeom prst="rect">
            <a:avLst/>
          </a:prstGeom>
          <a:noFill/>
          <a:ln/>
        </p:spPr>
        <p:txBody>
          <a:bodyPr wrap="square" lIns="0" tIns="0" rIns="0" bIns="0" rtlCol="0" anchor="t">
            <a:normAutofit/>
          </a:bodyPr>
          <a:lstStyle/>
          <a:p>
            <a:pPr defTabSz="1219170">
              <a:lnSpc>
                <a:spcPts val="6818"/>
              </a:lnSpc>
            </a:pPr>
            <a:r>
              <a:rPr lang="en-US" sz="5245" b="1" dirty="0">
                <a:solidFill>
                  <a:srgbClr val="FFFFFF"/>
                </a:solidFill>
                <a:latin typeface="Arial" pitchFamily="34" charset="0"/>
                <a:ea typeface="Arial" pitchFamily="34" charset="-122"/>
                <a:cs typeface="Arial" pitchFamily="34" charset="-120"/>
              </a:rPr>
              <a:t>MCD (Mel Cepstral Distortion):</a:t>
            </a:r>
            <a:endParaRPr lang="en-US" sz="5245" dirty="0">
              <a:solidFill>
                <a:prstClr val="black"/>
              </a:solidFill>
              <a:latin typeface="Calibri" panose="020F0502020204030204"/>
            </a:endParaRPr>
          </a:p>
        </p:txBody>
      </p:sp>
      <p:sp>
        <p:nvSpPr>
          <p:cNvPr id="3" name="Text 1"/>
          <p:cNvSpPr/>
          <p:nvPr/>
        </p:nvSpPr>
        <p:spPr>
          <a:xfrm>
            <a:off x="1188720" y="2326920"/>
            <a:ext cx="99974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Разница между спектральными характеристиками речи.</a:t>
            </a:r>
            <a:endParaRPr lang="en-US" sz="2820" dirty="0">
              <a:solidFill>
                <a:prstClr val="black"/>
              </a:solidFill>
              <a:latin typeface="Calibri" panose="020F0502020204030204"/>
            </a:endParaRPr>
          </a:p>
        </p:txBody>
      </p:sp>
      <p:sp>
        <p:nvSpPr>
          <p:cNvPr id="4" name="Text 2"/>
          <p:cNvSpPr/>
          <p:nvPr/>
        </p:nvSpPr>
        <p:spPr>
          <a:xfrm>
            <a:off x="1188720" y="3271952"/>
            <a:ext cx="7315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Где:</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26920"/>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271952"/>
            <a:ext cx="114605" cy="533552"/>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8642909" y="2983231"/>
            <a:ext cx="1463040" cy="891540"/>
          </a:xfrm>
          <a:prstGeom prst="rect">
            <a:avLst/>
          </a:prstGeom>
          <a:noFill/>
          <a:ln/>
        </p:spPr>
        <p:txBody>
          <a:bodyPr wrap="square" lIns="0" tIns="0" rIns="0" bIns="0" rtlCol="0" anchor="t">
            <a:normAutofit/>
          </a:bodyPr>
          <a:lstStyle/>
          <a:p>
            <a:pPr defTabSz="1219170">
              <a:lnSpc>
                <a:spcPts val="6599"/>
              </a:lnSpc>
            </a:pPr>
            <a:r>
              <a:rPr lang="en-US" sz="5076" b="1" dirty="0">
                <a:solidFill>
                  <a:srgbClr val="FFFFFF"/>
                </a:solidFill>
                <a:latin typeface="Arial" pitchFamily="34" charset="0"/>
                <a:ea typeface="Arial" pitchFamily="34" charset="-122"/>
                <a:cs typeface="Arial" pitchFamily="34" charset="-120"/>
              </a:rPr>
              <a:t>Где:</a:t>
            </a:r>
            <a:endParaRPr lang="en-US" sz="5076"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2139697" y="1990193"/>
            <a:ext cx="5690007" cy="2877617"/>
          </a:xfrm>
          <a:prstGeom prst="rect">
            <a:avLst/>
          </a:prstGeom>
        </p:spPr>
      </p:pic>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815072" y="1722044"/>
            <a:ext cx="3169920" cy="3429000"/>
          </a:xfrm>
          <a:prstGeom prst="rect">
            <a:avLst/>
          </a:prstGeom>
          <a:noFill/>
          <a:ln/>
        </p:spPr>
        <p:txBody>
          <a:bodyPr wrap="square" lIns="0" tIns="0" rIns="0" bIns="0" rtlCol="0" anchor="t">
            <a:normAutofit/>
          </a:bodyPr>
          <a:lstStyle/>
          <a:p>
            <a:pPr defTabSz="1219170">
              <a:lnSpc>
                <a:spcPts val="5053"/>
              </a:lnSpc>
            </a:pPr>
            <a:r>
              <a:rPr lang="en-US" sz="3609" b="1" dirty="0">
                <a:solidFill>
                  <a:srgbClr val="FFFFFF"/>
                </a:solidFill>
                <a:latin typeface="Arial" pitchFamily="34" charset="0"/>
                <a:ea typeface="Arial" pitchFamily="34" charset="-122"/>
                <a:cs typeface="Arial" pitchFamily="34" charset="-120"/>
              </a:rPr>
              <a:t>PESQ (Perceptual Evaluation of Speech Quality):</a:t>
            </a:r>
            <a:endParaRPr lang="en-US" sz="3609"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313079" y="1615059"/>
            <a:ext cx="5690007" cy="3627883"/>
          </a:xfrm>
          <a:prstGeom prst="rect">
            <a:avLst/>
          </a:prstGeom>
        </p:spPr>
      </p:pic>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2412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PESQ (Perceptual Evaluati...</a:t>
            </a:r>
            <a:endParaRPr lang="en-US" sz="5584" dirty="0">
              <a:solidFill>
                <a:prstClr val="black"/>
              </a:solidFill>
              <a:latin typeface="Calibri" panose="020F0502020204030204"/>
            </a:endParaRPr>
          </a:p>
        </p:txBody>
      </p:sp>
      <p:sp>
        <p:nvSpPr>
          <p:cNvPr id="3" name="Text 1"/>
          <p:cNvSpPr/>
          <p:nvPr/>
        </p:nvSpPr>
        <p:spPr>
          <a:xfrm>
            <a:off x="1188720" y="2386584"/>
            <a:ext cx="69494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Качество речи по эталонному образцу.</a:t>
            </a:r>
            <a:endParaRPr lang="en-US" sz="2820" dirty="0">
              <a:solidFill>
                <a:prstClr val="black"/>
              </a:solidFill>
              <a:latin typeface="Calibri" panose="020F0502020204030204"/>
            </a:endParaRPr>
          </a:p>
        </p:txBody>
      </p:sp>
      <p:sp>
        <p:nvSpPr>
          <p:cNvPr id="4" name="Text 2"/>
          <p:cNvSpPr/>
          <p:nvPr/>
        </p:nvSpPr>
        <p:spPr>
          <a:xfrm>
            <a:off x="1188720" y="3331616"/>
            <a:ext cx="18288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Алгоритм:</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390144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Алгоритм:</a:t>
            </a:r>
            <a:endParaRPr lang="en-US" sz="5584" dirty="0">
              <a:solidFill>
                <a:prstClr val="black"/>
              </a:solidFill>
              <a:latin typeface="Calibri" panose="020F0502020204030204"/>
            </a:endParaRPr>
          </a:p>
        </p:txBody>
      </p:sp>
      <p:sp>
        <p:nvSpPr>
          <p:cNvPr id="3" name="Text 1"/>
          <p:cNvSpPr/>
          <p:nvPr/>
        </p:nvSpPr>
        <p:spPr>
          <a:xfrm>
            <a:off x="1166775" y="2386584"/>
            <a:ext cx="877824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Временное выравнивание: тестовый сигнал подгоняется под эталонный.</a:t>
            </a:r>
            <a:endParaRPr lang="en-US" sz="2256" dirty="0">
              <a:solidFill>
                <a:prstClr val="black"/>
              </a:solidFill>
              <a:latin typeface="Calibri" panose="020F0502020204030204"/>
            </a:endParaRPr>
          </a:p>
        </p:txBody>
      </p:sp>
      <p:sp>
        <p:nvSpPr>
          <p:cNvPr id="4" name="Text 2"/>
          <p:cNvSpPr/>
          <p:nvPr/>
        </p:nvSpPr>
        <p:spPr>
          <a:xfrm>
            <a:off x="1166775" y="3712236"/>
            <a:ext cx="999744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Анализ уровня громкости: приведение обоих сигналов к одинаковому уровню громкости.</a:t>
            </a:r>
            <a:endParaRPr lang="en-US" sz="2256" dirty="0">
              <a:solidFill>
                <a:prstClr val="black"/>
              </a:solidFill>
              <a:latin typeface="Calibri" panose="020F0502020204030204"/>
            </a:endParaRPr>
          </a:p>
        </p:txBody>
      </p:sp>
      <p:sp>
        <p:nvSpPr>
          <p:cNvPr id="5" name="Text 3"/>
          <p:cNvSpPr/>
          <p:nvPr/>
        </p:nvSpPr>
        <p:spPr>
          <a:xfrm>
            <a:off x="1166775" y="5038572"/>
            <a:ext cx="101193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Переход в частотную область (Bark Scale): использование быстрого преобразования Фурье для анализа восприятия частот (шкала Барка).</a:t>
            </a:r>
            <a:endParaRPr lang="en-US" sz="2256" dirty="0">
              <a:solidFill>
                <a:prstClr val="black"/>
              </a:solidFill>
              <a:latin typeface="Calibri" panose="020F0502020204030204"/>
            </a:endParaRPr>
          </a:p>
        </p:txBody>
      </p:sp>
      <p:sp>
        <p:nvSpPr>
          <p:cNvPr id="6" name="Text 4"/>
          <p:cNvSpPr/>
          <p:nvPr/>
        </p:nvSpPr>
        <p:spPr>
          <a:xfrm>
            <a:off x="1166775" y="6364224"/>
            <a:ext cx="101193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Расчет возмущений (Distortion): вычисляется разница между сигналами, учитывая психоакустические эффекты (маскировка звука).</a:t>
            </a:r>
            <a:endParaRPr lang="en-US" sz="2256" dirty="0">
              <a:solidFill>
                <a:prstClr val="black"/>
              </a:solidFill>
              <a:latin typeface="Calibri" panose="020F0502020204030204"/>
            </a:endParaRPr>
          </a:p>
        </p:txBody>
      </p:sp>
      <p:sp>
        <p:nvSpPr>
          <p:cNvPr id="7" name="Text 5"/>
          <p:cNvSpPr/>
          <p:nvPr/>
        </p:nvSpPr>
        <p:spPr>
          <a:xfrm>
            <a:off x="1166775" y="7689876"/>
            <a:ext cx="902208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Агрегация и усреднение: результаты возмущений по времени и частоте объединяются.</a:t>
            </a:r>
            <a:endParaRPr lang="en-US" sz="2256" dirty="0">
              <a:solidFill>
                <a:prstClr val="black"/>
              </a:solidFill>
              <a:latin typeface="Calibri" panose="020F0502020204030204"/>
            </a:endParaRPr>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3712237"/>
            <a:ext cx="91440" cy="457428"/>
          </a:xfrm>
          <a:prstGeom prst="rect">
            <a:avLst/>
          </a:prstGeom>
        </p:spPr>
      </p:pic>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5038573"/>
            <a:ext cx="91440" cy="457428"/>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5" y="6364225"/>
            <a:ext cx="91440" cy="457428"/>
          </a:xfrm>
          <a:prstGeom prst="rect">
            <a:avLst/>
          </a:prstGeom>
        </p:spPr>
      </p:pic>
      <p:pic>
        <p:nvPicPr>
          <p:cNvPr id="1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5" y="7689876"/>
            <a:ext cx="91440" cy="457428"/>
          </a:xfrm>
          <a:prstGeom prst="rect">
            <a:avLst/>
          </a:prstGeom>
        </p:spPr>
      </p:pic>
      <p:sp>
        <p:nvSpPr>
          <p:cNvPr id="13" name="Text 6"/>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2595" y="518466"/>
            <a:ext cx="342595" cy="30175"/>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64617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Генерация видео</a:t>
            </a:r>
            <a:endParaRPr lang="en-US" sz="5584" dirty="0">
              <a:solidFill>
                <a:prstClr val="black"/>
              </a:solidFill>
              <a:latin typeface="Calibri" panose="020F0502020204030204"/>
            </a:endParaRPr>
          </a:p>
        </p:txBody>
      </p:sp>
      <p:sp>
        <p:nvSpPr>
          <p:cNvPr id="3" name="Text 1"/>
          <p:cNvSpPr/>
          <p:nvPr/>
        </p:nvSpPr>
        <p:spPr>
          <a:xfrm>
            <a:off x="1169213" y="2386584"/>
            <a:ext cx="9875520" cy="960120"/>
          </a:xfrm>
          <a:prstGeom prst="rect">
            <a:avLst/>
          </a:prstGeom>
          <a:noFill/>
          <a:ln/>
        </p:spPr>
        <p:txBody>
          <a:bodyPr wrap="square" lIns="0" tIns="0" rIns="0" bIns="0" rtlCol="0" anchor="t">
            <a:normAutofit/>
          </a:bodyPr>
          <a:lstStyle/>
          <a:p>
            <a:pPr defTabSz="1219170">
              <a:lnSpc>
                <a:spcPts val="3468"/>
              </a:lnSpc>
            </a:pPr>
            <a:r>
              <a:rPr lang="en-US" sz="2312" dirty="0">
                <a:solidFill>
                  <a:srgbClr val="FFFFFF"/>
                </a:solidFill>
                <a:latin typeface="Arial" pitchFamily="34" charset="0"/>
                <a:ea typeface="Arial" pitchFamily="34" charset="-122"/>
                <a:cs typeface="Arial" pitchFamily="34" charset="-120"/>
              </a:rPr>
              <a:t>Общая концепция: наиболее сложный тип данных, так как сочетает одновременно пространственные и временные характеристики.</a:t>
            </a:r>
            <a:endParaRPr lang="en-US" sz="2312" dirty="0">
              <a:solidFill>
                <a:prstClr val="black"/>
              </a:solidFill>
              <a:latin typeface="Calibri" panose="020F0502020204030204"/>
            </a:endParaRPr>
          </a:p>
        </p:txBody>
      </p:sp>
      <p:sp>
        <p:nvSpPr>
          <p:cNvPr id="4" name="Text 2"/>
          <p:cNvSpPr/>
          <p:nvPr/>
        </p:nvSpPr>
        <p:spPr>
          <a:xfrm>
            <a:off x="1169213" y="3735553"/>
            <a:ext cx="7193280" cy="480060"/>
          </a:xfrm>
          <a:prstGeom prst="rect">
            <a:avLst/>
          </a:prstGeom>
          <a:noFill/>
          <a:ln/>
        </p:spPr>
        <p:txBody>
          <a:bodyPr wrap="square" lIns="0" tIns="0" rIns="0" bIns="0" rtlCol="0" anchor="t">
            <a:normAutofit/>
          </a:bodyPr>
          <a:lstStyle/>
          <a:p>
            <a:pPr defTabSz="1219170">
              <a:lnSpc>
                <a:spcPts val="3468"/>
              </a:lnSpc>
            </a:pPr>
            <a:r>
              <a:rPr lang="en-US" sz="2312" dirty="0">
                <a:solidFill>
                  <a:srgbClr val="FFFFFF"/>
                </a:solidFill>
                <a:latin typeface="Arial" pitchFamily="34" charset="0"/>
                <a:ea typeface="Arial" pitchFamily="34" charset="-122"/>
                <a:cs typeface="Arial" pitchFamily="34" charset="-120"/>
              </a:rPr>
              <a:t>Векторно-квантованные автоэнкодеры (VQ-VAE): </a:t>
            </a:r>
            <a:endParaRPr lang="en-US" sz="2312" dirty="0">
              <a:solidFill>
                <a:prstClr val="black"/>
              </a:solidFill>
              <a:latin typeface="Calibri" panose="020F0502020204030204"/>
            </a:endParaRPr>
          </a:p>
        </p:txBody>
      </p:sp>
      <p:sp>
        <p:nvSpPr>
          <p:cNvPr id="5" name="Text 3"/>
          <p:cNvSpPr/>
          <p:nvPr/>
        </p:nvSpPr>
        <p:spPr>
          <a:xfrm>
            <a:off x="1169213" y="4615434"/>
            <a:ext cx="1584960" cy="480060"/>
          </a:xfrm>
          <a:prstGeom prst="rect">
            <a:avLst/>
          </a:prstGeom>
          <a:noFill/>
          <a:ln/>
        </p:spPr>
        <p:txBody>
          <a:bodyPr wrap="square" lIns="0" tIns="0" rIns="0" bIns="0" rtlCol="0" anchor="t">
            <a:normAutofit/>
          </a:bodyPr>
          <a:lstStyle/>
          <a:p>
            <a:pPr defTabSz="1219170">
              <a:lnSpc>
                <a:spcPts val="3468"/>
              </a:lnSpc>
            </a:pPr>
            <a:r>
              <a:rPr lang="en-US" sz="2312" dirty="0">
                <a:solidFill>
                  <a:srgbClr val="FFFFFF"/>
                </a:solidFill>
                <a:latin typeface="Arial" pitchFamily="34" charset="0"/>
                <a:ea typeface="Arial" pitchFamily="34" charset="-122"/>
                <a:cs typeface="Arial" pitchFamily="34" charset="-120"/>
              </a:rPr>
              <a:t>Обучение:</a:t>
            </a:r>
            <a:endParaRPr lang="en-US" sz="2312" dirty="0">
              <a:solidFill>
                <a:prstClr val="black"/>
              </a:solidFill>
              <a:latin typeface="Calibri" panose="020F0502020204030204"/>
            </a:endParaRPr>
          </a:p>
        </p:txBody>
      </p:sp>
      <p:sp>
        <p:nvSpPr>
          <p:cNvPr id="6" name="Text 4"/>
          <p:cNvSpPr/>
          <p:nvPr/>
        </p:nvSpPr>
        <p:spPr>
          <a:xfrm>
            <a:off x="1169213" y="5495317"/>
            <a:ext cx="1341120" cy="480060"/>
          </a:xfrm>
          <a:prstGeom prst="rect">
            <a:avLst/>
          </a:prstGeom>
          <a:noFill/>
          <a:ln/>
        </p:spPr>
        <p:txBody>
          <a:bodyPr wrap="square" lIns="0" tIns="0" rIns="0" bIns="0" rtlCol="0" anchor="t">
            <a:normAutofit/>
          </a:bodyPr>
          <a:lstStyle/>
          <a:p>
            <a:pPr defTabSz="1219170">
              <a:lnSpc>
                <a:spcPts val="3468"/>
              </a:lnSpc>
            </a:pPr>
            <a:r>
              <a:rPr lang="en-US" sz="2312" dirty="0">
                <a:solidFill>
                  <a:srgbClr val="FFFFFF"/>
                </a:solidFill>
                <a:latin typeface="Arial" pitchFamily="34" charset="0"/>
                <a:ea typeface="Arial" pitchFamily="34" charset="-122"/>
                <a:cs typeface="Arial" pitchFamily="34" charset="-120"/>
              </a:rPr>
              <a:t>Метрики:</a:t>
            </a:r>
            <a:endParaRPr lang="en-US" sz="2312" dirty="0">
              <a:solidFill>
                <a:prstClr val="black"/>
              </a:solidFill>
              <a:latin typeface="Calibri" panose="020F0502020204030204"/>
            </a:endParaRPr>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5"/>
            <a:ext cx="93879" cy="468401"/>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735553"/>
            <a:ext cx="93879" cy="468401"/>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615434"/>
            <a:ext cx="93879" cy="468401"/>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5495317"/>
            <a:ext cx="93879" cy="468401"/>
          </a:xfrm>
          <a:prstGeom prst="rect">
            <a:avLst/>
          </a:prstGeom>
        </p:spPr>
      </p:pic>
      <p:sp>
        <p:nvSpPr>
          <p:cNvPr id="11" name="Text 5"/>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2595" y="518466"/>
            <a:ext cx="342595" cy="30175"/>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60704" y="857251"/>
            <a:ext cx="10070592" cy="4286251"/>
          </a:xfrm>
          <a:prstGeom prst="rect">
            <a:avLst/>
          </a:prstGeom>
        </p:spPr>
      </p:pic>
      <p:sp>
        <p:nvSpPr>
          <p:cNvPr id="3" name="Text 0"/>
          <p:cNvSpPr/>
          <p:nvPr/>
        </p:nvSpPr>
        <p:spPr>
          <a:xfrm>
            <a:off x="941223" y="5417821"/>
            <a:ext cx="10363200" cy="617220"/>
          </a:xfrm>
          <a:prstGeom prst="rect">
            <a:avLst/>
          </a:prstGeom>
          <a:noFill/>
          <a:ln/>
        </p:spPr>
        <p:txBody>
          <a:bodyPr wrap="square" lIns="0" tIns="0" rIns="0" bIns="0" rtlCol="0" anchor="t">
            <a:normAutofit/>
          </a:bodyPr>
          <a:lstStyle/>
          <a:p>
            <a:pPr defTabSz="1219170">
              <a:lnSpc>
                <a:spcPts val="4343"/>
              </a:lnSpc>
            </a:pPr>
            <a:r>
              <a:rPr lang="en-US" sz="3101" b="1" dirty="0">
                <a:solidFill>
                  <a:srgbClr val="FFFFFF"/>
                </a:solidFill>
                <a:latin typeface="Arial" pitchFamily="34" charset="0"/>
                <a:ea typeface="Arial" pitchFamily="34" charset="-122"/>
                <a:cs typeface="Arial" pitchFamily="34" charset="-120"/>
              </a:rPr>
              <a:t>Векторно-квантованные автоэнкодеры (VQ-VAE): </a:t>
            </a:r>
            <a:endParaRPr lang="en-US" sz="3101"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1193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Векторно-квантованные ...</a:t>
            </a:r>
            <a:endParaRPr lang="en-US" sz="5584" dirty="0">
              <a:solidFill>
                <a:prstClr val="black"/>
              </a:solidFill>
              <a:latin typeface="Calibri" panose="020F0502020204030204"/>
            </a:endParaRPr>
          </a:p>
        </p:txBody>
      </p:sp>
      <p:sp>
        <p:nvSpPr>
          <p:cNvPr id="3" name="Text 1"/>
          <p:cNvSpPr/>
          <p:nvPr/>
        </p:nvSpPr>
        <p:spPr>
          <a:xfrm>
            <a:off x="1188720" y="2386584"/>
            <a:ext cx="926592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Сжимают видео в дискретные "токены", похожие на слова в языке.</a:t>
            </a:r>
            <a:endParaRPr lang="en-US" sz="2820" dirty="0">
              <a:solidFill>
                <a:prstClr val="black"/>
              </a:solidFill>
              <a:latin typeface="Calibri" panose="020F0502020204030204"/>
            </a:endParaRPr>
          </a:p>
        </p:txBody>
      </p:sp>
      <p:sp>
        <p:nvSpPr>
          <p:cNvPr id="4" name="Text 2"/>
          <p:cNvSpPr/>
          <p:nvPr/>
        </p:nvSpPr>
        <p:spPr>
          <a:xfrm>
            <a:off x="1188720" y="3865169"/>
            <a:ext cx="987552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Создать видео можно двумя способами: итеративно очищая случайный пространственно-временной шум ...</a:t>
            </a:r>
            <a:endParaRPr lang="en-US" sz="2820" dirty="0">
              <a:solidFill>
                <a:prstClr val="black"/>
              </a:solidFill>
              <a:latin typeface="Calibri" panose="020F0502020204030204"/>
            </a:endParaRPr>
          </a:p>
        </p:txBody>
      </p:sp>
      <p:sp>
        <p:nvSpPr>
          <p:cNvPr id="5" name="Text 3"/>
          <p:cNvSpPr/>
          <p:nvPr/>
        </p:nvSpPr>
        <p:spPr>
          <a:xfrm>
            <a:off x="1188720" y="5343068"/>
            <a:ext cx="48768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Формальное определение:</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5343068"/>
            <a:ext cx="114605" cy="533552"/>
          </a:xfrm>
          <a:prstGeom prst="rect">
            <a:avLst/>
          </a:prstGeom>
        </p:spPr>
      </p:pic>
      <p:sp>
        <p:nvSpPr>
          <p:cNvPr id="9" name="Text 4"/>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63143" y="1733016"/>
            <a:ext cx="10119360" cy="3429000"/>
          </a:xfrm>
          <a:prstGeom prst="rect">
            <a:avLst/>
          </a:prstGeom>
          <a:noFill/>
          <a:ln/>
        </p:spPr>
        <p:txBody>
          <a:bodyPr wrap="square" lIns="0" tIns="0" rIns="0" bIns="0" rtlCol="0" anchor="t">
            <a:normAutofit/>
          </a:bodyPr>
          <a:lstStyle/>
          <a:p>
            <a:pPr defTabSz="1219170">
              <a:lnSpc>
                <a:spcPts val="4185"/>
              </a:lnSpc>
            </a:pPr>
            <a:r>
              <a:rPr lang="en-US" sz="2989" b="1" dirty="0">
                <a:solidFill>
                  <a:srgbClr val="FFFFFF"/>
                </a:solidFill>
                <a:latin typeface="Arial" pitchFamily="34" charset="0"/>
                <a:ea typeface="Arial" pitchFamily="34" charset="-122"/>
                <a:cs typeface="Arial" pitchFamily="34" charset="-120"/>
              </a:rPr>
              <a:t>Создать видео можно двумя способами: итеративно очищая случайный пространственно-временной шум или создавая кадры последовательно, используя предыдущие сгенерированные кадры как условие для создания следующих.</a:t>
            </a:r>
            <a:endParaRPr lang="en-US" sz="2989"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610944"/>
            <a:ext cx="10316871" cy="2689021"/>
          </a:xfrm>
          <a:prstGeom prst="rect">
            <a:avLst/>
          </a:prstGeom>
        </p:spPr>
      </p:pic>
      <p:sp>
        <p:nvSpPr>
          <p:cNvPr id="3" name="Text 0"/>
          <p:cNvSpPr/>
          <p:nvPr/>
        </p:nvSpPr>
        <p:spPr>
          <a:xfrm>
            <a:off x="937565" y="4574972"/>
            <a:ext cx="658368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Формальное определение:</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2412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Формальное определение:</a:t>
            </a:r>
            <a:endParaRPr lang="en-US" sz="5584" dirty="0">
              <a:solidFill>
                <a:prstClr val="black"/>
              </a:solidFill>
              <a:latin typeface="Calibri" panose="020F0502020204030204"/>
            </a:endParaRPr>
          </a:p>
        </p:txBody>
      </p:sp>
      <p:sp>
        <p:nvSpPr>
          <p:cNvPr id="3" name="Text 1"/>
          <p:cNvSpPr/>
          <p:nvPr/>
        </p:nvSpPr>
        <p:spPr>
          <a:xfrm>
            <a:off x="1188720" y="2386584"/>
            <a:ext cx="35356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x - исходное видео.</a:t>
            </a:r>
            <a:endParaRPr lang="en-US" sz="2820" dirty="0">
              <a:solidFill>
                <a:prstClr val="black"/>
              </a:solidFill>
              <a:latin typeface="Calibri" panose="020F0502020204030204"/>
            </a:endParaRPr>
          </a:p>
        </p:txBody>
      </p:sp>
      <p:sp>
        <p:nvSpPr>
          <p:cNvPr id="4" name="Text 2"/>
          <p:cNvSpPr/>
          <p:nvPr/>
        </p:nvSpPr>
        <p:spPr>
          <a:xfrm>
            <a:off x="1188720" y="3331616"/>
            <a:ext cx="48768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ŷ - восстановленное видео.</a:t>
            </a:r>
            <a:endParaRPr lang="en-US" sz="2820" dirty="0">
              <a:solidFill>
                <a:prstClr val="black"/>
              </a:solidFill>
              <a:latin typeface="Calibri" panose="020F0502020204030204"/>
            </a:endParaRPr>
          </a:p>
        </p:txBody>
      </p:sp>
      <p:sp>
        <p:nvSpPr>
          <p:cNvPr id="5" name="Text 3"/>
          <p:cNvSpPr/>
          <p:nvPr/>
        </p:nvSpPr>
        <p:spPr>
          <a:xfrm>
            <a:off x="1188720" y="4276649"/>
            <a:ext cx="93878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ℒ_recon - ошибка восстановления (например, MSE).</a:t>
            </a:r>
            <a:endParaRPr lang="en-US" sz="2820" dirty="0">
              <a:solidFill>
                <a:prstClr val="black"/>
              </a:solidFill>
              <a:latin typeface="Calibri" panose="020F0502020204030204"/>
            </a:endParaRPr>
          </a:p>
        </p:txBody>
      </p:sp>
      <p:sp>
        <p:nvSpPr>
          <p:cNvPr id="6" name="Text 4"/>
          <p:cNvSpPr/>
          <p:nvPr/>
        </p:nvSpPr>
        <p:spPr>
          <a:xfrm>
            <a:off x="1188720" y="5220996"/>
            <a:ext cx="70713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ℒ_vq - ошибка векторного квантования.</a:t>
            </a:r>
            <a:endParaRPr lang="en-US" sz="2820" dirty="0">
              <a:solidFill>
                <a:prstClr val="black"/>
              </a:solidFill>
              <a:latin typeface="Calibri" panose="020F0502020204030204"/>
            </a:endParaRPr>
          </a:p>
        </p:txBody>
      </p:sp>
      <p:sp>
        <p:nvSpPr>
          <p:cNvPr id="7" name="Text 5"/>
          <p:cNvSpPr/>
          <p:nvPr/>
        </p:nvSpPr>
        <p:spPr>
          <a:xfrm>
            <a:off x="1188720" y="6166028"/>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Кодеровщик (энкодер) превращает видео в последовательность индексов из "кодовой книги" (токе...</a:t>
            </a:r>
            <a:endParaRPr lang="en-US" sz="2820" dirty="0">
              <a:solidFill>
                <a:prstClr val="black"/>
              </a:solidFill>
              <a:latin typeface="Calibri" panose="020F0502020204030204"/>
            </a:endParaRPr>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276649"/>
            <a:ext cx="114605" cy="533552"/>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5220996"/>
            <a:ext cx="114605" cy="533552"/>
          </a:xfrm>
          <a:prstGeom prst="rect">
            <a:avLst/>
          </a:prstGeom>
        </p:spPr>
      </p:pic>
      <p:pic>
        <p:nvPicPr>
          <p:cNvPr id="1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6" y="6166028"/>
            <a:ext cx="114605" cy="533552"/>
          </a:xfrm>
          <a:prstGeom prst="rect">
            <a:avLst/>
          </a:prstGeom>
        </p:spPr>
      </p:pic>
      <p:sp>
        <p:nvSpPr>
          <p:cNvPr id="13" name="Text 6"/>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1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2595" y="518466"/>
            <a:ext cx="342595" cy="30175"/>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52195" y="2400300"/>
            <a:ext cx="10363200" cy="2057400"/>
          </a:xfrm>
          <a:prstGeom prst="rect">
            <a:avLst/>
          </a:prstGeom>
          <a:noFill/>
          <a:ln/>
        </p:spPr>
        <p:txBody>
          <a:bodyPr wrap="square" lIns="0" tIns="0" rIns="0" bIns="0" rtlCol="0" anchor="t">
            <a:normAutofit/>
          </a:bodyPr>
          <a:lstStyle/>
          <a:p>
            <a:pPr defTabSz="1219170">
              <a:lnSpc>
                <a:spcPts val="3045"/>
              </a:lnSpc>
            </a:pPr>
            <a:r>
              <a:rPr lang="en-US" sz="2031" b="1" dirty="0">
                <a:solidFill>
                  <a:srgbClr val="FFFFFF"/>
                </a:solidFill>
                <a:latin typeface="Arial" pitchFamily="34" charset="0"/>
                <a:ea typeface="Arial" pitchFamily="34" charset="-122"/>
                <a:cs typeface="Arial" pitchFamily="34" charset="-120"/>
              </a:rPr>
              <a:t>Кодеровщик (энкодер) превращает видео в последовательность индексов из "кодовой книги" (токены из исходного пространства признаков), затем авторегрессионная модель (например, Transformer) учится предсказывать следующий индекс в этой последовательности, что позволяет генерировать новые видео.</a:t>
            </a:r>
            <a:endParaRPr lang="en-US" sz="2031" dirty="0">
              <a:solidFill>
                <a:prstClr val="black"/>
              </a:solidFill>
              <a:latin typeface="Calibri" panose="020F0502020204030204"/>
            </a:endParaRPr>
          </a:p>
        </p:txBody>
      </p:sp>
      <p:sp>
        <p:nvSpPr>
          <p:cNvPr id="3"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40233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Обучение:</a:t>
            </a:r>
            <a:endParaRPr lang="en-US" sz="5584" dirty="0">
              <a:solidFill>
                <a:prstClr val="black"/>
              </a:solidFill>
              <a:latin typeface="Calibri" panose="020F0502020204030204"/>
            </a:endParaRPr>
          </a:p>
        </p:txBody>
      </p:sp>
      <p:sp>
        <p:nvSpPr>
          <p:cNvPr id="3" name="Text 1"/>
          <p:cNvSpPr/>
          <p:nvPr/>
        </p:nvSpPr>
        <p:spPr>
          <a:xfrm>
            <a:off x="1166775" y="2386584"/>
            <a:ext cx="926592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Принцип тот же, что и для изображений, но шум добавляется и убирается сразу на всей пространственно-временной структуре.</a:t>
            </a:r>
            <a:endParaRPr lang="en-US" sz="2256" dirty="0">
              <a:solidFill>
                <a:prstClr val="black"/>
              </a:solidFill>
              <a:latin typeface="Calibri" panose="020F0502020204030204"/>
            </a:endParaRPr>
          </a:p>
        </p:txBody>
      </p:sp>
      <p:sp>
        <p:nvSpPr>
          <p:cNvPr id="4" name="Text 2"/>
          <p:cNvSpPr/>
          <p:nvPr/>
        </p:nvSpPr>
        <p:spPr>
          <a:xfrm>
            <a:off x="1166775" y="3712236"/>
            <a:ext cx="914400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Применяются пространственные аугментации (кадрирование) и временные аугментации (изменение частоты кадров, воспроизведение в обратном порядке).</a:t>
            </a:r>
            <a:endParaRPr lang="en-US" sz="2256"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3712237"/>
            <a:ext cx="91440" cy="457428"/>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35356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Метрики:</a:t>
            </a:r>
            <a:endParaRPr lang="en-US" sz="5584" dirty="0">
              <a:solidFill>
                <a:prstClr val="black"/>
              </a:solidFill>
              <a:latin typeface="Calibri" panose="020F0502020204030204"/>
            </a:endParaRPr>
          </a:p>
        </p:txBody>
      </p:sp>
      <p:sp>
        <p:nvSpPr>
          <p:cNvPr id="3" name="Text 1"/>
          <p:cNvSpPr/>
          <p:nvPr/>
        </p:nvSpPr>
        <p:spPr>
          <a:xfrm>
            <a:off x="1188720" y="2386584"/>
            <a:ext cx="52425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FVD (Fréchet Video Distance):</a:t>
            </a:r>
            <a:endParaRPr lang="en-US" sz="2820" dirty="0">
              <a:solidFill>
                <a:prstClr val="black"/>
              </a:solidFill>
              <a:latin typeface="Calibri" panose="020F0502020204030204"/>
            </a:endParaRPr>
          </a:p>
        </p:txBody>
      </p:sp>
      <p:sp>
        <p:nvSpPr>
          <p:cNvPr id="4" name="Text 2"/>
          <p:cNvSpPr/>
          <p:nvPr/>
        </p:nvSpPr>
        <p:spPr>
          <a:xfrm>
            <a:off x="1188720" y="3331616"/>
            <a:ext cx="51206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KVD (Kernel Video Distance):</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637069" y="2276856"/>
            <a:ext cx="3535680" cy="233172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FVD (Fréchet Video Distance):</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133857" y="1532763"/>
            <a:ext cx="5690007" cy="3793160"/>
          </a:xfrm>
          <a:prstGeom prst="rect">
            <a:avLst/>
          </a:prstGeom>
        </p:spPr>
      </p:pic>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960120"/>
          </a:xfrm>
          <a:prstGeom prst="rect">
            <a:avLst/>
          </a:prstGeom>
          <a:noFill/>
          <a:ln/>
        </p:spPr>
        <p:txBody>
          <a:bodyPr wrap="square" lIns="0" tIns="0" rIns="0" bIns="0" rtlCol="0" anchor="t">
            <a:normAutofit/>
          </a:bodyPr>
          <a:lstStyle/>
          <a:p>
            <a:pPr defTabSz="1219170">
              <a:lnSpc>
                <a:spcPts val="6892"/>
              </a:lnSpc>
            </a:pPr>
            <a:r>
              <a:rPr lang="en-US" sz="5301" b="1" dirty="0">
                <a:solidFill>
                  <a:srgbClr val="FFFFFF"/>
                </a:solidFill>
                <a:latin typeface="Arial" pitchFamily="34" charset="0"/>
                <a:ea typeface="Arial" pitchFamily="34" charset="-122"/>
                <a:cs typeface="Arial" pitchFamily="34" charset="-120"/>
              </a:rPr>
              <a:t>FVD (Fréchet Video Distance):</a:t>
            </a:r>
            <a:endParaRPr lang="en-US" sz="5301" dirty="0">
              <a:solidFill>
                <a:prstClr val="black"/>
              </a:solidFill>
              <a:latin typeface="Calibri" panose="020F0502020204030204"/>
            </a:endParaRPr>
          </a:p>
        </p:txBody>
      </p:sp>
      <p:sp>
        <p:nvSpPr>
          <p:cNvPr id="3" name="Text 1"/>
          <p:cNvSpPr/>
          <p:nvPr/>
        </p:nvSpPr>
        <p:spPr>
          <a:xfrm>
            <a:off x="1188720" y="2337207"/>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Схожесть распределения сгенерированных и реальных видео в пространственно-временном континууме.</a:t>
            </a:r>
            <a:endParaRPr lang="en-US" sz="2820" dirty="0">
              <a:solidFill>
                <a:prstClr val="black"/>
              </a:solidFill>
              <a:latin typeface="Calibri" panose="020F0502020204030204"/>
            </a:endParaRPr>
          </a:p>
        </p:txBody>
      </p:sp>
      <p:sp>
        <p:nvSpPr>
          <p:cNvPr id="4" name="Text 2"/>
          <p:cNvSpPr/>
          <p:nvPr/>
        </p:nvSpPr>
        <p:spPr>
          <a:xfrm>
            <a:off x="1188720" y="3815105"/>
            <a:ext cx="79248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Формальное определение (аналогично FID):</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37207"/>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15105"/>
            <a:ext cx="114605" cy="533552"/>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2253539"/>
            <a:ext cx="10316871" cy="1425779"/>
          </a:xfrm>
          <a:prstGeom prst="rect">
            <a:avLst/>
          </a:prstGeom>
        </p:spPr>
      </p:pic>
      <p:sp>
        <p:nvSpPr>
          <p:cNvPr id="3" name="Text 0"/>
          <p:cNvSpPr/>
          <p:nvPr/>
        </p:nvSpPr>
        <p:spPr>
          <a:xfrm>
            <a:off x="937565" y="3953637"/>
            <a:ext cx="10363200" cy="685800"/>
          </a:xfrm>
          <a:prstGeom prst="rect">
            <a:avLst/>
          </a:prstGeom>
          <a:noFill/>
          <a:ln/>
        </p:spPr>
        <p:txBody>
          <a:bodyPr wrap="square" lIns="0" tIns="0" rIns="0" bIns="0" rtlCol="0" anchor="t">
            <a:normAutofit/>
          </a:bodyPr>
          <a:lstStyle/>
          <a:p>
            <a:pPr defTabSz="1219170">
              <a:lnSpc>
                <a:spcPts val="4816"/>
              </a:lnSpc>
            </a:pPr>
            <a:r>
              <a:rPr lang="en-US" sz="3440" b="1" dirty="0">
                <a:solidFill>
                  <a:srgbClr val="FFFFFF"/>
                </a:solidFill>
                <a:latin typeface="Arial" pitchFamily="34" charset="0"/>
                <a:ea typeface="Arial" pitchFamily="34" charset="-122"/>
                <a:cs typeface="Arial" pitchFamily="34" charset="-120"/>
              </a:rPr>
              <a:t>Формальное определение (аналогично FID):</a:t>
            </a:r>
            <a:endParaRPr lang="en-US" sz="3440"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577341"/>
            <a:ext cx="10316871" cy="2756231"/>
          </a:xfrm>
          <a:prstGeom prst="rect">
            <a:avLst/>
          </a:prstGeom>
        </p:spPr>
      </p:pic>
      <p:sp>
        <p:nvSpPr>
          <p:cNvPr id="3" name="Text 0"/>
          <p:cNvSpPr/>
          <p:nvPr/>
        </p:nvSpPr>
        <p:spPr>
          <a:xfrm>
            <a:off x="937565" y="4608576"/>
            <a:ext cx="670560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KVD (Kernel Video Distance):</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1028700"/>
          </a:xfrm>
          <a:prstGeom prst="rect">
            <a:avLst/>
          </a:prstGeom>
          <a:noFill/>
          <a:ln/>
        </p:spPr>
        <p:txBody>
          <a:bodyPr wrap="square" lIns="0" tIns="0" rIns="0" bIns="0" rtlCol="0" anchor="t">
            <a:normAutofit/>
          </a:bodyPr>
          <a:lstStyle/>
          <a:p>
            <a:pPr defTabSz="1219170">
              <a:lnSpc>
                <a:spcPts val="7112"/>
              </a:lnSpc>
            </a:pPr>
            <a:r>
              <a:rPr lang="en-US" sz="5471" b="1" dirty="0">
                <a:solidFill>
                  <a:srgbClr val="FFFFFF"/>
                </a:solidFill>
                <a:latin typeface="Arial" pitchFamily="34" charset="0"/>
                <a:ea typeface="Arial" pitchFamily="34" charset="-122"/>
                <a:cs typeface="Arial" pitchFamily="34" charset="-120"/>
              </a:rPr>
              <a:t>KVD (Kernel Video Distance):</a:t>
            </a:r>
            <a:endParaRPr lang="en-US" sz="5471" dirty="0">
              <a:solidFill>
                <a:prstClr val="black"/>
              </a:solidFill>
              <a:latin typeface="Calibri" panose="020F0502020204030204"/>
            </a:endParaRPr>
          </a:p>
        </p:txBody>
      </p:sp>
      <p:sp>
        <p:nvSpPr>
          <p:cNvPr id="3" name="Text 1"/>
          <p:cNvSpPr/>
          <p:nvPr/>
        </p:nvSpPr>
        <p:spPr>
          <a:xfrm>
            <a:off x="1188720" y="2366696"/>
            <a:ext cx="902208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Сходство распределений видео с использованием ядерных методов.</a:t>
            </a:r>
            <a:endParaRPr lang="en-US" sz="2820" dirty="0">
              <a:solidFill>
                <a:prstClr val="black"/>
              </a:solidFill>
              <a:latin typeface="Calibri" panose="020F0502020204030204"/>
            </a:endParaRPr>
          </a:p>
        </p:txBody>
      </p:sp>
      <p:sp>
        <p:nvSpPr>
          <p:cNvPr id="4" name="Text 2"/>
          <p:cNvSpPr/>
          <p:nvPr/>
        </p:nvSpPr>
        <p:spPr>
          <a:xfrm>
            <a:off x="1188720" y="3845280"/>
            <a:ext cx="48768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Формальное определение:</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66696"/>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45280"/>
            <a:ext cx="114605" cy="533552"/>
          </a:xfrm>
          <a:prstGeom prst="rect">
            <a:avLst/>
          </a:prstGeom>
        </p:spPr>
      </p:pic>
      <p:sp>
        <p:nvSpPr>
          <p:cNvPr id="7" name="Text 3"/>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2190446"/>
            <a:ext cx="10316871" cy="1530705"/>
          </a:xfrm>
          <a:prstGeom prst="rect">
            <a:avLst/>
          </a:prstGeom>
        </p:spPr>
      </p:pic>
      <p:sp>
        <p:nvSpPr>
          <p:cNvPr id="3" name="Text 0"/>
          <p:cNvSpPr/>
          <p:nvPr/>
        </p:nvSpPr>
        <p:spPr>
          <a:xfrm>
            <a:off x="937565" y="3995471"/>
            <a:ext cx="658368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Формальное определение:</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445667"/>
            <a:ext cx="670560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Формальное определение:</a:t>
            </a:r>
            <a:endParaRPr lang="en-US" sz="7106" dirty="0">
              <a:solidFill>
                <a:prstClr val="black"/>
              </a:solidFill>
              <a:latin typeface="Calibri" panose="020F0502020204030204"/>
            </a:endParaRPr>
          </a:p>
        </p:txBody>
      </p:sp>
      <p:sp>
        <p:nvSpPr>
          <p:cNvPr id="3" name="Text 1"/>
          <p:cNvSpPr/>
          <p:nvPr/>
        </p:nvSpPr>
        <p:spPr>
          <a:xfrm>
            <a:off x="937565" y="4520794"/>
            <a:ext cx="1341120" cy="891540"/>
          </a:xfrm>
          <a:prstGeom prst="rect">
            <a:avLst/>
          </a:prstGeom>
          <a:noFill/>
          <a:ln/>
        </p:spPr>
        <p:txBody>
          <a:bodyPr wrap="square" lIns="0" tIns="0" rIns="0" bIns="0" rtlCol="0" anchor="t">
            <a:normAutofit/>
          </a:bodyPr>
          <a:lstStyle/>
          <a:p>
            <a:pPr defTabSz="1219170">
              <a:lnSpc>
                <a:spcPts val="6599"/>
              </a:lnSpc>
            </a:pPr>
            <a:r>
              <a:rPr lang="en-US" sz="5076" dirty="0">
                <a:solidFill>
                  <a:srgbClr val="FFFFFF"/>
                </a:solidFill>
                <a:latin typeface="Arial" pitchFamily="34" charset="0"/>
                <a:ea typeface="Arial" pitchFamily="34" charset="-122"/>
                <a:cs typeface="Arial" pitchFamily="34" charset="-120"/>
              </a:rPr>
              <a:t>Где:</a:t>
            </a:r>
            <a:endParaRPr lang="en-US" sz="5076"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941979"/>
            <a:ext cx="6590995" cy="578815"/>
          </a:xfrm>
          <a:prstGeom prst="rect">
            <a:avLst/>
          </a:prstGeom>
        </p:spPr>
      </p:pic>
      <p:sp>
        <p:nvSpPr>
          <p:cNvPr id="5" name="Text 2"/>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604773"/>
            <a:ext cx="10316871" cy="2701367"/>
          </a:xfrm>
          <a:prstGeom prst="rect">
            <a:avLst/>
          </a:prstGeom>
        </p:spPr>
      </p:pic>
      <p:sp>
        <p:nvSpPr>
          <p:cNvPr id="3" name="Text 0"/>
          <p:cNvSpPr/>
          <p:nvPr/>
        </p:nvSpPr>
        <p:spPr>
          <a:xfrm>
            <a:off x="937565" y="4581144"/>
            <a:ext cx="109728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Где:</a:t>
            </a:r>
            <a:endParaRPr lang="en-US" sz="3553" dirty="0">
              <a:solidFill>
                <a:prstClr val="black"/>
              </a:solidFill>
              <a:latin typeface="Calibri" panose="020F0502020204030204"/>
            </a:endParaRPr>
          </a:p>
        </p:txBody>
      </p:sp>
      <p:sp>
        <p:nvSpPr>
          <p:cNvPr id="4" name="Text 1"/>
          <p:cNvSpPr/>
          <p:nvPr/>
        </p:nvSpPr>
        <p:spPr>
          <a:xfrm>
            <a:off x="342595" y="274321"/>
            <a:ext cx="170688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Третье поколение:...</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2983</Words>
  <Application>Microsoft Office PowerPoint</Application>
  <PresentationFormat>Широкоэкранный</PresentationFormat>
  <Paragraphs>437</Paragraphs>
  <Slides>107</Slides>
  <Notes>107</Notes>
  <HiddenSlides>0</HiddenSlides>
  <MMClips>0</MMClips>
  <ScaleCrop>false</ScaleCrop>
  <HeadingPairs>
    <vt:vector size="6" baseType="variant">
      <vt:variant>
        <vt:lpstr>Использованные шрифты</vt:lpstr>
      </vt:variant>
      <vt:variant>
        <vt:i4>3</vt:i4>
      </vt:variant>
      <vt:variant>
        <vt:lpstr>Тема</vt:lpstr>
      </vt:variant>
      <vt:variant>
        <vt:i4>2</vt:i4>
      </vt:variant>
      <vt:variant>
        <vt:lpstr>Заголовки слайдов</vt:lpstr>
      </vt:variant>
      <vt:variant>
        <vt:i4>107</vt:i4>
      </vt:variant>
    </vt:vector>
  </HeadingPairs>
  <TitlesOfParts>
    <vt:vector size="112" baseType="lpstr">
      <vt:lpstr>Arial</vt:lpstr>
      <vt:lpstr>Calibri</vt:lpstr>
      <vt:lpstr>Calibri Light</vt:lpstr>
      <vt:lpstr>Тема Office</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Владислав Холмогоров</dc:creator>
  <cp:lastModifiedBy>Владислав Холмогоров</cp:lastModifiedBy>
  <cp:revision>1</cp:revision>
  <dcterms:created xsi:type="dcterms:W3CDTF">2026-06-16T10:43:40Z</dcterms:created>
  <dcterms:modified xsi:type="dcterms:W3CDTF">2026-06-16T10:46:13Z</dcterms:modified>
</cp:coreProperties>
</file>